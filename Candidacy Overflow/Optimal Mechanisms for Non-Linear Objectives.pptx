
<file path=[Content_Types].xml><?xml version="1.0" encoding="utf-8"?>
<Types xmlns="http://schemas.openxmlformats.org/package/2006/content-types">
  <Override PartName="/ppt/slides/slide41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50.xml" ContentType="application/vnd.openxmlformats-officedocument.presentationml.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60.xml" ContentType="application/vnd.openxmlformats-officedocument.presentationml.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70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5.xml" ContentType="application/vnd.openxmlformats-officedocument.presentationml.slideLayout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notesSlides/notesSlide2.xml" ContentType="application/vnd.openxmlformats-officedocument.presentationml.notesSlide+xml"/>
  <Default Extension="jpeg" ContentType="image/jpeg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notesSlides/notesSlide40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4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51.xml" ContentType="application/vnd.openxmlformats-officedocument.presentationml.slide+xml"/>
  <Override PartName="/ppt/slides/slide19.xml" ContentType="application/vnd.openxmlformats-officedocument.presentationml.slide+xml"/>
  <Override PartName="/ppt/notesSlides/notesSlide2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61.xml" ContentType="application/vnd.openxmlformats-officedocument.presentationml.slide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8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67.xml" ContentType="application/vnd.openxmlformats-officedocument.presentationml.slide+xml"/>
  <Override PartName="/ppt/theme/theme2.xml" ContentType="application/vnd.openxmlformats-officedocument.theme+xml"/>
  <Override PartName="/ppt/notesSlides/notesSlide3.xml" ContentType="application/vnd.openxmlformats-officedocument.presentationml.notesSlide+xml"/>
  <Default Extension="emf" ContentType="image/x-emf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Override PartName="/ppt/notesSlides/notesSlide41.xml" ContentType="application/vnd.openxmlformats-officedocument.presentationml.notesSlide+xml"/>
  <Override PartName="/ppt/slideLayouts/slideLayout6.xml" ContentType="application/vnd.openxmlformats-officedocument.presentationml.slideLayout+xml"/>
  <Default Extension="xml" ContentType="application/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8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2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s/slide62.xml" ContentType="application/vnd.openxmlformats-officedocument.presentationml.slide+xml"/>
  <Override PartName="/ppt/notesSlides/notesSlide37.xml" ContentType="application/vnd.openxmlformats-officedocument.presentationml.notesSlide+xml"/>
  <Override PartName="/ppt/slideLayouts/slideLayout20.xml" ContentType="application/vnd.openxmlformats-officedocument.presentationml.slideLayout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slides/slide49.xml" ContentType="application/vnd.openxmlformats-officedocument.presentationml.slide+xml"/>
  <Override PartName="/ppt/slides/slide58.xml" ContentType="application/vnd.openxmlformats-officedocument.presentationml.slide+xml"/>
  <Override PartName="/docProps/core.xml" ContentType="application/vnd.openxmlformats-package.core-properties+xml"/>
  <Override PartName="/ppt/slideLayouts/slideLayout17.xml" ContentType="application/vnd.openxmlformats-officedocument.presentationml.slideLayout+xml"/>
  <Override PartName="/ppt/slides/slide68.xml" ContentType="application/vnd.openxmlformats-officedocument.presentationml.slide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Default Extension="gif" ContentType="image/gif"/>
  <Override PartName="/ppt/slides/slide1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Override PartName="/ppt/notesSlides/notesSlide42.xml" ContentType="application/vnd.openxmlformats-officedocument.presentationml.notesSlide+xml"/>
  <Override PartName="/ppt/slideLayouts/slideLayout7.xml" ContentType="application/vnd.openxmlformats-officedocument.presentationml.slideLayout+xml"/>
  <Default Extension="png" ContentType="image/png"/>
  <Override PartName="/ppt/slides/slide44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2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63.xml" ContentType="application/vnd.openxmlformats-officedocument.presentationml.slide+xml"/>
  <Override PartName="/ppt/notesSlides/notesSlide38.xml" ContentType="application/vnd.openxmlformats-officedocument.presentationml.notesSlide+xml"/>
  <Override PartName="/ppt/slideLayouts/slideLayout21.xml" ContentType="application/vnd.openxmlformats-officedocument.presentationml.slideLayout+xml"/>
  <Override PartName="/ppt/slides/slide59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6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24.xml" ContentType="application/vnd.openxmlformats-officedocument.presentationml.notes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Override PartName="/ppt/notesSlides/notesSlide34.xml" ContentType="application/vnd.openxmlformats-officedocument.presentationml.notesSlide+xml"/>
  <Default Extension="wmf" ContentType="image/x-wmf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43.xml" ContentType="application/vnd.openxmlformats-officedocument.presentationml.notes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slideLayouts/slideLayout2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9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slides/slide4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notesSlides/notesSlide44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6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257" r:id="rId2"/>
    <p:sldId id="258" r:id="rId3"/>
    <p:sldId id="290" r:id="rId4"/>
    <p:sldId id="302" r:id="rId5"/>
    <p:sldId id="301" r:id="rId6"/>
    <p:sldId id="454" r:id="rId7"/>
    <p:sldId id="455" r:id="rId8"/>
    <p:sldId id="456" r:id="rId9"/>
    <p:sldId id="367" r:id="rId10"/>
    <p:sldId id="368" r:id="rId11"/>
    <p:sldId id="309" r:id="rId12"/>
    <p:sldId id="342" r:id="rId13"/>
    <p:sldId id="316" r:id="rId14"/>
    <p:sldId id="449" r:id="rId15"/>
    <p:sldId id="459" r:id="rId16"/>
    <p:sldId id="395" r:id="rId17"/>
    <p:sldId id="452" r:id="rId18"/>
    <p:sldId id="453" r:id="rId19"/>
    <p:sldId id="318" r:id="rId20"/>
    <p:sldId id="461" r:id="rId21"/>
    <p:sldId id="319" r:id="rId22"/>
    <p:sldId id="388" r:id="rId23"/>
    <p:sldId id="462" r:id="rId24"/>
    <p:sldId id="348" r:id="rId25"/>
    <p:sldId id="464" r:id="rId26"/>
    <p:sldId id="437" r:id="rId27"/>
    <p:sldId id="465" r:id="rId28"/>
    <p:sldId id="466" r:id="rId29"/>
    <p:sldId id="467" r:id="rId30"/>
    <p:sldId id="468" r:id="rId31"/>
    <p:sldId id="389" r:id="rId32"/>
    <p:sldId id="469" r:id="rId33"/>
    <p:sldId id="470" r:id="rId34"/>
    <p:sldId id="472" r:id="rId35"/>
    <p:sldId id="504" r:id="rId36"/>
    <p:sldId id="473" r:id="rId37"/>
    <p:sldId id="505" r:id="rId38"/>
    <p:sldId id="474" r:id="rId39"/>
    <p:sldId id="475" r:id="rId40"/>
    <p:sldId id="476" r:id="rId41"/>
    <p:sldId id="477" r:id="rId42"/>
    <p:sldId id="479" r:id="rId43"/>
    <p:sldId id="478" r:id="rId44"/>
    <p:sldId id="480" r:id="rId45"/>
    <p:sldId id="481" r:id="rId46"/>
    <p:sldId id="482" r:id="rId47"/>
    <p:sldId id="483" r:id="rId48"/>
    <p:sldId id="471" r:id="rId49"/>
    <p:sldId id="503" r:id="rId50"/>
    <p:sldId id="485" r:id="rId51"/>
    <p:sldId id="488" r:id="rId52"/>
    <p:sldId id="487" r:id="rId53"/>
    <p:sldId id="484" r:id="rId54"/>
    <p:sldId id="490" r:id="rId55"/>
    <p:sldId id="494" r:id="rId56"/>
    <p:sldId id="493" r:id="rId57"/>
    <p:sldId id="495" r:id="rId58"/>
    <p:sldId id="491" r:id="rId59"/>
    <p:sldId id="496" r:id="rId60"/>
    <p:sldId id="497" r:id="rId61"/>
    <p:sldId id="492" r:id="rId62"/>
    <p:sldId id="498" r:id="rId63"/>
    <p:sldId id="441" r:id="rId64"/>
    <p:sldId id="499" r:id="rId65"/>
    <p:sldId id="440" r:id="rId66"/>
    <p:sldId id="500" r:id="rId67"/>
    <p:sldId id="442" r:id="rId68"/>
    <p:sldId id="501" r:id="rId69"/>
    <p:sldId id="502" r:id="rId70"/>
    <p:sldId id="489" r:id="rId71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>
          <a:srgbClr val="FF0000"/>
        </p14:laserClr>
      </p:ext>
      <p:ext uri="{2FDB2607-1784-4EEB-B798-7EB5836EED8A}">
        <p14:showMediaCtrls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"/>
      </p:ext>
    </p:extLst>
  </p:showPr>
  <p:clrMru>
    <a:srgbClr val="008000"/>
    <a:srgbClr val="FF6600"/>
    <a:srgbClr val="000000"/>
    <a:srgbClr val="BFC400"/>
    <a:srgbClr val="ABBD03"/>
    <a:srgbClr val="0000FF"/>
    <a:srgbClr val="FFFFCC"/>
    <a:srgbClr val="00B400"/>
    <a:srgbClr val="0099FF"/>
    <a:srgbClr val="3399FF"/>
  </p:clrMru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FD5EFAAD-0ECE-453E-9831-46B23BE46B34}">
      <p15:chartTrackingRefBased xmlns="" xmlns:p15="http://schemas.microsoft.com/office/powerpoint/2012/main" xmlns:p="http://schemas.openxmlformats.org/presentationml/2006/main" xmlns:r="http://schemas.openxmlformats.org/officeDocument/2006/relationships" xmlns:a="http://schemas.openxmlformats.org/drawingml/2006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3614" autoAdjust="0"/>
    <p:restoredTop sz="85899" autoAdjust="0"/>
  </p:normalViewPr>
  <p:slideViewPr>
    <p:cSldViewPr snapToGrid="0" snapToObjects="1">
      <p:cViewPr varScale="1">
        <p:scale>
          <a:sx n="109" d="100"/>
          <a:sy n="109" d="100"/>
        </p:scale>
        <p:origin x="-968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4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handoutMaster" Target="handoutMasters/handoutMaster1.xml"/><Relationship Id="rId74" Type="http://schemas.openxmlformats.org/officeDocument/2006/relationships/printerSettings" Target="printerSettings/printerSettings1.bin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F964213-A57F-42E5-870D-1DA28B0A15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C7024C7-5468-4F84-95C7-2C95AEE06F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15806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751E42B-C41F-F942-90D2-57616BB38F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7850F59-57B3-3246-A710-651FE289FD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99130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E7B78A-03F5-1345-9538-E0F4309C8449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37253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45938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19818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19818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19818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53906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398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3982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3982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3982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48220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48220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38943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48220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389430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389430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48220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482208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19818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969782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969782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969782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969782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969782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969782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723688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4FDFD-AEFF-4543-9830-4C3C1365F7C6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919607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850F59-57B3-3246-A710-651FE289FD63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84062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8051799" y="1586230"/>
            <a:ext cx="548640" cy="5486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-1" y="1586141"/>
            <a:ext cx="8051800" cy="21945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12700" dist="635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8051799" y="3232150"/>
            <a:ext cx="1097280" cy="5486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12700" dist="63500" dir="2700000" algn="ctr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30705"/>
            <a:ext cx="7772400" cy="1470025"/>
          </a:xfrm>
        </p:spPr>
        <p:txBody>
          <a:bodyPr/>
          <a:lstStyle>
            <a:lvl1pPr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2359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051799" y="2134870"/>
            <a:ext cx="548640" cy="5486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051799" y="2683510"/>
            <a:ext cx="548640" cy="5486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601710" y="2135575"/>
            <a:ext cx="548640" cy="548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/>
          <p:cNvSpPr/>
          <p:nvPr userDrawn="1"/>
        </p:nvSpPr>
        <p:spPr>
          <a:xfrm>
            <a:off x="8600916" y="2683510"/>
            <a:ext cx="548640" cy="5486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3198010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4536"/>
            <a:ext cx="9144000" cy="846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 userDrawn="1"/>
        </p:nvSpPr>
        <p:spPr>
          <a:xfrm>
            <a:off x="-5756" y="-8357"/>
            <a:ext cx="432000" cy="43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426244" y="410231"/>
            <a:ext cx="432000" cy="43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-5756" y="407977"/>
            <a:ext cx="432000" cy="43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62270" y="47800"/>
            <a:ext cx="7810500" cy="752651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35324" y="1069664"/>
            <a:ext cx="8229600" cy="5129701"/>
          </a:xfrm>
        </p:spPr>
        <p:txBody>
          <a:bodyPr/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4274497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9144000" cy="863566"/>
          </a:xfrm>
          <a:prstGeom prst="rect">
            <a:avLst/>
          </a:prstGeom>
          <a:solidFill>
            <a:srgbClr val="EAFFD5">
              <a:alpha val="40000"/>
            </a:srgb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11723"/>
            <a:ext cx="432000" cy="432000"/>
          </a:xfrm>
          <a:prstGeom prst="rect">
            <a:avLst/>
          </a:prstGeom>
          <a:solidFill>
            <a:srgbClr val="CCFF99">
              <a:alpha val="50196"/>
            </a:srgb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432000" y="431567"/>
            <a:ext cx="432000" cy="432000"/>
          </a:xfrm>
          <a:prstGeom prst="rect">
            <a:avLst/>
          </a:prstGeom>
          <a:solidFill>
            <a:srgbClr val="92D050">
              <a:alpha val="69804"/>
            </a:srgb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0" y="431567"/>
            <a:ext cx="432000" cy="432000"/>
          </a:xfrm>
          <a:prstGeom prst="rect">
            <a:avLst/>
          </a:prstGeom>
          <a:solidFill>
            <a:srgbClr val="77933C">
              <a:alpha val="80000"/>
            </a:srgb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944165" y="56729"/>
            <a:ext cx="7483615" cy="773987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57200" y="1044472"/>
            <a:ext cx="8229600" cy="5148000"/>
          </a:xfrm>
        </p:spPr>
        <p:txBody>
          <a:bodyPr/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4274497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0" y="11723"/>
            <a:ext cx="594360" cy="554987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594360" y="557784"/>
            <a:ext cx="594360" cy="554987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557784"/>
            <a:ext cx="594360" cy="55364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1079500" y="89580"/>
            <a:ext cx="7810500" cy="1000442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4274497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4406898"/>
            <a:ext cx="9144000" cy="1463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4406899"/>
            <a:ext cx="731520" cy="7315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731520" y="5138419"/>
            <a:ext cx="731520" cy="7315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 userDrawn="1"/>
        </p:nvSpPr>
        <p:spPr>
          <a:xfrm>
            <a:off x="-476" y="5138418"/>
            <a:ext cx="731520" cy="7315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70185" y="4465515"/>
            <a:ext cx="6724528" cy="1362075"/>
          </a:xfrm>
        </p:spPr>
        <p:txBody>
          <a:bodyPr anchor="t"/>
          <a:lstStyle>
            <a:lvl1pPr algn="l">
              <a:defRPr sz="4000" b="1" cap="none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14382" y="4389120"/>
            <a:ext cx="8229600" cy="1463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/>
          <p:cNvSpPr/>
          <p:nvPr userDrawn="1"/>
        </p:nvSpPr>
        <p:spPr>
          <a:xfrm>
            <a:off x="7777707" y="5120640"/>
            <a:ext cx="688559" cy="7315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8451171" y="4389120"/>
            <a:ext cx="688559" cy="7315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 userDrawn="1"/>
        </p:nvSpPr>
        <p:spPr>
          <a:xfrm>
            <a:off x="8459389" y="5120640"/>
            <a:ext cx="688559" cy="7315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05100" y="4533581"/>
            <a:ext cx="4575856" cy="1362075"/>
          </a:xfrm>
        </p:spPr>
        <p:txBody>
          <a:bodyPr anchor="t"/>
          <a:lstStyle>
            <a:lvl1pPr algn="r">
              <a:defRPr sz="4000" b="1" i="0" cap="none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465" y="2906713"/>
            <a:ext cx="749324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7754261" y="5120640"/>
            <a:ext cx="688559" cy="7315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8427725" y="4389120"/>
            <a:ext cx="688559" cy="7315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 userDrawn="1"/>
        </p:nvSpPr>
        <p:spPr>
          <a:xfrm>
            <a:off x="8435943" y="5120640"/>
            <a:ext cx="688559" cy="7315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6177" y="4533581"/>
            <a:ext cx="4575856" cy="1362075"/>
          </a:xfrm>
        </p:spPr>
        <p:txBody>
          <a:bodyPr anchor="t"/>
          <a:lstStyle>
            <a:lvl1pPr algn="r">
              <a:defRPr sz="4000" b="1" i="0" cap="none" spc="0">
                <a:ln w="1905">
                  <a:solidFill>
                    <a:srgbClr val="00D300"/>
                  </a:solidFill>
                </a:ln>
                <a:solidFill>
                  <a:srgbClr val="66FF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427725" y="3657600"/>
            <a:ext cx="688559" cy="7315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7754261" y="5120640"/>
            <a:ext cx="688559" cy="731520"/>
          </a:xfrm>
          <a:prstGeom prst="rect">
            <a:avLst/>
          </a:prstGeom>
          <a:solidFill>
            <a:srgbClr val="00CC00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8427725" y="4389120"/>
            <a:ext cx="688559" cy="731520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 userDrawn="1"/>
        </p:nvSpPr>
        <p:spPr>
          <a:xfrm>
            <a:off x="8435943" y="5120640"/>
            <a:ext cx="688559" cy="731520"/>
          </a:xfrm>
          <a:prstGeom prst="rect">
            <a:avLst/>
          </a:prstGeom>
          <a:solidFill>
            <a:srgbClr val="66FF33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6177" y="4533581"/>
            <a:ext cx="4575856" cy="1362075"/>
          </a:xfrm>
        </p:spPr>
        <p:txBody>
          <a:bodyPr anchor="t"/>
          <a:lstStyle>
            <a:lvl1pPr algn="r">
              <a:defRPr sz="4000" b="1" i="0" cap="none" spc="0">
                <a:ln w="1905">
                  <a:solidFill>
                    <a:srgbClr val="00D300"/>
                  </a:solidFill>
                </a:ln>
                <a:solidFill>
                  <a:srgbClr val="66FF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427725" y="3657600"/>
            <a:ext cx="688559" cy="731520"/>
          </a:xfrm>
          <a:prstGeom prst="rect">
            <a:avLst/>
          </a:prstGeom>
          <a:solidFill>
            <a:srgbClr val="99FF33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7754261" y="5120640"/>
            <a:ext cx="688559" cy="731520"/>
          </a:xfrm>
          <a:prstGeom prst="rect">
            <a:avLst/>
          </a:prstGeom>
          <a:solidFill>
            <a:srgbClr val="00CC00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8427725" y="4389120"/>
            <a:ext cx="688559" cy="731520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 userDrawn="1"/>
        </p:nvSpPr>
        <p:spPr>
          <a:xfrm>
            <a:off x="8435943" y="5120640"/>
            <a:ext cx="688559" cy="731520"/>
          </a:xfrm>
          <a:prstGeom prst="rect">
            <a:avLst/>
          </a:prstGeom>
          <a:solidFill>
            <a:srgbClr val="66FF33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6177" y="4533581"/>
            <a:ext cx="4575856" cy="1362075"/>
          </a:xfrm>
        </p:spPr>
        <p:txBody>
          <a:bodyPr anchor="t"/>
          <a:lstStyle>
            <a:lvl1pPr algn="r">
              <a:defRPr sz="4000" b="1" i="0" cap="none" spc="0">
                <a:ln w="1905">
                  <a:solidFill>
                    <a:srgbClr val="00D300"/>
                  </a:solidFill>
                </a:ln>
                <a:solidFill>
                  <a:srgbClr val="66FF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427725" y="3657600"/>
            <a:ext cx="688559" cy="731520"/>
          </a:xfrm>
          <a:prstGeom prst="rect">
            <a:avLst/>
          </a:prstGeom>
          <a:solidFill>
            <a:srgbClr val="99FF33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777" y="4597081"/>
            <a:ext cx="4575856" cy="1362075"/>
          </a:xfrm>
        </p:spPr>
        <p:txBody>
          <a:bodyPr anchor="t"/>
          <a:lstStyle>
            <a:lvl1pPr algn="r">
              <a:defRPr sz="4000" b="1" i="0" cap="none" spc="0">
                <a:ln w="1905">
                  <a:solidFill>
                    <a:srgbClr val="00D300"/>
                  </a:solidFill>
                </a:ln>
                <a:solidFill>
                  <a:srgbClr val="66FF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组合 11"/>
          <p:cNvGrpSpPr/>
          <p:nvPr userDrawn="1"/>
        </p:nvGrpSpPr>
        <p:grpSpPr>
          <a:xfrm>
            <a:off x="7316559" y="3657600"/>
            <a:ext cx="1370241" cy="2194560"/>
            <a:chOff x="7754261" y="3657600"/>
            <a:chExt cx="1370241" cy="2194560"/>
          </a:xfrm>
        </p:grpSpPr>
        <p:sp>
          <p:nvSpPr>
            <p:cNvPr id="8" name="矩形 7"/>
            <p:cNvSpPr/>
            <p:nvPr userDrawn="1"/>
          </p:nvSpPr>
          <p:spPr>
            <a:xfrm>
              <a:off x="7754261" y="5120640"/>
              <a:ext cx="688559" cy="731520"/>
            </a:xfrm>
            <a:prstGeom prst="rect">
              <a:avLst/>
            </a:prstGeom>
            <a:solidFill>
              <a:srgbClr val="00CC00"/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组合 10"/>
            <p:cNvGrpSpPr/>
            <p:nvPr userDrawn="1"/>
          </p:nvGrpSpPr>
          <p:grpSpPr>
            <a:xfrm>
              <a:off x="8427725" y="3657600"/>
              <a:ext cx="696777" cy="2194560"/>
              <a:chOff x="8427725" y="3657600"/>
              <a:chExt cx="696777" cy="2194560"/>
            </a:xfrm>
          </p:grpSpPr>
          <p:sp>
            <p:nvSpPr>
              <p:cNvPr id="9" name="矩形 8"/>
              <p:cNvSpPr/>
              <p:nvPr userDrawn="1"/>
            </p:nvSpPr>
            <p:spPr>
              <a:xfrm>
                <a:off x="8427725" y="4389120"/>
                <a:ext cx="688559" cy="73152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矩形 9"/>
              <p:cNvSpPr/>
              <p:nvPr userDrawn="1"/>
            </p:nvSpPr>
            <p:spPr>
              <a:xfrm>
                <a:off x="8435943" y="5120640"/>
                <a:ext cx="688559" cy="731520"/>
              </a:xfrm>
              <a:prstGeom prst="rect">
                <a:avLst/>
              </a:prstGeom>
              <a:solidFill>
                <a:srgbClr val="66FF33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矩形 13"/>
              <p:cNvSpPr/>
              <p:nvPr userDrawn="1"/>
            </p:nvSpPr>
            <p:spPr>
              <a:xfrm>
                <a:off x="8427725" y="3657600"/>
                <a:ext cx="688559" cy="731520"/>
              </a:xfrm>
              <a:prstGeom prst="rect">
                <a:avLst/>
              </a:prstGeom>
              <a:solidFill>
                <a:srgbClr val="99FF33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0799" y="4533581"/>
            <a:ext cx="5283201" cy="1362075"/>
          </a:xfrm>
        </p:spPr>
        <p:txBody>
          <a:bodyPr anchor="t"/>
          <a:lstStyle>
            <a:lvl1pPr algn="l">
              <a:defRPr sz="4000" b="1" i="0" cap="none" spc="0">
                <a:ln w="1905">
                  <a:solidFill>
                    <a:srgbClr val="00D300"/>
                  </a:solidFill>
                </a:ln>
                <a:solidFill>
                  <a:srgbClr val="66FF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组合 10"/>
          <p:cNvGrpSpPr/>
          <p:nvPr userDrawn="1"/>
        </p:nvGrpSpPr>
        <p:grpSpPr>
          <a:xfrm>
            <a:off x="865936" y="3657600"/>
            <a:ext cx="1363891" cy="2194560"/>
            <a:chOff x="7754261" y="3657600"/>
            <a:chExt cx="1363891" cy="2194560"/>
          </a:xfrm>
        </p:grpSpPr>
        <p:sp>
          <p:nvSpPr>
            <p:cNvPr id="8" name="矩形 7"/>
            <p:cNvSpPr/>
            <p:nvPr userDrawn="1"/>
          </p:nvSpPr>
          <p:spPr>
            <a:xfrm>
              <a:off x="7754261" y="5120640"/>
              <a:ext cx="688559" cy="731520"/>
            </a:xfrm>
            <a:prstGeom prst="rect">
              <a:avLst/>
            </a:prstGeom>
            <a:solidFill>
              <a:srgbClr val="00CC00"/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427725" y="4389120"/>
              <a:ext cx="688559" cy="73152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8429593" y="5120640"/>
              <a:ext cx="688559" cy="731520"/>
            </a:xfrm>
            <a:prstGeom prst="rect">
              <a:avLst/>
            </a:prstGeom>
            <a:solidFill>
              <a:srgbClr val="66FF33"/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8427725" y="3657600"/>
              <a:ext cx="688559" cy="731520"/>
            </a:xfrm>
            <a:prstGeom prst="rect">
              <a:avLst/>
            </a:prstGeom>
            <a:solidFill>
              <a:srgbClr val="99FF33"/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9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7754261" y="5120640"/>
            <a:ext cx="688559" cy="731520"/>
          </a:xfrm>
          <a:prstGeom prst="rect">
            <a:avLst/>
          </a:prstGeom>
          <a:solidFill>
            <a:srgbClr val="77933C"/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 userDrawn="1"/>
        </p:nvSpPr>
        <p:spPr>
          <a:xfrm>
            <a:off x="8427725" y="4389120"/>
            <a:ext cx="688559" cy="731520"/>
          </a:xfrm>
          <a:prstGeom prst="rect">
            <a:avLst/>
          </a:prstGeom>
          <a:solidFill>
            <a:srgbClr val="92D050">
              <a:alpha val="69804"/>
            </a:srgbClr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 userDrawn="1"/>
        </p:nvSpPr>
        <p:spPr>
          <a:xfrm>
            <a:off x="8429593" y="5120640"/>
            <a:ext cx="688559" cy="731520"/>
          </a:xfrm>
          <a:prstGeom prst="rect">
            <a:avLst/>
          </a:prstGeom>
          <a:solidFill>
            <a:srgbClr val="66FF33">
              <a:alpha val="50196"/>
            </a:srgbClr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36177" y="4533581"/>
            <a:ext cx="4575856" cy="1362075"/>
          </a:xfrm>
        </p:spPr>
        <p:txBody>
          <a:bodyPr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altLang="zh-CN" sz="4000" b="1" i="0" kern="1200" cap="none" spc="0" dirty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  <a:latin typeface="Arial" pitchFamily="34" charset="0"/>
                <a:ea typeface="Tahoma" pitchFamily="34" charset="0"/>
                <a:cs typeface="Arial" pitchFamily="34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矩形 13"/>
          <p:cNvSpPr/>
          <p:nvPr userDrawn="1"/>
        </p:nvSpPr>
        <p:spPr>
          <a:xfrm>
            <a:off x="8427725" y="3657600"/>
            <a:ext cx="688559" cy="731520"/>
          </a:xfrm>
          <a:prstGeom prst="rect">
            <a:avLst/>
          </a:prstGeom>
          <a:solidFill>
            <a:srgbClr val="99FF33">
              <a:alpha val="69804"/>
            </a:srgbClr>
          </a:solidFill>
          <a:ln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50476" y="4533581"/>
            <a:ext cx="5447323" cy="1362075"/>
          </a:xfrm>
        </p:spPr>
        <p:txBody>
          <a:bodyPr anchor="t"/>
          <a:lstStyle>
            <a:lvl1pPr algn="l">
              <a:defRPr sz="4000" b="1" i="0" cap="none" spc="0">
                <a:ln w="1905">
                  <a:solidFill>
                    <a:srgbClr val="00D300"/>
                  </a:solidFill>
                </a:ln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ea typeface="Tahoma" pitchFamily="34" charset="0"/>
                <a:cs typeface="Arial" pitchFamily="34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组合 10"/>
          <p:cNvGrpSpPr/>
          <p:nvPr userDrawn="1"/>
        </p:nvGrpSpPr>
        <p:grpSpPr>
          <a:xfrm>
            <a:off x="865936" y="3657600"/>
            <a:ext cx="1363891" cy="2194560"/>
            <a:chOff x="7754261" y="3657600"/>
            <a:chExt cx="1363891" cy="2194560"/>
          </a:xfrm>
        </p:grpSpPr>
        <p:sp>
          <p:nvSpPr>
            <p:cNvPr id="8" name="矩形 7"/>
            <p:cNvSpPr/>
            <p:nvPr userDrawn="1"/>
          </p:nvSpPr>
          <p:spPr>
            <a:xfrm>
              <a:off x="7754261" y="5120640"/>
              <a:ext cx="688559" cy="731520"/>
            </a:xfrm>
            <a:prstGeom prst="rect">
              <a:avLst/>
            </a:prstGeom>
            <a:solidFill>
              <a:srgbClr val="77933C"/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427725" y="4389120"/>
              <a:ext cx="688559" cy="731520"/>
            </a:xfrm>
            <a:prstGeom prst="rect">
              <a:avLst/>
            </a:prstGeom>
            <a:solidFill>
              <a:srgbClr val="92D050">
                <a:alpha val="69804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8429593" y="5120640"/>
              <a:ext cx="688559" cy="731520"/>
            </a:xfrm>
            <a:prstGeom prst="rect">
              <a:avLst/>
            </a:prstGeom>
            <a:solidFill>
              <a:srgbClr val="66FF33">
                <a:alpha val="5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8427725" y="3657600"/>
              <a:ext cx="688559" cy="731520"/>
            </a:xfrm>
            <a:prstGeom prst="rect">
              <a:avLst/>
            </a:prstGeom>
            <a:solidFill>
              <a:srgbClr val="99FF33">
                <a:alpha val="69804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571366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3808372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8513510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1968113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2880578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5887954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8167262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97119068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5408274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50476" y="4533581"/>
            <a:ext cx="5447323" cy="1362075"/>
          </a:xfrm>
        </p:spPr>
        <p:txBody>
          <a:bodyPr anchor="t"/>
          <a:lstStyle>
            <a:lvl1pPr algn="l">
              <a:defRPr sz="4000" b="1" i="0" cap="none" spc="0">
                <a:ln w="1905">
                  <a:solidFill>
                    <a:srgbClr val="00D300"/>
                  </a:solidFill>
                </a:ln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ea typeface="Tahoma" pitchFamily="34" charset="0"/>
                <a:cs typeface="Arial" pitchFamily="34" charset="0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组合 10"/>
          <p:cNvGrpSpPr/>
          <p:nvPr userDrawn="1"/>
        </p:nvGrpSpPr>
        <p:grpSpPr>
          <a:xfrm>
            <a:off x="865936" y="3657600"/>
            <a:ext cx="1367066" cy="2194560"/>
            <a:chOff x="7754261" y="3657600"/>
            <a:chExt cx="1367066" cy="2194560"/>
          </a:xfrm>
        </p:grpSpPr>
        <p:sp>
          <p:nvSpPr>
            <p:cNvPr id="8" name="矩形 7"/>
            <p:cNvSpPr/>
            <p:nvPr userDrawn="1"/>
          </p:nvSpPr>
          <p:spPr>
            <a:xfrm>
              <a:off x="7754261" y="5120640"/>
              <a:ext cx="688559" cy="731520"/>
            </a:xfrm>
            <a:prstGeom prst="rect">
              <a:avLst/>
            </a:prstGeom>
            <a:solidFill>
              <a:srgbClr val="77933C"/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427725" y="4389120"/>
              <a:ext cx="688559" cy="731520"/>
            </a:xfrm>
            <a:prstGeom prst="rect">
              <a:avLst/>
            </a:prstGeom>
            <a:solidFill>
              <a:srgbClr val="92D050">
                <a:alpha val="69804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8432768" y="5120640"/>
              <a:ext cx="688559" cy="731520"/>
            </a:xfrm>
            <a:prstGeom prst="rect">
              <a:avLst/>
            </a:prstGeom>
            <a:solidFill>
              <a:srgbClr val="66FF33">
                <a:alpha val="5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8427725" y="3657600"/>
              <a:ext cx="688559" cy="731520"/>
            </a:xfrm>
            <a:prstGeom prst="rect">
              <a:avLst/>
            </a:prstGeom>
            <a:solidFill>
              <a:srgbClr val="99FF33">
                <a:alpha val="69804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893380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B1D23-BD60-3B41-9E2B-72878C4F4C76}" type="datetimeFigureOut">
              <a:rPr lang="en-US" smtClean="0"/>
              <a:pPr/>
              <a:t>6/9/14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B59B1-C31B-434D-AF92-9E52CA7629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9372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64" r:id="rId4"/>
    <p:sldLayoutId id="2147483651" r:id="rId5"/>
    <p:sldLayoutId id="2147483661" r:id="rId6"/>
    <p:sldLayoutId id="2147483662" r:id="rId7"/>
    <p:sldLayoutId id="2147483663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2" r:id="rId14"/>
    <p:sldLayoutId id="2147483653" r:id="rId15"/>
    <p:sldLayoutId id="2147483654" r:id="rId16"/>
    <p:sldLayoutId id="2147483655" r:id="rId17"/>
    <p:sldLayoutId id="2147483656" r:id="rId18"/>
    <p:sldLayoutId id="2147483657" r:id="rId19"/>
    <p:sldLayoutId id="2147483658" r:id="rId20"/>
    <p:sldLayoutId id="2147483659" r:id="rId21"/>
    <p:sldLayoutId id="2147483673" r:id="rId22"/>
  </p:sldLayoutIdLst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1305.4002" TargetMode="External"/><Relationship Id="rId4" Type="http://schemas.openxmlformats.org/officeDocument/2006/relationships/hyperlink" Target="http://arxiv.org/abs/1405.5940" TargetMode="External"/><Relationship Id="rId5" Type="http://schemas.openxmlformats.org/officeDocument/2006/relationships/hyperlink" Target="http://arxiv.org/abs/1305.4000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8.jpeg"/><Relationship Id="rId10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8.jpeg"/><Relationship Id="rId12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12.wmf"/><Relationship Id="rId6" Type="http://schemas.openxmlformats.org/officeDocument/2006/relationships/image" Target="../media/image13.png"/><Relationship Id="rId7" Type="http://schemas.openxmlformats.org/officeDocument/2006/relationships/image" Target="../media/image14.gif"/><Relationship Id="rId8" Type="http://schemas.openxmlformats.org/officeDocument/2006/relationships/image" Target="../media/image15.wmf"/><Relationship Id="rId9" Type="http://schemas.openxmlformats.org/officeDocument/2006/relationships/image" Target="../media/image16.jpeg"/><Relationship Id="rId10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6.png"/><Relationship Id="rId1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5" Type="http://schemas.openxmlformats.org/officeDocument/2006/relationships/image" Target="../media/image20.pn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Relationship Id="rId9" Type="http://schemas.openxmlformats.org/officeDocument/2006/relationships/image" Target="../media/image24.wmf"/><Relationship Id="rId10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9.jpeg"/><Relationship Id="rId5" Type="http://schemas.openxmlformats.org/officeDocument/2006/relationships/image" Target="../media/image40.jpe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4" Type="http://schemas.openxmlformats.org/officeDocument/2006/relationships/image" Target="../media/image63.png"/><Relationship Id="rId5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4" Type="http://schemas.openxmlformats.org/officeDocument/2006/relationships/image" Target="../media/image62.emf"/><Relationship Id="rId5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4" Type="http://schemas.openxmlformats.org/officeDocument/2006/relationships/image" Target="../media/image68.emf"/><Relationship Id="rId5" Type="http://schemas.openxmlformats.org/officeDocument/2006/relationships/image" Target="../media/image69.emf"/><Relationship Id="rId6" Type="http://schemas.openxmlformats.org/officeDocument/2006/relationships/image" Target="../media/image70.emf"/><Relationship Id="rId7" Type="http://schemas.openxmlformats.org/officeDocument/2006/relationships/image" Target="../media/image71.emf"/><Relationship Id="rId8" Type="http://schemas.openxmlformats.org/officeDocument/2006/relationships/image" Target="../media/image72.emf"/><Relationship Id="rId9" Type="http://schemas.openxmlformats.org/officeDocument/2006/relationships/image" Target="../media/image73.emf"/><Relationship Id="rId1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39.jpeg"/><Relationship Id="rId8" Type="http://schemas.openxmlformats.org/officeDocument/2006/relationships/image" Target="../media/image40.jpeg"/><Relationship Id="rId9" Type="http://schemas.openxmlformats.org/officeDocument/2006/relationships/image" Target="../media/image41.png"/><Relationship Id="rId10" Type="http://schemas.openxmlformats.org/officeDocument/2006/relationships/image" Target="../media/image3.wmf"/><Relationship Id="rId11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4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4" Type="http://schemas.openxmlformats.org/officeDocument/2006/relationships/image" Target="../media/image2.png"/><Relationship Id="rId5" Type="http://schemas.openxmlformats.org/officeDocument/2006/relationships/image" Target="../media/image3.wmf"/><Relationship Id="rId6" Type="http://schemas.openxmlformats.org/officeDocument/2006/relationships/image" Target="../media/image12.wmf"/><Relationship Id="rId7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9572" y="2061032"/>
            <a:ext cx="7849053" cy="114300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/>
                <a:latin typeface="Times New Roman" charset="0"/>
                <a:ea typeface="ＭＳ Ｐゴシック" charset="-128"/>
                <a:cs typeface="ＭＳ Ｐゴシック" charset="-128"/>
              </a:rPr>
              <a:t>Beyond Revenue: Optimal Mechanisms for Non-Linear Objectives</a:t>
            </a:r>
            <a:endParaRPr lang="en-US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  <a:ea typeface="ＭＳ Ｐゴシック" charset="-128"/>
              <a:cs typeface="Times New Roman"/>
            </a:endParaRPr>
          </a:p>
        </p:txBody>
      </p:sp>
      <p:sp>
        <p:nvSpPr>
          <p:cNvPr id="15363" name="Rectangle 3"/>
          <p:cNvSpPr txBox="1">
            <a:spLocks noChangeArrowheads="1"/>
          </p:cNvSpPr>
          <p:nvPr/>
        </p:nvSpPr>
        <p:spPr bwMode="auto">
          <a:xfrm>
            <a:off x="495300" y="4098466"/>
            <a:ext cx="6705600" cy="1339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charset="0"/>
              <a:buNone/>
            </a:pPr>
            <a:r>
              <a:rPr lang="en-US" altLang="zh-CN" sz="3200" b="1" dirty="0" smtClean="0">
                <a:latin typeface="Times New Roman" charset="0"/>
              </a:rPr>
              <a:t>Matt Weinberg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charset="0"/>
              <a:buNone/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</a:rPr>
              <a:t>MIT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charset="0"/>
                <a:sym typeface="Wingdings" panose="05000000000000000000" pitchFamily="2" charset="2"/>
              </a:rPr>
              <a:t> Princeton  MSR</a:t>
            </a:r>
            <a:endParaRPr lang="en-US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2519" y="5380672"/>
            <a:ext cx="31257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References: </a:t>
            </a:r>
            <a:r>
              <a:rPr lang="en-US" dirty="0" smtClean="0"/>
              <a:t>	</a:t>
            </a:r>
          </a:p>
          <a:p>
            <a:r>
              <a:rPr lang="en-US" dirty="0" smtClean="0">
                <a:hlinkClick r:id="rId3"/>
              </a:rPr>
              <a:t>http</a:t>
            </a:r>
            <a:r>
              <a:rPr lang="en-US" dirty="0" smtClean="0">
                <a:hlinkClick r:id="rId3"/>
              </a:rPr>
              <a:t>://arxiv.org/abs/</a:t>
            </a:r>
            <a:r>
              <a:rPr lang="en-US" dirty="0" smtClean="0">
                <a:hlinkClick r:id="rId3"/>
              </a:rPr>
              <a:t>1305.4002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</a:t>
            </a:r>
            <a:r>
              <a:rPr lang="en-US" dirty="0" smtClean="0">
                <a:hlinkClick r:id="rId4"/>
              </a:rPr>
              <a:t>://arxiv.org/abs/</a:t>
            </a:r>
            <a:r>
              <a:rPr lang="en-US" dirty="0" smtClean="0">
                <a:hlinkClick r:id="rId4"/>
              </a:rPr>
              <a:t>1405.5940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</a:t>
            </a:r>
            <a:r>
              <a:rPr lang="en-US" dirty="0" smtClean="0">
                <a:hlinkClick r:id="rId5"/>
              </a:rPr>
              <a:t>://arxiv.org/abs/</a:t>
            </a:r>
            <a:r>
              <a:rPr lang="en-US" dirty="0" smtClean="0">
                <a:hlinkClick r:id="rId5"/>
              </a:rPr>
              <a:t>1305.4000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462354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70" y="903409"/>
            <a:ext cx="8229600" cy="57883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008000"/>
                </a:solidFill>
              </a:rPr>
              <a:t>Costis</a:t>
            </a:r>
            <a:r>
              <a:rPr lang="en-US" sz="2400" b="1" dirty="0" smtClean="0">
                <a:solidFill>
                  <a:srgbClr val="008000"/>
                </a:solidFill>
              </a:rPr>
              <a:t>’ Talk: </a:t>
            </a:r>
          </a:p>
          <a:p>
            <a:pPr>
              <a:buFontTx/>
              <a:buChar char="-"/>
            </a:pPr>
            <a:r>
              <a:rPr lang="en-US" sz="1800" dirty="0" smtClean="0"/>
              <a:t>Optimal multi-dimensional mechanism: additive bidders, no constraints</a:t>
            </a:r>
            <a:endParaRPr lang="en-US" sz="1800" dirty="0"/>
          </a:p>
          <a:p>
            <a:pPr lvl="1">
              <a:buFontTx/>
              <a:buChar char="-"/>
            </a:pPr>
            <a:r>
              <a:rPr lang="en-US" sz="1400" dirty="0" smtClean="0"/>
              <a:t>(randomly) Assigns virtual values to each agent for each item (computed by LP)</a:t>
            </a:r>
          </a:p>
          <a:p>
            <a:pPr lvl="1">
              <a:buFontTx/>
              <a:buChar char="-"/>
            </a:pPr>
            <a:r>
              <a:rPr lang="en-US" sz="1400" dirty="0" smtClean="0"/>
              <a:t>Awards  each item to highest virtual bidder</a:t>
            </a:r>
          </a:p>
          <a:p>
            <a:pPr lvl="1">
              <a:buFontTx/>
              <a:buChar char="-"/>
            </a:pPr>
            <a:r>
              <a:rPr lang="en-US" sz="1400" dirty="0" smtClean="0"/>
              <a:t>Charges prices to ensure truthfulness (computed by LP)</a:t>
            </a:r>
          </a:p>
          <a:p>
            <a:pPr marL="457200" lvl="1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8000"/>
                </a:solidFill>
              </a:rPr>
              <a:t>Yang’s Talk:</a:t>
            </a:r>
          </a:p>
          <a:p>
            <a:pPr>
              <a:buFontTx/>
              <a:buChar char="-"/>
            </a:pPr>
            <a:r>
              <a:rPr lang="en-US" sz="1800" dirty="0" smtClean="0"/>
              <a:t>Optimal multi-dimensional mechanism: arbitrary bidders &amp; constraints</a:t>
            </a:r>
          </a:p>
          <a:p>
            <a:pPr lvl="1">
              <a:buFontTx/>
              <a:buChar char="-"/>
            </a:pPr>
            <a:r>
              <a:rPr lang="en-US" sz="1400" dirty="0" smtClean="0"/>
              <a:t>(randomly) Assigns each agent a virtual type (computed by LP)</a:t>
            </a:r>
          </a:p>
          <a:p>
            <a:pPr lvl="1">
              <a:buFontTx/>
              <a:buChar char="-"/>
            </a:pPr>
            <a:r>
              <a:rPr lang="en-US" sz="1400" dirty="0" smtClean="0"/>
              <a:t>Selects outcome that optimizes virtual welfare</a:t>
            </a:r>
          </a:p>
          <a:p>
            <a:pPr lvl="1">
              <a:buFontTx/>
              <a:buChar char="-"/>
            </a:pPr>
            <a:r>
              <a:rPr lang="en-US" sz="1400" dirty="0" smtClean="0"/>
              <a:t>Charges prices to ensure truthfulness (computed by LP)</a:t>
            </a:r>
          </a:p>
          <a:p>
            <a:pPr marL="457200" lvl="1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2400" b="1" dirty="0" smtClean="0"/>
              <a:t>View as a reduction:</a:t>
            </a:r>
          </a:p>
          <a:p>
            <a:pPr>
              <a:buFontTx/>
              <a:buChar char="-"/>
            </a:pPr>
            <a:r>
              <a:rPr lang="en-US" sz="1800" dirty="0" smtClean="0"/>
              <a:t>From truthfully optimizing revenue to algorithmically optimizing virtual welfare.</a:t>
            </a:r>
          </a:p>
          <a:p>
            <a:pPr>
              <a:buFontTx/>
              <a:buChar char="-"/>
            </a:pPr>
            <a:r>
              <a:rPr lang="en-US" sz="1800" dirty="0" smtClean="0"/>
              <a:t>Solve LP with black-box access to </a:t>
            </a:r>
            <a:r>
              <a:rPr lang="en-US" sz="1800" b="1" dirty="0" smtClean="0"/>
              <a:t>algorithm</a:t>
            </a:r>
            <a:r>
              <a:rPr lang="en-US" sz="1800" dirty="0" smtClean="0"/>
              <a:t> for virtual welfare</a:t>
            </a:r>
          </a:p>
          <a:p>
            <a:pPr lvl="1">
              <a:buFontTx/>
              <a:buChar char="-"/>
            </a:pPr>
            <a:r>
              <a:rPr lang="en-US" sz="1600" dirty="0" smtClean="0">
                <a:sym typeface="Wingdings" pitchFamily="2" charset="2"/>
              </a:rPr>
              <a:t>To find virtual transformation + prices to charge</a:t>
            </a:r>
          </a:p>
          <a:p>
            <a:pPr>
              <a:buFontTx/>
              <a:buChar char="-"/>
            </a:pPr>
            <a:r>
              <a:rPr lang="en-US" sz="1800" dirty="0" smtClean="0">
                <a:sym typeface="Wingdings" pitchFamily="2" charset="2"/>
              </a:rPr>
              <a:t>Implement mechanism with black-box access to </a:t>
            </a:r>
            <a:r>
              <a:rPr lang="en-US" sz="1800" b="1" dirty="0" smtClean="0">
                <a:sym typeface="Wingdings" pitchFamily="2" charset="2"/>
              </a:rPr>
              <a:t>algorithm</a:t>
            </a:r>
            <a:r>
              <a:rPr lang="en-US" sz="1800" dirty="0" smtClean="0">
                <a:sym typeface="Wingdings" pitchFamily="2" charset="2"/>
              </a:rPr>
              <a:t> for virtual welfare</a:t>
            </a:r>
          </a:p>
          <a:p>
            <a:pPr lvl="1">
              <a:buFontTx/>
              <a:buChar char="-"/>
            </a:pPr>
            <a:r>
              <a:rPr lang="en-US" sz="1600" dirty="0" smtClean="0">
                <a:sym typeface="Wingdings" pitchFamily="2" charset="2"/>
              </a:rPr>
              <a:t>Just maximize virtual welfare on every profile.</a:t>
            </a:r>
            <a:endParaRPr lang="en-US" sz="1600" dirty="0">
              <a:sym typeface="Wingdings" pitchFamily="2" charset="2"/>
            </a:endParaRPr>
          </a:p>
          <a:p>
            <a:pPr lvl="1">
              <a:buFontTx/>
              <a:buChar char="-"/>
            </a:pPr>
            <a:endParaRPr lang="en-US" sz="20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14291821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7775106" y="2928543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cxnSp>
        <p:nvCxnSpPr>
          <p:cNvPr id="72" name="Straight Arrow Connector 71"/>
          <p:cNvCxnSpPr>
            <a:stCxn id="87" idx="1"/>
          </p:cNvCxnSpPr>
          <p:nvPr/>
        </p:nvCxnSpPr>
        <p:spPr>
          <a:xfrm>
            <a:off x="4719142" y="3247193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7821958" y="3247192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513319" y="2013868"/>
            <a:ext cx="2302486" cy="2041669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/>
          <p:cNvSpPr/>
          <p:nvPr/>
        </p:nvSpPr>
        <p:spPr>
          <a:xfrm>
            <a:off x="1232402" y="2013317"/>
            <a:ext cx="2317172" cy="20422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 rot="16200000">
            <a:off x="1263123" y="1196347"/>
            <a:ext cx="987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1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 rot="16200000">
            <a:off x="2584333" y="1180827"/>
            <a:ext cx="101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m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1788101" y="1204321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093657" y="1204321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 rot="16200000">
            <a:off x="1694839" y="4183966"/>
            <a:ext cx="1018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2390987" y="4068409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301011" y="2385066"/>
            <a:ext cx="2115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Mechanism </a:t>
            </a:r>
            <a:r>
              <a:rPr lang="en-US" sz="2400" dirty="0" smtClean="0"/>
              <a:t>that optimizes revenue</a:t>
            </a:r>
            <a:endParaRPr lang="en-US" sz="2400" dirty="0"/>
          </a:p>
        </p:txBody>
      </p:sp>
      <p:sp>
        <p:nvSpPr>
          <p:cNvPr id="83" name="TextBox 82"/>
          <p:cNvSpPr txBox="1"/>
          <p:nvPr/>
        </p:nvSpPr>
        <p:spPr>
          <a:xfrm>
            <a:off x="5685497" y="2385065"/>
            <a:ext cx="1983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Algorithm </a:t>
            </a:r>
            <a:r>
              <a:rPr lang="en-US" sz="2400" dirty="0" smtClean="0">
                <a:solidFill>
                  <a:schemeClr val="bg1"/>
                </a:solidFill>
              </a:rPr>
              <a:t>that optimizes welfare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210454" y="1347484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  <p:sp>
        <p:nvSpPr>
          <p:cNvPr id="85" name="TextBox 84"/>
          <p:cNvSpPr txBox="1"/>
          <p:nvPr/>
        </p:nvSpPr>
        <p:spPr>
          <a:xfrm>
            <a:off x="193138" y="2645838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Want:</a:t>
            </a:r>
            <a:endParaRPr lang="en-US" sz="2400" b="1" dirty="0"/>
          </a:p>
        </p:txBody>
      </p:sp>
      <p:sp>
        <p:nvSpPr>
          <p:cNvPr id="86" name="TextBox 85"/>
          <p:cNvSpPr txBox="1"/>
          <p:nvPr/>
        </p:nvSpPr>
        <p:spPr>
          <a:xfrm>
            <a:off x="4515794" y="2645838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Have:</a:t>
            </a:r>
            <a:endParaRPr lang="en-US" sz="24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4719142" y="2924027"/>
            <a:ext cx="966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Known Input 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3508010" y="2529183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1 </a:t>
            </a:r>
            <a:endParaRPr lang="en-US" dirty="0"/>
          </a:p>
        </p:txBody>
      </p:sp>
      <p:cxnSp>
        <p:nvCxnSpPr>
          <p:cNvPr id="89" name="Straight Arrow Connector 88"/>
          <p:cNvCxnSpPr/>
          <p:nvPr/>
        </p:nvCxnSpPr>
        <p:spPr>
          <a:xfrm>
            <a:off x="3549574" y="2280066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549574" y="1930423"/>
            <a:ext cx="89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Chosen Input 1 </a:t>
            </a:r>
            <a:endParaRPr lang="en-US" dirty="0"/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3549574" y="3381003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3528792" y="3859308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>
            <a:off x="3528792" y="2839445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512279" y="3564613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k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3549574" y="3057837"/>
            <a:ext cx="89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Chosen Input k 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 rot="5400000">
            <a:off x="3910462" y="2779052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97" name="TextBox 96"/>
              <p:cNvSpPr txBox="1"/>
              <p:nvPr/>
            </p:nvSpPr>
            <p:spPr>
              <a:xfrm>
                <a:off x="505326" y="5467503"/>
                <a:ext cx="831382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008000"/>
                    </a:solidFill>
                  </a:rPr>
                  <a:t>[Yang’s Talk]: </a:t>
                </a:r>
                <a:r>
                  <a:rPr lang="en-US" dirty="0" smtClean="0"/>
                  <a:t>If want </a:t>
                </a:r>
                <a:r>
                  <a:rPr lang="en-US" b="1" dirty="0" smtClean="0"/>
                  <a:t>mechanism</a:t>
                </a:r>
                <a:r>
                  <a:rPr lang="en-US" dirty="0" smtClean="0"/>
                  <a:t> to work for all types in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 smtClean="0"/>
                  <a:t>, need </a:t>
                </a:r>
                <a:r>
                  <a:rPr lang="en-US" b="1" dirty="0" smtClean="0"/>
                  <a:t>algorithm</a:t>
                </a:r>
                <a:r>
                  <a:rPr lang="en-US" dirty="0" smtClean="0"/>
                  <a:t> to work for all virtual types in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closure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 smtClean="0"/>
                  <a:t> under addition and (possibly negative) scalar multiplication.</a:t>
                </a:r>
              </a:p>
            </p:txBody>
          </p:sp>
        </mc:Choice>
        <mc:Fallback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26" y="5467503"/>
                <a:ext cx="8313821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660" t="-3311" r="-14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9532326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-0.1151 -0.007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4" y="-3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L -0.11632 -4.44444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16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4" grpId="0" animBg="1"/>
      <p:bldP spid="83" grpId="0"/>
      <p:bldP spid="86" grpId="0"/>
      <p:bldP spid="87" grpId="0"/>
      <p:bldP spid="88" grpId="0"/>
      <p:bldP spid="90" grpId="0"/>
      <p:bldP spid="94" grpId="0"/>
      <p:bldP spid="95" grpId="0"/>
      <p:bldP spid="96" grpId="0"/>
      <p:bldP spid="9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/>
          <p:cNvCxnSpPr/>
          <p:nvPr/>
        </p:nvCxnSpPr>
        <p:spPr>
          <a:xfrm flipV="1">
            <a:off x="2706624" y="3364583"/>
            <a:ext cx="3776472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81528" y="2578199"/>
            <a:ext cx="3108960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endParaRPr lang="en-US" sz="1600" b="1" cap="none" spc="0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Algorithm</a:t>
            </a:r>
          </a:p>
          <a:p>
            <a:pPr algn="ctr"/>
            <a:endParaRPr lang="en-US" sz="2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3672" y="903474"/>
            <a:ext cx="8842375" cy="8837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400" b="1" dirty="0" smtClean="0">
                <a:latin typeface="Times New Roman"/>
                <a:cs typeface="Times New Roman"/>
              </a:rPr>
              <a:t>Traditional Algorithm Design: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vs. Mechanism Design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6483096" y="2578199"/>
            <a:ext cx="2505456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(desired)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024" y="2578199"/>
            <a:ext cx="2505075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(given)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9810021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" grpId="0" build="p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/>
          <p:cNvCxnSpPr/>
          <p:nvPr/>
        </p:nvCxnSpPr>
        <p:spPr>
          <a:xfrm flipV="1">
            <a:off x="2706624" y="3364583"/>
            <a:ext cx="3776472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81528" y="2578199"/>
            <a:ext cx="3108960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endParaRPr lang="en-US" sz="1600" b="1" cap="none" spc="0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Algorithm</a:t>
            </a:r>
          </a:p>
          <a:p>
            <a:pPr algn="ctr"/>
            <a:endParaRPr lang="en-US" sz="2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1168" y="1787242"/>
            <a:ext cx="2505075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Agents’</a:t>
            </a:r>
          </a:p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Reports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86525" y="1787240"/>
            <a:ext cx="2505456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Agents’</a:t>
            </a:r>
          </a:p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Payoffs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438274" y="3364582"/>
            <a:ext cx="0" cy="9235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7664195" y="3364583"/>
            <a:ext cx="1" cy="9235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3672" y="903474"/>
            <a:ext cx="8842375" cy="8837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400" b="1" dirty="0" smtClean="0">
                <a:latin typeface="Times New Roman"/>
                <a:cs typeface="Times New Roman"/>
              </a:rPr>
              <a:t>Algorithmic Mechanism Design: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vs. Mechanism Design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6483096" y="2578199"/>
            <a:ext cx="2505456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(desired)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024" y="2578199"/>
            <a:ext cx="2505075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(given)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Input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81509" y="4292714"/>
            <a:ext cx="3108960" cy="1572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endParaRPr lang="en-US" sz="1600" b="1" cap="none" spc="0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  <a:p>
            <a:pPr algn="ctr"/>
            <a:r>
              <a:rPr lang="en-US" sz="50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Mechanism</a:t>
            </a:r>
          </a:p>
          <a:p>
            <a:pPr algn="ctr"/>
            <a:endParaRPr lang="en-US" sz="2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32430096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3" grpId="0" animBg="1"/>
      <p:bldP spid="32" grpId="0" animBg="1"/>
      <p:bldP spid="33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3692697" y="1424046"/>
            <a:ext cx="1555405" cy="152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644706" y="857989"/>
            <a:ext cx="1081179" cy="935635"/>
          </a:xfrm>
          <a:prstGeom prst="rect">
            <a:avLst/>
          </a:prstGeom>
        </p:spPr>
      </p:pic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56" name="TextBox 55"/>
              <p:cNvSpPr txBox="1"/>
              <p:nvPr/>
            </p:nvSpPr>
            <p:spPr>
              <a:xfrm>
                <a:off x="601000" y="4762500"/>
                <a:ext cx="808228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Can only build one school.</a:t>
                </a:r>
              </a:p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Any child may attend that school.</a:t>
                </a:r>
              </a:p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Want to maximize </a:t>
                </a: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welfare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1" i="1" smtClean="0">
                            <a:latin typeface="Cambria Math"/>
                            <a:cs typeface="Times New Roman"/>
                          </a:rPr>
                        </m:ctrlPr>
                      </m:naryPr>
                      <m:sub>
                        <m:r>
                          <a:rPr lang="en-US" sz="2000" b="1" i="1" smtClean="0">
                            <a:latin typeface="Cambria Math"/>
                            <a:cs typeface="Times New Roman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smtClean="0">
                                <a:latin typeface="Cambria Math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/>
                                <a:cs typeface="Times New Roman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/>
                                <a:cs typeface="Times New Roman"/>
                              </a:rPr>
                              <m:t>𝒊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/>
                                <a:cs typeface="Times New Roman"/>
                              </a:rPr>
                              <m:t>𝒙</m:t>
                            </m:r>
                          </m:e>
                        </m:d>
                      </m:e>
                    </m:nary>
                    <m:r>
                      <a:rPr lang="en-US" sz="2000" b="1" i="1" smtClean="0">
                        <a:latin typeface="Cambria Math"/>
                        <a:cs typeface="Times New Roman"/>
                      </a:rPr>
                      <m:t>.</m:t>
                    </m:r>
                  </m:oMath>
                </a14:m>
                <a:endParaRPr lang="en-US" sz="2000" b="1" dirty="0" smtClean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0" y="4762500"/>
                <a:ext cx="8082280" cy="1477328"/>
              </a:xfrm>
              <a:prstGeom prst="rect">
                <a:avLst/>
              </a:prstGeom>
              <a:blipFill rotWithShape="1">
                <a:blip r:embed="rId5"/>
                <a:stretch>
                  <a:fillRect l="-679" b="-45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50850" y="0"/>
            <a:ext cx="8540750" cy="822960"/>
          </a:xfrm>
        </p:spPr>
        <p:txBody>
          <a:bodyPr wrap="none">
            <a:normAutofit/>
          </a:bodyPr>
          <a:lstStyle/>
          <a:p>
            <a:r>
              <a:rPr lang="en-US" sz="2400" i="1" dirty="0" smtClean="0">
                <a:effectLst/>
                <a:latin typeface="Times New Roman"/>
                <a:cs typeface="Times New Roman"/>
              </a:rPr>
              <a:t>Example </a:t>
            </a:r>
            <a:r>
              <a:rPr lang="en-US" sz="2400" i="1" dirty="0" smtClean="0">
                <a:latin typeface="Times New Roman"/>
                <a:cs typeface="Times New Roman"/>
              </a:rPr>
              <a:t>1</a:t>
            </a:r>
            <a:r>
              <a:rPr lang="en-US" sz="2400" i="1" dirty="0" smtClean="0">
                <a:effectLst/>
                <a:latin typeface="Times New Roman"/>
                <a:cs typeface="Times New Roman"/>
              </a:rPr>
              <a:t>:</a:t>
            </a:r>
            <a:r>
              <a:rPr lang="en-US" sz="2800" b="1" dirty="0" smtClean="0">
                <a:effectLst/>
                <a:latin typeface="Times New Roman"/>
                <a:cs typeface="Times New Roman"/>
              </a:rPr>
              <a:t> </a:t>
            </a:r>
            <a:r>
              <a:rPr lang="en-US" sz="2800" dirty="0" smtClean="0">
                <a:latin typeface="Times New Roman"/>
                <a:cs typeface="Times New Roman"/>
              </a:rPr>
              <a:t>building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schools</a:t>
            </a:r>
            <a:endParaRPr lang="en-US" sz="28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grpSp>
        <p:nvGrpSpPr>
          <p:cNvPr id="38" name="组合 40"/>
          <p:cNvGrpSpPr/>
          <p:nvPr/>
        </p:nvGrpSpPr>
        <p:grpSpPr>
          <a:xfrm>
            <a:off x="6267165" y="1559673"/>
            <a:ext cx="988799" cy="2481047"/>
            <a:chOff x="4196059" y="1759025"/>
            <a:chExt cx="1135660" cy="2849544"/>
          </a:xfrm>
        </p:grpSpPr>
        <p:grpSp>
          <p:nvGrpSpPr>
            <p:cNvPr id="41" name="组合 38"/>
            <p:cNvGrpSpPr/>
            <p:nvPr/>
          </p:nvGrpSpPr>
          <p:grpSpPr>
            <a:xfrm>
              <a:off x="4999433" y="1759025"/>
              <a:ext cx="332286" cy="2849544"/>
              <a:chOff x="4999433" y="1759025"/>
              <a:chExt cx="332286" cy="2849544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4999433" y="1759025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5031637" y="2926073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/>
                    <a:cs typeface="Times New Roman"/>
                  </a:rPr>
                  <a:t>j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5031637" y="4239237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/>
                    <a:cs typeface="Times New Roman"/>
                  </a:rPr>
                  <a:t>n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/>
                  <a:cs typeface="Times New Roman"/>
                </a:endParaRPr>
              </a:p>
            </p:txBody>
          </p:sp>
        </p:grpSp>
        <p:grpSp>
          <p:nvGrpSpPr>
            <p:cNvPr id="42" name="组合 39"/>
            <p:cNvGrpSpPr/>
            <p:nvPr/>
          </p:nvGrpSpPr>
          <p:grpSpPr>
            <a:xfrm>
              <a:off x="4196059" y="2345033"/>
              <a:ext cx="490239" cy="1720476"/>
              <a:chOff x="4196059" y="2345033"/>
              <a:chExt cx="490239" cy="1720476"/>
            </a:xfrm>
          </p:grpSpPr>
          <p:sp>
            <p:nvSpPr>
              <p:cNvPr id="45" name="TextBox 44"/>
              <p:cNvSpPr txBox="1"/>
              <p:nvPr/>
            </p:nvSpPr>
            <p:spPr>
              <a:xfrm rot="5400000">
                <a:off x="4237347" y="3616558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 rot="5400000">
                <a:off x="4208773" y="2332319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</p:grpSp>
      </p:grpSp>
      <p:grpSp>
        <p:nvGrpSpPr>
          <p:cNvPr id="54" name="组合 42"/>
          <p:cNvGrpSpPr/>
          <p:nvPr/>
        </p:nvGrpSpPr>
        <p:grpSpPr>
          <a:xfrm>
            <a:off x="1256870" y="1544673"/>
            <a:ext cx="1001671" cy="2483238"/>
            <a:chOff x="555626" y="1647826"/>
            <a:chExt cx="1082452" cy="2691956"/>
          </a:xfrm>
        </p:grpSpPr>
        <p:grpSp>
          <p:nvGrpSpPr>
            <p:cNvPr id="68" name="组合 45"/>
            <p:cNvGrpSpPr/>
            <p:nvPr/>
          </p:nvGrpSpPr>
          <p:grpSpPr>
            <a:xfrm>
              <a:off x="555626" y="1647826"/>
              <a:ext cx="335521" cy="2691956"/>
              <a:chOff x="555626" y="1647826"/>
              <a:chExt cx="335521" cy="2691956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555626" y="1647826"/>
                <a:ext cx="282347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572882" y="2848065"/>
                <a:ext cx="234083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560535" y="3992277"/>
                <a:ext cx="330612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m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69" name="组合 35"/>
            <p:cNvGrpSpPr/>
            <p:nvPr/>
          </p:nvGrpSpPr>
          <p:grpSpPr>
            <a:xfrm>
              <a:off x="1194734" y="2223648"/>
              <a:ext cx="443344" cy="1629019"/>
              <a:chOff x="917376" y="2343005"/>
              <a:chExt cx="471191" cy="1731341"/>
            </a:xfrm>
          </p:grpSpPr>
          <p:sp>
            <p:nvSpPr>
              <p:cNvPr id="71" name="TextBox 70"/>
              <p:cNvSpPr txBox="1"/>
              <p:nvPr/>
            </p:nvSpPr>
            <p:spPr>
              <a:xfrm rot="5400000">
                <a:off x="939616" y="3625395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 rot="5400000">
                <a:off x="930090" y="2330291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905575" y="952937"/>
            <a:ext cx="573058" cy="573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2191" t="1153" r="22191" b="24422"/>
          <a:stretch/>
        </p:blipFill>
        <p:spPr>
          <a:xfrm>
            <a:off x="1539686" y="2333461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77" t="2127" b="15373"/>
          <a:stretch/>
        </p:blipFill>
        <p:spPr>
          <a:xfrm flipH="1">
            <a:off x="1539686" y="3517300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1036" t="-1" r="24471" b="-1172"/>
          <a:stretch/>
        </p:blipFill>
        <p:spPr>
          <a:xfrm>
            <a:off x="1539686" y="1227997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27" name="Picture 3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10947" y="2333461"/>
            <a:ext cx="914400" cy="91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5" descr="data:image/jpeg;base64,/9j/4AAQSkZJRgABAQAAAQABAAD/2wCEAAkGBxIQEBUUExQWFBQUGRkXFRYYGBgXFxgYGBgYGBgYFxgcHCkgGholGxUVIjEhJikrLi4uFx80ODQsNygtLysBCgoKDg0OGxAQGzQkICQvLCwvMjQsLCwtLDIsLCwsLCwsLywsLCwsLywsLCwsLywvLCwsLCwsLCwsLCwsLCwsLP/AABEIAN8A4gMBEQACEQEDEQH/xAAcAAABBAMBAAAAAAAAAAAAAAAAAgUGBwEDBAj/xABLEAABAgMFBQQHBQQIAwkAAAABAgMABBEFBhIhMQdBUWFxEyKBoRQjMkJSYpFygpKxwTOi0fAIFSRDU2Ph8RYlshc0NXOTo7PC0v/EABwBAQACAwEBAQAAAAAAAAAAAAABBAMFBgIHCP/EADkRAAIBAgQCBwgCAgEEAwAAAAABAgMEBREhMRJBEyJRYXGB0QYykaGxweHwFEIjUjMVJKLxFkNy/9oADAMBAAIRAxEAPwC8YAIAIAIAIAwTSAI/bd+LOkq9vNNJI9wHGv8AAiqvKAIbP7dLNR+zQ+70SEj94wAwTX9IHP1clUbip6h+gQfzgDjVt8mlexJtfiWr8qRDaW4NjP8ASAeHtySCeTqk/mgxIHWQ2/S5/bSjiPsLSseYTAEms7bHZDxALymif8RtYFftJBA6mkATOzrVYmU4mXm3UnehaVDyMAdkAEAEAEAEAEAYJgCg9r21QvFUnIr9Vo88kkFZrmhs/BxO/pqBZOx6TdasaW7VRUVguJqSaIWcSBnuwkHxgCaQAQAQAQAQAQAQAQAQBy2laTMs2XH3ENNp1UtQSPPU8oAqW9G3VpCi3Isl46dqslKK/IgDErxI03wbyBEXGLwW0cTzjjLJ0CiWW6cmxmrqQesaq6xm1oacXE+xa/gywozkOtlbHGU0Mw+tw/ChIQnoSSSeuUaOv7S1JaUoJeOvp9yxG1XNkqk7h2a0BSVQqm9dVnxxGnlGqqYveT3qNeGn0MqowXIeZWzWGhRtlpscEISkeQinOvVqPOcm/FtmRRS2Rv7NPwj6CPHE+0nIQthB1Qk9UgxKnJbMnIbZy7Mk97cqyonf2aQr8QFfOLNO+uafu1H8WeHTg90MNo7MLOdBwoW0eKFHLwVURepY9eQ3al4r0McraDItN7KJlklcpNZjQHE0rpiSSD5Rt6PtLTelWDXg8/QwytHyYqUv3b1kEJmUKfaG94FYIFdH05k9STG7t763uF/jmn3c/huV5U5R3RYV09s8hN0S/wD2Rz5zVo9HKCn3gItngshl1K0hSVBSTmFAggjiCNYAXABAGCaQBRO1baSubWbPs4kpJwuuoObnFCCNEcVb6cNYbSWbBWl2ruGatNmTqFYnAlZGlEgqcoeSUqz5R5hLijmS1k8j1+02EJCUigSAABoAMgI9kC4AIAIAIAIAIAIAIAq7aBthl5LEzKYZiYFQVastnmQe+eQ+ogCu5S6tq22sPzzykNnNJXrQ5+raFAkczTxjR32O0LfOMOtLu2Xi/Qz06EpavQsi7dzZOQHqmwXN7q+8s9DonoKRyd5idxdPry07Fovz5lyFKMdh/JigZBJMCTBMSDFYEmKwA0XnvEzZ7Hau1NThSlPtKVwH8YuWVlUu6nRw832HipNQWbKybvNbVruESSFNtg09WAAPtuq39CNdI6dYdh9lH/O85d/2SKTrVJ+7odZuFeEDH25Kvh9INfPu+cHfYXtwaf8A5PP+TtOT/iu2bKWBOtqW2TT1gGevsOpyrloax5/6fh19Fu2lk+77p/g9qvUh7xZF2ryS9oslTRzGTjaqYk13EbxzjnLyxrWc8p+TXMuU6kai0Ge8OziSmqqSnsHD7zfsk80afSkXLTG7mhpJ8S7/AFMc7eEu4hqGbZu8orYWXJcZmlVskfO2c0HiRTrHUWWLW91onlLsf27SnUoSh4Fn3I2wSc8UtP8A9lfNAMR9Us8Er3HkqnUxtDCWVWAKN2sbRlzLhs6zyVYiUPOJ946FtB+HWqv9YhvJZsEXZs5uy5ZaslP4fWL3AnRtHKtKnfGsq1XXqKnHYsxjwLiZJ/6Odg4lTE8sVI9S2TxNFuHzQK8zG0SyKxecAEAEAEAEAEAEAIddShJUohKUgkkmgAGpJ3CAPP8AtA2gTNsP+gWcFdiSUqUmoU8NCSfda/PfwjDXr06EHUqPJImMXJ5Iero7Opaz0h6YKXXkipUqgab5pB3j4j5RxV/jVa7fR0lwxfZu/wB7C9ToRhqzXbm1mSZJSylcwoVzT3UV+0cyOYBj1bez1zUWdRqK+L+H5EriK21GIbaDX/uYp/52f/xxe/8AjCy/5f8Ax/Jj/ldxJbB2myM0oIUVMLOQDnsk/bGQ8aRrbrArqiuJLiXdv8DNC4hLuJkFV0jTZGcCYkkTWBJisSCnr3IXatutyYJDaCG8twpjdX1pUfdEdjhyVlhzr83r9kjXV3x1OHsL6s+Rbl2ktNJCEIACUgUFB+vOOVq1JPOcnm92ZEuRsJjUzqSk9We8jnnpNt9tTbqEuIUKKSoAg+BhSqzpTU4PJrmg1nuUHeqyXLu2k28wSWHKqSDvSCO0aUd9Kih5jeI+gWFzHF7OVOr7638eUis86U80XDKzCXEJWk1SsBQPIiojkZwcJOL3Whs081mbY8EkGvbs3l5uq2KMPa5D1avtJGh5j6GN5YY3WodWp1o/NeZWq20ZarRkAavfarDTlmIeKwT2YwnGoZ0KW3AahJ05DhHaU6sZwU1s9ddDXOLTyJJd6wk2c3U0VMuDvK3Nj4U/x3xrrq54urEsU6eWrI1fmbKlNsIqpRIUQKkknJIpvJqcukesPp7zfgRXlyPStzLCTZ8gxLDVtAxnis95Z/ETGzK49wAQAQAQAQAQAQBSm3q9yypFmS9cTmEvkanEe40OtAT1TzjzKSinJ7ILUdrg3RRZsuKgF9wAur5/An5R56x88xTEZXlXT3Fsvv4s2NKmoLvIHtct9yZmkyDJOFBTjofacIqAeSQR414Rv8Aso06X8me727l+THNSrVFShuzRZd2ZeWRiWkOLGZUoVA+ynT9Y2VS4nLnkjrbTB7elkuHil2v02QuamULGHs0U5gGKrqvkb6NhTyykl8ER6fsFtYqgYFcvZ8R/CM9K8nH3tUau/wDZy2rxborgl3bfD0H3ZvfByVfTJzJJaUQhsn+7UcgK/AcumW6sUsXw2Fem7iiustX3/lHF5VLaq6NVZNafvcXGTHHlowTAGKxJJUthPCWvV38gpxaQT/mNnCf3h9Y6+oukwhOPJL5PU1k9KzL+jlWs1kZTTGnayeRkCAKs/pAuI9Cl0mmMvVTxwhCgqnKqkeUdV7JqX8ib5cPzzWX3MFfZDxcmos6Vrr2SPpTLypFbEsnd1Mv9mXaP/Gh7rFEyFa7Sr7lJMnKElxXddWnMiuXZop7x0J3aax0uDYTxZV6y05Lt733FO4r5dWJpurd1Nntdq6AqZWMhrgB3DnxPhG7ubnPRbGCnT7Tofe1Uo8SSfqY1urZY2GfZNJItG3Q44RhaCn0pNO8UFKWwBvIqlX3Y6GlDggolGTzeZ6ajIeQgAgAgAgAgAgAgDzbcb/mNvvzS8whTjqdN5wNg9En6pEaP2grunacK/s8vLdme3jnPPsLljgzYFA2artLZmVL9oLeI6heEfux9GppRs4KPYvoe8HSd7m+xkqtFNWlcs/pFWex3FB5VEMMYTaBAEdvU3QtrGRzFelCP1jY2Ms1KLOL9rKEU6dVb6p/VfcvqwZsvSrDh1W2hR8Ugxwl1TVOtOC5Nr5mmg84pnaTGA9GKxJJXG1W7K3MM4wD2jQAcCfawpzSsUzqn60pwjosDvowzt6uz28915lO6pN9dEjuBtTYmm0NTS0szAonErJDm4EK0CjwO/SKuJ4RcWzcqC4ofOPlzXf8AEwwqJ7liIWFCoIIOhGYjlJJp6mcZbwXsk5BBU+8lJ3IHeWo8AkZ/pFy0w65upZUo59+y+J5lNR3KTtO0HryWkgBBRLt5U1wN1qpSj8aqachwJjuKFClg9o83nN/N8ku5GCKdaeXIuFpASkJTkEgADkMhHISbk82bRLIge0a+/owMtLmr6hRahn2YO4fOfKN9hGFdM+mqrqrZdv4+pUuK/D1Y7jXcu7IlEelTIq8rNCTmUV4/OfKOhuK6yyWxVpw5sc5h8uKKj/sOEayTzebLKWRGb6Wh2TGAe07l90e1+g8Yt2VLinxPZGKtLJZGpFxptiTZnWFKD4HaKQnJaBWqVI3k4aEp1ziIY1Sd1KjLRbJ9/PPz2Z4dvLgUkW3sq2oItEJl5kpRNj2dyXgBqncF8U+I303RXLNgAgAgAgAgAgAgDzZsq/slrzMqvJXrGxzU0s5Dj3Qo9BHPe0dJytlNf1f10LNs+tkXITHEl4o3aHIuWdavpKRVt44xuFSKOI66n7wjusGuI3Fp0TfWjp6MwQqu1uVVW37mPDdqtOtYkqqFDTf0PCPc+rozvrVqulUpvNdo0xXNwECCOWgDOTLTDXeJUEimeaiKnoANeRjY0crejKrPTn8PU+f+0V9G6uI0qTzUefa3v8Mj0DJsBptDadEJCR0ApHA1Juc3N83mVUslkbax4JEkxJJgmAIVeXZxLTSits+juHMlKQUE80VFDzBGu+N3Z43XoLhn1l8/iVqlrGWq0I1/2aTyO6iaTh5KcTl0jY/9dtZayp6+CMH8OfadtmbKRjxTMwV8UoBFeqya+XjGGt7Qvh4aMMu9+n5PcbL/AGZYFl2czLNhtlCUJG4DU8SdSeZjn61epWlx1Hmy5GEYrJEX2hX0EijsmSDMLH/ppPvH5uA8eu0wnC3cy6Sp7i+fd6/Ar3FfgWS3I3cW62H+2TWaj3kJXmc8+0XXVR3fWOor1klwQ0SKMIc2P8/Nl1Vdw0H69Y1c5cTLKWRzR4JK5tm1EuzgWpONptQGGtMSUnMA50xZ503xu6NGUaHDF5Nrfsb9CpOac8+RbNh7S5F8hK8UudBjpg8FDIDrSOSucCuqeset4b/AvQuYS30Gi/8AcfFWdkcnE99SG/eINe0aKdFb6DWlRnrcwnF3BqhcPTZN8u5/uhir2+fWiTbZFtLFoIErNEJm0CiVGg7cDeP8wUzG/UbwOsKJaEAEAEAEAEAEAefts9jO2babVpMZIdUCTweSKKB+VSAP3vHDXoxrU5U57MmMnF5osGw7WbnJdt9s91YBpvSfeSeYNRHza5t529WVKe6+ff5m1hJSWaNV4bEZnmCy8mqTmCPaSrcpJ3H/AGj1a3VS2qKpTev17mJwU1kym7YuNaFnrKmQXmq5FAxGnzN616VjsbfFbS7ilU6su/7M8W9e7spZ0ZafFPxQyKt55JwqbAVwIUD9IuKzpyWalobde1VyllKCz8zukrFtOfNEtKQg+8oFtFOJJzI6VjDUubK11cs38WULnFL+8XDJ5R7FovX5lmXJuM1Z/rFHtJgihV7qa6hA/U59I5rEsWnd9RLKHZzfj6GCjbqnrzJaTGpLAkmBJgmJBisCTFYkGKwAVgSRu+16kWezlRTywQ2n/wCyvlHnGyw3D5XdTX3Vu/sjBXrKmu8glyLuLm3TOTVVJJxJxarVX2j8o/nIR11ScacVSp6JGtim3xSJfak7jOFPsjzP8I1tSeeiLEVkcEYj0NN57R7CXUR7S+6nx1PgKxZtaXSVF2LUx1JcMTVcCym0y6nHWwtTp7uLQIHDqa/QRGJXf+Tgjy+pxuL33+Xo4/1+p0WtdCXeBKE9kvcU+z4p0+lIrUMTrU31nxLv9SnbYxXpPrPiXfv8ThudeV+ypkS0ySWFHeahFcgtBPu8R+sWMQsaV9R6ej7317n3naWF9CpFSi84v5DztFugWlenydUKQe0cCcqEZ9qjhxP14xVwbFXmres+6L+z+3wLlxQ/vEs3ZRf9NqsYHCEzbQ9YnTGNO0SOGlRuPUR1JRJ7ABABABABADXeWwmbQlXJd4VQ4NRqlQzSpPAgwB54s2amLtWg5LTIKmFnUVopNaJebHGmo8NwjU4rhqvKecdJrbv7mZqNXgfcXDKTaHm0uNqC0LFUqGhEcHOnKnJwmsmjZpprNCyY8kiSYnIkSTEkiSYkCSYkkSTAkTWJBisCTFYkGKwA0XnvA3IMFxeatEI3rVw6cTFyys53VTgjtzfYY6tVU45srG7tkPWtNKmZkkthVTwVTRtHBI/nOOzyhbU1Rpfvf4s1WtSXFIn9pzQSOyRkAKGm4fCI19SfJGeK5jTGA9hAEJtBKrRn0soPcTVNRuAzWryp4CNtS/7eg5vf9yNbfXCpQlPs28SwWmwhISkUCQABwAyEcxKTk23uz55KTlJye7FRB5IptDlAphLnvIVhryVXL6iNthFRqq4cmvobzAqrVZ0+TWfwLGuJNF2zZZSsz2YSeeGqRXjkBHPYnTVO7qJdufx1PoVF500QG+ViO2PNon5IlCMdaAZNqOqSP8NQqKc6cI6bBsT/AJEeiqPrL5r1KVxR4HxLYvm5F6WrUlEPt0B9l1FaltwDNJ5bwd4IjelUf4AIAIAIAIAj19roy9qy5aeFFCpadA7zajvHEaVTvpAFCtTM/dqa7CYSXJdRqKVwLG9bSjorin67jGrxHC6d3HPaXJ/ZmalWdPwLVsi1mZtoOsrC0HhqDwUNx5Rw1e3qUJ8FRZP92NnCaks0dZMYj2JJiQJJiSRJMCRJMSSJJiQYrAkTWJBx2tabcqyp100QkeJO4DiTGahQnXqKnBas8zmoR4mVFLtzFuTuNdUtJ13pQjXCnio8fGO2o0adlS6OG7+fezUSlKtLiexZDykSrSWmgE0FEgbhxPOKlSeXiZYoZiYqmQIAary2j6Owog99XdR1O/wEWbWl0lTLkjxUlwxM7LLPQhlcwSnGolAzFUpFCa8Kn8hGTEq3WUOS1OSxev11T5LUka9TGhe5zL3MRBBB7+Wl2ikSzfeViBVTPvHJKOufmI3mF0OBOtPRfubOmwOzks60lvovUt27Vn+iyjLJ1bQAr7WqvMmOSvK3TV51Fzf/AKO6px4YpHbOyiH21NuJCkLFFA8DGGnUlTmpweTR6lFNZMqiwbReuza2FRKpV2mP52iSAsfOg18xvj6FYXsbuiprfmuxmoq03TlkelZd9LiErQoKQsBSVDMEEVBB4Ui6YzZABABABABADZeGwZefYUzMIC0K8Ck7lJOoI4wB5/vLc60LuvGYlVF2WOq6VFK5JfQP+oZZ6gxWurSlcw4Ki9V4HuFSUHmiXXRvxLz4Cf2b9M2ydeaD7w5axxV/hVW1fFvHt9TZUq8Z6cyTGNYWBJMSSJJiSRJMSBJMSSJJgSa3nkoSVKICUgkk6ADMkx6jFyaS3ZDeSzZT14LVdtqbSyzUMpPcByy0Lih+XWO0sLONjS4pe+9/Q1Naq60slsWHZ8k1IS4QgafVSuJjxUnvKW5MVyQ1uuFSiTqYqN5vMyiIgBAELm0KtO0EMN+wk4a8AP2i/LLoI2amrO2dWW/7kivk6tRRR32ndCes5wuSpU63xTQqpwW3v6jyipRxK1vIqFfSX7szFe4XGqspx4l80cn/ABw+juuMpxDX2kHxBjL/ANJpS1hPTyZz88ApZ6Sa/fIUiftOf7rDSkpO9AKRTm4o/kRB0bG01qSzffr8kXLXA6MHmouT79vQmlydnyZRaX31Bb6c0hPsIypX5lZnkPONLiWMyuE6dJZR59r9DpKNqodaW5PQY0JaFCIII/fq7SbQlSkU7VFVNK+bek8lafThGxwy+dpW4v6vR+vkYa1Ljj3nHsEvervWbMEhbeIsV1oCcbR5g5jlXhH0CMlJZo1OxdMSAgAgAgAgAgBLiAoEKAIIoQRUEHUEQBTu0DYylwmYs2jTg7xYrhQSM6tK9xXLTpENJrJgiV3b/vSrno1pIWkpNC4oEOJ5OJpVQ569Y5vEMCUs52+j7OXl2eBdo3eWk/iWVLzKHUBbagtChUKSagjrHLzhKEnGSyaNgmms0KMQehJMSSJJiSRJMAVdtFvKp9z0KXOIVo4U5411yQOQOvPpHU4PYKnH+RV35dy7fPka67r8T6OPmSW6F30SDFVU7RQq4rh8o5CLtWo5viZgjHJZCJ6aLqq7hoP53xSnLiZmSyOePBIQAzXqtPsGCAe+53U8RxPgPzEWrSj0k9dkY6suFDtsrsHsWDMLHfeHdrub3fiOfSkazHLvpKvQx2jv4/gs2dLhjxPmTwGNEXDNBwiCBYiCBQiCBYMQBQiCBYiCCqNpdlOSM41aMtVBKwVEe66MwTyUAa8c+MdfgF90kOgm9Y7eH4NddU8nxLmX1dG327Rk2plvRxPeT8KxkpJ6EGOjKg8QAQAQAQAQAQAQBGL63FlLVbo8jC4B3Hk5LT/+k8jAFFWnZNqXaeqfWyyjkoVLKxXIKGra6H+BUBFG8w+jdRymteT5mWlWlTehOLsXrl59PcOFwDvNK9ocx8Q5jyjjr3Dqtq+tquT5fg2tGvGotNx7JiiZxJiQQ/aHef0Nns2z690ZfInQq67h/pG4wmw/kVOOa6q+b7PUrXVfo45LdjRs4uzgSJp0d9ebYO4H3upjo7irxPhWyNdCOWrJFa85iOAaDXmf4Rr6k89EZ4obYxHoIAwtQAJJoBmTyiUs9ECHWXKqta0BWvYozVybB06qP58o2FzWVjbZ/wBnt4/gw04OtU7i5W0hIAAoAKAcANBHFNtvNm4yNgMeSBQMQBYiCBQgQKEeSBYiCBYiCDjtyy0Tcu4wvRxNK8DqlXgaGM1tcSt6sakeX6zxOKlFpkJ2F28uSnnbNf7vaKUUDcHkDMdFITr8o4x9IpVI1YKcdnqaeSaeTL+jIQEAEAEAEAEAEAEAapqWQ6hSHEhaFCikqFQQdxBgCj7/AOyByXUZuy8XdOIsA95HEsnePlOfCukeZwjOLjJZpkptPNDdc2/geIYmqIerhSqlAsjcr4V+R6xyeJYO6WdSjrHmua9UbO3ulLqz3JbbVpolWFvOHuoFabydyRzJoI1FvQlXqKnHdluc1CLkyrLr2a5as4uZmM20qqrgT7rY+UCn8mO2cY21JUqf73+Zp83Uk5SLItSa7NOFOp05CKNSWSyRlisxhisZAgAgCK30tWgEujNSqY6a0Oiepy/kxsbKj/8AZLZGCtP+qJ3ciwfQpYJI9a53nORpknoB51jm8SvP5NbNe6tF6+Zs7aj0cO/mSIRrjOKEQQLEQQLEQQC3AkEqIAAqScgBxJgk28kQ9CCW9tRYZJTLo7dQyxk4W/Deryje2uAVai4qr4V2bv8ABSqXkVpHUjh2n2gcw2yBybXT6443UfZWm17s3++BWd7PuHWx9rZqBNMADepqop9xRP5xrrn2a4c+ik8+yXr+DLC8/wBkWRY9rMzbYcYWFpPDUHgoHMHrHNXFvUoT4KiyZbjNSWaK22qyK5ScYn2cjVNTwcbzSTTcUin3TxjqPZ664qboPdarwfo/qUbuGT4i/wC7lronZRmYR7LyErp8JI7yTzBqPCOkKg5QAQAQAQAQAQAQAQAQBWe03ZU1aOKYlsLM1SpGiHqfFT2V/N9eIAoqYfnplbcg4pRU04pGE5kKBwnGreE0V0FYqRtaFCcq0Vk3+6eJldSc0oNluWVZ7clLpbT7KBmd6jvUeZMUpzzbkzKlyQzTDxWoqO/y5RTk83mZksjXHkBAHDbNpJlmis66JHFW4Rmo0nVnwo8zlwrMiNycT9ptKV3jiUtVc9ATXwyi9ibVOzklpyMVquKssy6xHEm7FiIIFCPJAsRBAsRBBXe123VIQiVQaF0Y3KfADRKfFQP4Y6L2fs+ObrNZ5aLx/fqUL2pkuBEYsSxEoSFuAFRFaEZD/WPs1hhtK2gm1nPm98n3dmXbzNJKbbFTdsEEhAFBvO/wjf07VZZyMTkM0wkLJJAz4Cn0iLnD7e5hw1Y59/NeD3Cm1sbLBtl6zZgOtGqTktFaJWnelXPgd0fMvaP2eVP/ABz1i/dlzX78/pft67TzRdN55VFp2Wvs88aA60fmT3gOVaFJ6mPmVlUlZXi4+Tyfnp+Ta1EqlPQR/R0t7tJV6UV7TCgtH2HK4h4KH74j6CaouCACACACACACACACACAIvtIvOLMs914EdqRgZG8rVkDTeE1xHpAFE7MWG8Tsy64ntFHCnEoBWZqtRqdSaecUrmTb4UZqa5kztmZBSEpIIOZoa9I1tV8jPFDRGA9hACHnQhJUo0SkVJ4ARKTbyQbyK0vBaxmncWiE1CBwHE8zG+t6CpRy58ylUnxMnuzG76mkqmXAQpYwtg5EJqCVU50FOXWOexq9U2qMHotX49hsrGg4rjZPxHPl8WIggWIggWIggUI8gp7aV/4snFphap0/3rHfeyvDwU8/9/uae+z434DnH1w1JEHkYVEcCRG3i80mYxEegaJ0dwxo/aKnGdjJy5ZNeOZlovrFybIX1KsxIPuOLSnpkr81GPz3j8VG8eXNJ/b7G+tXnTI9cp7+rLzlo5NvrU0NaUe7zQHE4sCfrHW4dX6a1hPuyfitGUaseGbR6Ni6YwgAgAgAgAgAgAgDCjllAHkNiZRak247aM4WSrPGULc3+wkD2UjcIqXdavSinRp8b8UvqeopN6vIe03Is939hajaidApISfoVA+Uap4rdw/5Ldrwef2LEaEJbSOKZuzaMgasntW+LZxDxQc/pWM9PELS50n1X36fM9O3rQ1jqhdl3vBOCYTgVpiFaV+ZOojJVsdOKm8zxGtykSlKgRUHLWu6nGNflyM5C7atFyeeEtLjEkmmXvEbyfhGvhWNnSpwtqbrVdPt+SvJupLgiTa71xpeWwrWO1dFDVXsg/KnrvNTHP3eLVq2cY9WPz82bOjZwhq9WSsRqi0LEQQKEQQLEeSBYiCBYiAV9tbsFTraZpAqWhhcprgrUK8CT+LlHQ4BedHN0W8s9V4lC9pZrjXIilk28hSKOGi0j8XOPtOF30byCjn11uvuv3Q0c48JwTbuNalDQmOmpx4YpGFmmPRBxzKyshCBiJIFBmSTkAOOccR7S4vSnD+PTlmlrJ8tOX3fgWqNN55s9C3Psf0KSaZPtJFV/bUcSvM08I+E4hc/yLiVRbPbwWxvqUOCCRXm1xHo9oSsyKg0Br8zKwcvBSY6X2bq50Zw7H9f/RTu11kz0dLPBaErGikhQ8RWOjKhtgAgAgAgAgAgAgDmtGeRLsrecOFDaStR4BIqYA8wXasZNtWhMPuI7JkqU4pKO6AVk4EA0pxJO+nONTi2IO0prg957fcz29HpHrsPlo7LGM+yfcQfmAWPKh841VL2gq/3gn8vUufwIvZjC9YNp2b6xhwrQnXASRT5mzu+sXo3lle9SpHJvt+zMcqNehrF6fvIdZAy1vtltSUMWglNULGSXKbuY4g1IrUVzitVVfCpqablSe65r9+fM8uUa610kQ512caJkSFBYXgKPeqcsIPwmtf9I3Uf480rlbZZ5/crpz9ws25l1kyLdVUU+v21bkj4E8ue+OWxHEHdTyWkVt6s21tbqktdySUjWFoyBAgUBEAUBEECxEEChEECxEECikEUIqDkQdDEZ5aogre8+zHGouSaggnMtKJA+4rd0P1jprD2glTyVbPNbSW/n6lCtZ56w+BDpi69pNGhl3D9lOMfVNY7K39sqijkq6fjl91mUJWb/wBTqkLiWlMGhb7NPFwhI+gz8oo3/td0kcqlZy7l+Mke4WcuSyLKuds/YkSHFntnxosiiUfYTx5nPpHE4hjFW5XBHqx7Ob8fQv0reMNXqyZiNKWCuduEuDKsLpml0pB4BaCT5oTHR+zc2q049qz+D/JTu11UyaXWvW2JGVClEqDDIVnvDaa+cdiUCyoAIAIAIAIAIAIApr+kLegoabkGld90hx4DXAD3EH7Ss/uDjAG651iCQkkNEesV33ftqAqPAADwj59iF3/KuHPktF4fnc3FvT4I5HY+qpivFFyKN8s3HmTPMmVjtPsJuRebm5dwMuLVXsxkrEMy4img0ruqY6fBbudzCVCrHiSW/d2P7GpuYKMuKIxWGZm1bQbccWFLbwKcWcKTgbUKZCmI6CvSL110FjayhBZJ5pLXdmOhCVSou7UuWkcYbwKQAAQAoCIIFARBAoCAFCIIFiIIFiIIFCPJAsQIFiPJAoRBAsRBBCNsaR/VvRxFPON37Pv/ALvyZWuvcKqlp14ISAo0CQB0pHcmuPYcAEAEAEAEAEActq2g3LMOPunC20hS1HkkVy4ngN8AecbotLti13p54dxKu0ocxiyS0j7qUj8I4xpMcvOhodHF9aWnlz9CzbU+KefYWfMuRxsUbiKORsVMZXojI9DdP2g3KMLedNEIFTxJ3JHEk5RFKjOvUVOG7K1Wais2Vzcyw3ryWkqYmKplmiCsbsINUsIPE7zwJO8R39naQtaSpw832vtNNUm5yzZjaDYxsG2EvsppLu99CRkAnIOteGo6jhE3durik6b5/XkTSqOnNSRYUu6lxCVpNUqAKTxBzEcBOLhJxlujfJprNGykeSQpAGQIggUBACgIggUBEECgIggWIgChEECxEEChEECxEECxEEEC20PYbPSn43Uj6JUr9I3vs7HO6b7Iv7FW6fUI3ZFxn3ZdpwDJbaFDLcpII/OO3Neel4AIAIAIAIA0zs0hltbizRDaSpR4BIqT9BAHmi3r2WnbzrzbK8MtqGMSGxgxd3ETQrVkCc4rXF1Tt0nU59zf0PUYuWxx2c5bFkoKUsnsiSogtpcST8RUjvaDjSNXWjh1/LNz63jk/g9PkWIOtSWi0HOR2opVQPslPzNmvjhNPzirV9n5LWlL4lmnfr+yJ1YNrS802VtOBSU+1uKd/eBzEaO5tqtCXDUjk3t3+BbVaM1nFlfWzNvXgtBuTlf2KSaH3aD23l8gMh1HGOswnDv41Pin7737u71NTcVuklktj0RdmwWbPlW5dkUQgZnepXvLVzJjblcZNql1RadnrQkVea9ayd+JINU9FCopxpwgCo9k9udo0qWWe813m670HUeB/wCoRymO2nBNVo7PR+P5NpZVc1wPkT+kc+XjNIAzSIIMgQAoCIIFARBAoCAFAR5IFgQIFCIIFiIAoRBAsRBBVG22bK3JWWTme8sjmohCPyV9Y6v2ao6VKr7l939ijdy2RetiWOGJVhr/AAmm0fgQE/pHUlMd4AIAIAIAIA4rZUwJd30gpDGBQdKzROAihqehgDy5eS5LiWnZ2UadNnAjs3HsKVqSTTEEZKKKkUUQK1gCKSk86z+zcW3X4VKT+RjHUo06nvxT8VmeoylHZkism8zTigi0GkvtnIu0o8jniFCoeca6vYTguK1lwvs/q/LkZ411LSos/qKvfYX9XqS7LOlcrNIIbWDqnLE2sjXd/IhYXf8AKThWjlOD1X0aPFSPA+q9GXzscumzISCHUqDjsylLi3BphIqlCcq4QD4kk8ANqYSfQAQB5x2p2Oqx7YROMp9S+S4OGM1DzfiDX7/IxguqCr0pU3z/AFHunNwkpIn0lMoebQ4g1Q4kKSeRFY+e1ISpzcJbrQ3sZKSzRvpHgkKRAFAQIMgRAFAQIMqUBqQOuURk3sQ2ZbUDoQehrBprcjM2AR5AoCIIFgRBAoRBAqtMzkIjcgqO7TCrcvGHP7hhYcr/AJbKu4Dl76gKjgo8I+j4ba/xraMOe78X+5Gqqz45NnpGLxjCACACACACAKxdaVb1qONrP/LbPWErbGkxMDOi+KUndy55AQLbbfwzDqpCXOGXYVhcIyDi05YcvcSRSm8jkIAqeACALBsPZna04wxhoJV6jqcTncRiyxlv4inPIZikeOjhxceWu2fMnPkelbFs5MrLNMI9llCUJ6JAFfKPZB2wAQBF9pF1halnuM5dqnvsqO5xOg5BQqk/agCmNlVtKSVyT1QtBJbB1FDRaOoOf1jl8es8mriPg/szY2dX+j8iyKRzRfM0iAZpAgUBEArG920F0vKl5EZg4S6BiKlaENilKV351jqsLwFVEp1Vm3tH1KNSvOc+jpLNjEi6loTPfeeIJz761KV48I7OhgnCtEo+XoWIYTXnrOWXzNL12ZyWNW3yCNMC1IPhGWpgLnH+svFepleCXCWdOSfxQ83e2jTMq4Gp5JWjIFZFHEjjwWPPmY4/EvZxJvo1wS7OT9PoUXUq0JcFZfv3Lck5lDqEuNqCkLFUqGhEcZUhKnJxksmi0mms0bwIxkiwIEFfbWb2CXZMq0r1zo75BzQ2dehVp0ryjf4Fh3S1Onmuqtu9/j6lS5q5LhW5NNjFzP6tku0cFJiZCVrB1QkAlDdNxGIk8zyjtSgWFABABABABABAFeXFmEythvzfvOKmppZ4nGvCfwoR9IA8xOuFSio5lRJJ5nMwAiAJTs/uW/a0yEIBDKCC86fZSneAd6yMgP0gD1pKSyGm0NoAShtKUISNAlIAAHIACAN0AEAEAEAefttl212fPN2lLJohxYU4Rol4GtVclivUhVdc8dWlGrBwls9D1GTi80Sy79rInZdDyNFDMb0qGSknof0j57d20req6cuXzRuqdRTjxIcqRWPZmkCBjvvaJlZB9xPtYQlPVZCK+GKvhF3DaCrXUIPbf4amKvPhptkB2c2SEtF9QqtZonkka+JP5CPr2F0koOp26FnB6KUHV5vTyH+0phWLCDQDz3xvqUFlmdLQprh4mcEZywcVrWaiYbKVDP3Vbwf4RVu7WFxDhlvyfYU72yhdU3GW/J9h07HbZWh5yScOVFLbHBST30jkRn4HjHyP2ksuFdNlqnwv7ehxdByhN0pci2gI5AtkVv8AXxRZzWFNFTDg9WnUJ+dfLgN/1jaYXhkryeb0gt329y/dDBWrKC7xq2Q7PVzTgtKfBVVWNlC9Vq1Dqx8IPsjlXSle9hCMIqMVkka1tt5svWPZAQAQAQAQAQAQBUlnTARdGYAI9WiZa/8AeWhP1Ck/WAPPCQSaDMnSALouHsRU4EvWiooScxLoPePDtFj2egz5iALvsuzWZVpLTDaWm06JSKDrzPOAOuACACACACAG+37HanZZyXeFUOpKTxB3KTwUDQjpAHnK70y5YVpuyc0aNKVQq0Tn+zdHykUrwryjT4xYfyaXFBdaPzXYWbatwSyezLcAjhzamaQIIztKlFO2Y+EipThX4JUCr92v0jZ4PUULyDfPNfFGC5WdNkYuBNpck0pGrZKVDrmI+u4ZNSo8PYzYYRUUqHDzT+p32qiigeI/KN3QemR0Nu+rkcMZiwEAM+z4drbmJGg7VRPLCU/SpA8Y+X+1VWLpVWucll8Tg601UvZyjtmyxL930bs5spTRcyodxvcn5100HLfTxHHYZhc7yeb0gt39l+6CtWUF3ke2Y7O3bUe/rC0alpSsaEK1fO4kbmhQADfThr3lKlClBQgskjWttvNnoBKQAABQDIAaCMhBmACACACACACANM3MJabW4r2UJUpXRIJPkIA86m0yzdEtrPenJlWDiUoWlalfiaI8YA6dhtwjMvCemE+oaNWUn+8cByVT4UkeJpwMAeh4AIAIAIAIAIAIAIAr/a7cIWpL9o0AJtkerOnaJ1LZ/MHj1MAVxs1vecpKaJS4g4W1KyOWXZrrooUoPpHJ41hfC3XpLTmvv6mwtq+fUkWVSOaLhhxsKBSRUEEEcQdRBNp5oFJ25ZkxYc2VtjFLuHunPCU64Fncobjv14iPouCYwqqUl7y95dvf+7FKE52lXjjt9e4cGbzMzNCVhB+FWVPHQx3lrfW846SyfedXZ4la1I6SyfY9PwbnZ9pIqXEAfaEWpXNGKzc18UXZ3dCCzlNfFEete8uIdnLgqUru4qccqIGpMaW+xiPC40vN+nqaG/xyLi6dvz0z9PU6LGtlNjsuYQFTz3dOhSwgblcVk54dBQV4RwtxbPEKkeLSlH4yfp3/AAOejPol3/Qm+zbZW5NrE9amIhZC0Mrric3hTvBOnd376DI7eEI04qMVkkYG23my9UJAAAFAMgBkAOAj2QZgAgAgAgAgAgAgCDbX7dRLWctouBtczVoE1JCD+0UADUkJyAG9Q0FSAK0upcp+3HWXHkLl7Ml0BDCSaKWgHRPNRzUvnQV3AX9JyqGW0ttpCEIAShIFAEgUAEAboAIAIAIAIAIAIAIAIAqrazsv9OrNyYwzQzWjIB6m8Hc5z308YAhF09oSmFejWiFIUg4e0KTiTTKjqdfvfXjHL4lgWbdS3816ehdo3XKZZ0s+hxIWhSVpOikkEHxEctOEoPhksmXU09UZmZVDqChxIWhQopKhUEcxCFSUJKUXk0Gk1kyDWpsnlHVFTS3Ga+6KLR4A5j6mN5Q9obiCymlLv2fp8irK1g9tCNWrcKQkRWaninghCAXFdE1J8aUjZUMXurnSjR829DFKhCHvSGWQ7SYd9HsmWXU5Fw0U+oHKqnMktJ6U5mNpTtZz61xLifYtIry5+Zgc0tIr1Ll2cbI2ZDC/NYXpnUJ1aaPyj3lfMfCL5jLQgAgAgAgAgAgAgAgAgCLzlxZWZmvSZsKmljJtDtCy2n4UtgUIrn3qkwBJ0pAFAKAaAQBmACACACACACACACACACACAInfTZ9JWqkl1GB6lEvIoFjhi+Mcj5QBUk/srtizVYpJ/tU/IvsSftNrVhP1MYK1tRrLKpFPyPUZyjsxhfvtbEuShxScScjVLZNfumka6WBWb/rl5syq5qdp3yUteK0wAhag2o6pcaaA64TjpyzjPSwmzpvNQXnr9TzKvUfMlN3dhJKw5PzGPi23WpPzOqzp0HjGwSSWSMRbdhWDLSLfZyzSGk78IzUeKlaqPMxIHKACACACACACA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10947" y="3517300"/>
            <a:ext cx="914400" cy="91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35826" y="1228612"/>
            <a:ext cx="914400" cy="91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3697442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 txBox="1">
            <a:spLocks/>
          </p:cNvSpPr>
          <p:nvPr/>
        </p:nvSpPr>
        <p:spPr>
          <a:xfrm>
            <a:off x="636270" y="0"/>
            <a:ext cx="7810500" cy="8229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r>
              <a:rPr lang="en-US" sz="2400" i="1" dirty="0" smtClean="0">
                <a:latin typeface="Times New Roman"/>
                <a:cs typeface="Times New Roman"/>
              </a:rPr>
              <a:t>Example </a:t>
            </a:r>
            <a:r>
              <a:rPr lang="en-US" sz="2400" i="1" dirty="0">
                <a:latin typeface="Times New Roman"/>
                <a:cs typeface="Times New Roman"/>
              </a:rPr>
              <a:t>2</a:t>
            </a:r>
            <a:r>
              <a:rPr lang="en-US" sz="2400" i="1" dirty="0" smtClean="0">
                <a:latin typeface="Times New Roman"/>
                <a:cs typeface="Times New Roman"/>
              </a:rPr>
              <a:t>:</a:t>
            </a:r>
            <a:r>
              <a:rPr lang="en-US" sz="2800" dirty="0" smtClean="0">
                <a:latin typeface="Times New Roman"/>
                <a:cs typeface="Times New Roman"/>
              </a:rPr>
              <a:t> scheduling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jobs</a:t>
            </a:r>
            <a:endParaRPr lang="en-US" sz="28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grpSp>
        <p:nvGrpSpPr>
          <p:cNvPr id="42" name="组合 42"/>
          <p:cNvGrpSpPr/>
          <p:nvPr/>
        </p:nvGrpSpPr>
        <p:grpSpPr>
          <a:xfrm>
            <a:off x="1256870" y="1544673"/>
            <a:ext cx="1001669" cy="2483238"/>
            <a:chOff x="555626" y="1647826"/>
            <a:chExt cx="1082451" cy="2691956"/>
          </a:xfrm>
        </p:grpSpPr>
        <p:grpSp>
          <p:nvGrpSpPr>
            <p:cNvPr id="43" name="组合 45"/>
            <p:cNvGrpSpPr/>
            <p:nvPr/>
          </p:nvGrpSpPr>
          <p:grpSpPr>
            <a:xfrm>
              <a:off x="555626" y="1647826"/>
              <a:ext cx="335521" cy="2691956"/>
              <a:chOff x="555626" y="1647826"/>
              <a:chExt cx="335521" cy="2691956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555626" y="1647826"/>
                <a:ext cx="282347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72882" y="2848065"/>
                <a:ext cx="234083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560535" y="3992277"/>
                <a:ext cx="330612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m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4" name="组合 35"/>
            <p:cNvGrpSpPr/>
            <p:nvPr/>
          </p:nvGrpSpPr>
          <p:grpSpPr>
            <a:xfrm>
              <a:off x="1194734" y="2210605"/>
              <a:ext cx="443343" cy="1629019"/>
              <a:chOff x="917376" y="2329142"/>
              <a:chExt cx="471190" cy="1731341"/>
            </a:xfrm>
          </p:grpSpPr>
          <p:sp>
            <p:nvSpPr>
              <p:cNvPr id="46" name="TextBox 45"/>
              <p:cNvSpPr txBox="1"/>
              <p:nvPr/>
            </p:nvSpPr>
            <p:spPr>
              <a:xfrm rot="5400000">
                <a:off x="939615" y="3611532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 rot="5400000">
                <a:off x="930090" y="2316428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</p:grpSp>
      </p:grpSp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3692697" y="1424046"/>
            <a:ext cx="1555405" cy="152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644706" y="857989"/>
            <a:ext cx="1081179" cy="935635"/>
          </a:xfrm>
          <a:prstGeom prst="rect">
            <a:avLst/>
          </a:prstGeom>
        </p:spPr>
      </p:pic>
      <p:pic>
        <p:nvPicPr>
          <p:cNvPr id="1026" name="Picture 2" descr="C:\Program Files (x86)\Microsoft Office\MEDIA\CAGCAT10\j0234131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35225" y="938807"/>
            <a:ext cx="500140" cy="53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63" name="TextBox 62"/>
              <p:cNvSpPr txBox="1"/>
              <p:nvPr/>
            </p:nvSpPr>
            <p:spPr>
              <a:xfrm>
                <a:off x="601000" y="4677156"/>
                <a:ext cx="8082280" cy="161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Each job should be assigned to exactly one machine.</a:t>
                </a:r>
              </a:p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Each machine may process multiple jobs.</a:t>
                </a:r>
              </a:p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Want to minimize </a:t>
                </a:r>
                <a:r>
                  <a:rPr lang="en-US" sz="2000" b="1" dirty="0" err="1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makespan</a:t>
                </a: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  <a:cs typeface="Times New Roman"/>
                      </a:rPr>
                      <m:t>=</m:t>
                    </m:r>
                    <m:func>
                      <m:funcPr>
                        <m:ctrlPr>
                          <a:rPr lang="en-US" sz="2000" b="1" i="1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>
                                <a:latin typeface="Cambria Math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a:rPr lang="en-US" sz="2000" b="1" i="1" smtClean="0">
                                <a:latin typeface="Cambria Math"/>
                                <a:cs typeface="Times New Roman"/>
                              </a:rPr>
                              <m:t>𝒎𝒂𝒙</m:t>
                            </m:r>
                          </m:e>
                          <m:lim>
                            <m:r>
                              <a:rPr lang="en-US" sz="2000" b="1" i="1">
                                <a:latin typeface="Cambria Math"/>
                                <a:cs typeface="Times New Roman"/>
                              </a:rPr>
                              <m:t>𝒊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  <m:t>𝒊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/>
                                    <a:cs typeface="Times New Roman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0" y="4677156"/>
                <a:ext cx="8082280" cy="1619289"/>
              </a:xfrm>
              <a:prstGeom prst="rect">
                <a:avLst/>
              </a:prstGeom>
              <a:blipFill rotWithShape="1">
                <a:blip r:embed="rId6"/>
                <a:stretch>
                  <a:fillRect l="-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C:\Users\Weink\AppData\Local\Microsoft\Windows\Temporary Internet Files\Content.IE5\C7O6WT7P\MM900283895[1]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49071" y="2270918"/>
            <a:ext cx="1000125" cy="1000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028" name="Picture 4" descr="C:\Users\Weink\AppData\Local\Microsoft\Windows\Temporary Internet Files\Content.IE5\IF25NAKT\MC900390956[1].wm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49071" y="3414520"/>
            <a:ext cx="960225" cy="9966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0" name="TextBox 39"/>
          <p:cNvSpPr txBox="1"/>
          <p:nvPr/>
        </p:nvSpPr>
        <p:spPr>
          <a:xfrm>
            <a:off x="7162633" y="148786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latin typeface="Times New Roman"/>
                <a:cs typeface="Times New Roman"/>
              </a:rPr>
              <a:t>1</a:t>
            </a:r>
            <a:endParaRPr lang="en-US" sz="1600" i="1" dirty="0">
              <a:latin typeface="Times New Roman"/>
              <a:cs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74219" y="259135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>
                <a:latin typeface="Times New Roman"/>
                <a:cs typeface="Times New Roman"/>
              </a:rPr>
              <a:t>j</a:t>
            </a:r>
            <a:endParaRPr lang="en-US" sz="1800" i="1" dirty="0">
              <a:latin typeface="Times New Roman"/>
              <a:cs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155664" y="37729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>
                <a:latin typeface="Times New Roman"/>
                <a:cs typeface="Times New Roman"/>
              </a:rPr>
              <a:t>n</a:t>
            </a:r>
            <a:endParaRPr lang="en-US" sz="1800" i="1" dirty="0">
              <a:latin typeface="Times New Roman"/>
              <a:cs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 rot="5400000">
            <a:off x="6297756" y="3149480"/>
            <a:ext cx="378631" cy="401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 rot="5400000">
            <a:off x="6289462" y="2025396"/>
            <a:ext cx="378631" cy="401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t="9341" b="7867"/>
          <a:stretch/>
        </p:blipFill>
        <p:spPr>
          <a:xfrm>
            <a:off x="1518145" y="1152206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4737" r="19683" b="17228"/>
          <a:stretch/>
        </p:blipFill>
        <p:spPr>
          <a:xfrm>
            <a:off x="1518145" y="2318817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r="6432"/>
          <a:stretch/>
        </p:blipFill>
        <p:spPr>
          <a:xfrm>
            <a:off x="1518145" y="3455668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Picture 5" descr="C:\Users\Weink\AppData\Local\Microsoft\Windows\Temporary Internet Files\Content.IE5\C7O6WT7P\MC900229899[1].wmf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47915" y="1111058"/>
            <a:ext cx="1058750" cy="9966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6994034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uild="p"/>
      <p:bldP spid="40" grpId="0"/>
      <p:bldP spid="41" grpId="0"/>
      <p:bldP spid="56" grpId="0"/>
      <p:bldP spid="69" grpId="0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 txBox="1">
            <a:spLocks/>
          </p:cNvSpPr>
          <p:nvPr/>
        </p:nvSpPr>
        <p:spPr>
          <a:xfrm>
            <a:off x="636270" y="0"/>
            <a:ext cx="7810500" cy="8229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r>
              <a:rPr lang="en-US" sz="2400" i="1" dirty="0" smtClean="0">
                <a:latin typeface="Times New Roman"/>
                <a:cs typeface="Times New Roman"/>
              </a:rPr>
              <a:t>Example </a:t>
            </a:r>
            <a:r>
              <a:rPr lang="en-US" sz="2400" i="1" dirty="0">
                <a:latin typeface="Times New Roman"/>
                <a:cs typeface="Times New Roman"/>
              </a:rPr>
              <a:t>3</a:t>
            </a:r>
            <a:r>
              <a:rPr lang="en-US" sz="2400" i="1" dirty="0" smtClean="0">
                <a:latin typeface="Times New Roman"/>
                <a:cs typeface="Times New Roman"/>
              </a:rPr>
              <a:t>:</a:t>
            </a:r>
            <a:r>
              <a:rPr lang="en-US" sz="2800" dirty="0" smtClean="0">
                <a:latin typeface="Times New Roman"/>
                <a:cs typeface="Times New Roman"/>
              </a:rPr>
              <a:t> dividing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resources</a:t>
            </a:r>
            <a:endParaRPr lang="en-US" sz="28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grpSp>
        <p:nvGrpSpPr>
          <p:cNvPr id="42" name="组合 42"/>
          <p:cNvGrpSpPr/>
          <p:nvPr/>
        </p:nvGrpSpPr>
        <p:grpSpPr>
          <a:xfrm>
            <a:off x="1256870" y="1544673"/>
            <a:ext cx="1001669" cy="2483238"/>
            <a:chOff x="555626" y="1647826"/>
            <a:chExt cx="1082451" cy="2691956"/>
          </a:xfrm>
        </p:grpSpPr>
        <p:grpSp>
          <p:nvGrpSpPr>
            <p:cNvPr id="43" name="组合 45"/>
            <p:cNvGrpSpPr/>
            <p:nvPr/>
          </p:nvGrpSpPr>
          <p:grpSpPr>
            <a:xfrm>
              <a:off x="555626" y="1647826"/>
              <a:ext cx="335521" cy="2691956"/>
              <a:chOff x="555626" y="1647826"/>
              <a:chExt cx="335521" cy="2691956"/>
            </a:xfrm>
          </p:grpSpPr>
          <p:sp>
            <p:nvSpPr>
              <p:cNvPr id="59" name="TextBox 58"/>
              <p:cNvSpPr txBox="1"/>
              <p:nvPr/>
            </p:nvSpPr>
            <p:spPr>
              <a:xfrm>
                <a:off x="555626" y="1647826"/>
                <a:ext cx="282347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72882" y="2848065"/>
                <a:ext cx="234083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560535" y="3992277"/>
                <a:ext cx="330612" cy="347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i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m</a:t>
                </a:r>
                <a:endParaRPr lang="en-US" sz="18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4" name="组合 35"/>
            <p:cNvGrpSpPr/>
            <p:nvPr/>
          </p:nvGrpSpPr>
          <p:grpSpPr>
            <a:xfrm>
              <a:off x="1194734" y="2210605"/>
              <a:ext cx="443343" cy="1629019"/>
              <a:chOff x="917376" y="2329142"/>
              <a:chExt cx="471190" cy="1731341"/>
            </a:xfrm>
          </p:grpSpPr>
          <p:sp>
            <p:nvSpPr>
              <p:cNvPr id="46" name="TextBox 45"/>
              <p:cNvSpPr txBox="1"/>
              <p:nvPr/>
            </p:nvSpPr>
            <p:spPr>
              <a:xfrm rot="5400000">
                <a:off x="939615" y="3611532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 rot="5400000">
                <a:off x="930090" y="2316428"/>
                <a:ext cx="4362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</p:grpSp>
      </p:grpSp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3692697" y="1424046"/>
            <a:ext cx="1555405" cy="152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644706" y="857989"/>
            <a:ext cx="1081179" cy="935635"/>
          </a:xfrm>
          <a:prstGeom prst="rect">
            <a:avLst/>
          </a:prstGeom>
        </p:spPr>
      </p:pic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63" name="TextBox 62"/>
              <p:cNvSpPr txBox="1"/>
              <p:nvPr/>
            </p:nvSpPr>
            <p:spPr>
              <a:xfrm>
                <a:off x="601000" y="4677156"/>
                <a:ext cx="8082280" cy="161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Each resource rights should be awarded to exactly one company.</a:t>
                </a:r>
              </a:p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Each company may receive multiple resources.</a:t>
                </a:r>
              </a:p>
              <a:p>
                <a:pPr marL="342900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Want to maximize </a:t>
                </a: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fairness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  <a:cs typeface="Times New Roman"/>
                      </a:rPr>
                      <m:t>=</m:t>
                    </m:r>
                    <m:func>
                      <m:funcPr>
                        <m:ctrlPr>
                          <a:rPr lang="en-US" sz="2000" b="1" i="1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1" i="1">
                                <a:latin typeface="Cambria Math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a:rPr lang="en-US" sz="2000" b="1" i="1" smtClean="0">
                                <a:latin typeface="Cambria Math"/>
                                <a:cs typeface="Times New Roman"/>
                              </a:rPr>
                              <m:t>𝒎𝒊𝒏</m:t>
                            </m:r>
                          </m:e>
                          <m:lim>
                            <m:r>
                              <a:rPr lang="en-US" sz="2000" b="1" i="1">
                                <a:latin typeface="Cambria Math"/>
                                <a:cs typeface="Times New Roman"/>
                              </a:rPr>
                              <m:t>𝒊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  <m:t>𝒊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1" i="1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/>
                                    <a:cs typeface="Times New Roman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0" y="4677156"/>
                <a:ext cx="8082280" cy="1619289"/>
              </a:xfrm>
              <a:prstGeom prst="rect">
                <a:avLst/>
              </a:prstGeom>
              <a:blipFill rotWithShape="1">
                <a:blip r:embed="rId5"/>
                <a:stretch>
                  <a:fillRect l="-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7162633" y="148786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latin typeface="Times New Roman"/>
                <a:cs typeface="Times New Roman"/>
              </a:rPr>
              <a:t>1</a:t>
            </a:r>
            <a:endParaRPr lang="en-US" sz="1600" i="1" dirty="0">
              <a:latin typeface="Times New Roman"/>
              <a:cs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74219" y="259135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>
                <a:latin typeface="Times New Roman"/>
                <a:cs typeface="Times New Roman"/>
              </a:rPr>
              <a:t>j</a:t>
            </a:r>
            <a:endParaRPr lang="en-US" sz="1800" i="1" dirty="0">
              <a:latin typeface="Times New Roman"/>
              <a:cs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155664" y="37729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>
                <a:latin typeface="Times New Roman"/>
                <a:cs typeface="Times New Roman"/>
              </a:rPr>
              <a:t>n</a:t>
            </a:r>
            <a:endParaRPr lang="en-US" sz="1800" i="1" dirty="0">
              <a:latin typeface="Times New Roman"/>
              <a:cs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 rot="5400000">
            <a:off x="6297756" y="3149480"/>
            <a:ext cx="378631" cy="401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 rot="5400000">
            <a:off x="6289462" y="2025396"/>
            <a:ext cx="378631" cy="401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3257" t="17775" r="27092" b="42405"/>
          <a:stretch/>
        </p:blipFill>
        <p:spPr>
          <a:xfrm flipH="1">
            <a:off x="1552332" y="3491695"/>
            <a:ext cx="914296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31481" t="1548" r="31481" b="70264"/>
          <a:stretch/>
        </p:blipFill>
        <p:spPr>
          <a:xfrm>
            <a:off x="1552228" y="1122662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8209" t="3502" r="23911" b="30041"/>
          <a:stretch/>
        </p:blipFill>
        <p:spPr>
          <a:xfrm>
            <a:off x="1552228" y="2318817"/>
            <a:ext cx="914400" cy="9144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867160" y="914438"/>
            <a:ext cx="634767" cy="556177"/>
          </a:xfrm>
          <a:prstGeom prst="rect">
            <a:avLst/>
          </a:prstGeom>
        </p:spPr>
      </p:pic>
      <p:sp>
        <p:nvSpPr>
          <p:cNvPr id="7" name="AutoShape 4" descr="data:image/jpeg;base64,/9j/4AAQSkZJRgABAQAAAQABAAD/2wCEAAkGBhQSEBQUEhIVFRUTFBgXGBgXFRcYFxYWFxgWFxgWGBgYGyYfGBkjGRYYIC8gIycpLC0sFh4xNTAqNSYrLSkBCQoKDgwOGg8PGiokHyUtKis1LTEsNTQpLy8pLC0pLCw0NSwpKSwsNS8rLDUqNTUqLS0sLCkqMCwsKSk0LCksLP/AABEIAQAAxQMBIgACEQEDEQH/xAAcAAEAAgMBAQEAAAAAAAAAAAAABgcDBAUBAgj/xABLEAACAQIDBAYGBwQHBgcBAAABAgMAEQQSIQUxQVEGBxMiMmFCUnGBkaEUIzNicoKxQ5Ky8BVTY5OiwdEkc3SDwtIlNDWjw9PhFv/EABoBAQEAAwEBAAAAAAAAAAAAAAABAgQFAwb/xAAuEQEAAgECBAMHBAMAAAAAAAAAAQIRAwQFITFBEmFxE1GBobHR8CKRweEjQmL/2gAMAwEAAhEDEQA/ALxpSlApSlApSlApSlApSlApSlApSlApSlApSlApSlApSlApSlApSlApSlApSlApSlApSlApSlApSlApSlAqF9Z21WjgjiRmUyuSxVipyILkXBvqzJu4XHGppVRdOto9tjnAIKw2jFuY1f35yV/IK1d3qez0pmPR0+FbeNfc1iekc5+H9uRs7pFisO62xMxBbumSR5BmPoOHY3B4HTlcGxNudGukaYuLMBlkXR05Hmp9JDwPtBsQQKh+jhlKsLgixFZdjbTlw06lT9ZGLgk2E0VwGVrcdwPI5G8q5e33s1t+qcx+c/u7fEOHUvH+OIie2O/lP8T8F40rV2XtJMRCksZ7ri/mDuKnkwIII5g1tV3nyMxjlJSlKBSlKBSlKBSlKBSlKBSlKBSlKBSlKBSlKBSlKDFisQI0Z23IpY+xRc7/ACFURHIWOZvExLH8TG7fMmp91l9OIooJcLH355UaMgE2jzqfER6Vj4eANzbS9Z7Oa7M+Ztd6n0Tvtvt7COHOuZxCJmse59JwG0Re0d5x+3PM+fPDuRCvjHYYst18anMh4ZhwPkQSp8jX1A1bFfPTM1nL6HUjPKXb6uukOSURH7PE3Zb70mA1U/iVSDyZObVYq4m8rJbworXv6xcWt+T51R4jyysoJAf6xCN6uCM1uRDZXHmW5VavRzbQndWPjfCxs1vCGSSVJANeD3Hur6PYa3jp4Pd9P66PkeKbfwXjUjv19Y+/VIqUpXRcgpSlApSlApSlApSlApSlApSlApSlApSvCbb6D2q46f8AWP2ebDYQ3kOjyg6JzVD6w4t6O4Xbw6XT7rFZ2bDYMjLbLJKDqb7whB0W1xmGrX0sBmMHwez+X8/6DyosQwYbB633k7z/ADw/nU10V2WbZksGA46KQNcrHgPPhv5g70WFVFzObAW18zoAOJJOgA1NbsWCzANKMqAjLHvJN7LnAvmYm1oxfW3iNrYWrFoxL0pqW07Rak4mHF2djGdrjwa77XBsth7fEeRBQgm9dhGqQSdX0s0TYj7OfJ9XESBnUa5Zm1s51y5fBc3LXIEZhc3IIKsrFWUizKw3qw4Ef6EXBBr53fbadKcx0fX7HeV3NJiZ/V3j7eX0fO0hZVf1JEPuJyN/hc/CpV1cuRjp1L6fR4yqm2l5HDleNrhSfM+dRXasefDzLzicf4TW90K2iybTw5J+2gMTjXebsDp9+O3sY1eHTjUifWPt82rxSM6Vo9J+ufkuOlKV9I+VKUpQKUpQKUpQKUpQKUpQKUpQKUrBjsckMbSSsERBdmO4D/M30AGpJAFBknnVFLOwVVBLMSAABqSSdwA41T/TXrBfGFoMNdYL2Zjo0g8xwQi3cOp9Kw7p1OmHTSTaD5I7ph1Oi8XI9J7aXB3DULv1bw8/AbO8qixDDgdm+Xn7TzNdcRLGBcEk6Ko8THkB+pNgBqSBWQd0hEXNIRcLewA3ZnPor8zawBrobM2UxkyoO1ncC5PdCJfed/ZxA7gLliD4jc0VgwuAOdC4zysSI401CniEBtc28UjWAF/CKnvR/omIiss9nmHhA1SG4IOS4BLWNi5F94AUEitzYPRxMMC188rAB5CLXtrlVbnIgJ0Ue0ljqevVQqK9MeiAnBnhAE6rqNAJlG5G4Bh6LHduOh0lVKwvSt6zW3Rnp6ltO0XpOJhRmLlvBLob5HGUghgwBBVgdVYNoQdxr56K4sDaOH9LK5VrWOUnEdmM2vrSIOJ726rY2z0Lw2KkEkyEnTMFdlEgHhEgUjNaw+Ft2lV7tBUi2thYYgERWSMIqqFCHHySWGuljEu4br+7Q0NhGlbOe/J0tzxL29cRXE4xK36V4K9rpOSUpSgUpSgUpSgUpSgUpSgUpXK6RdI4sHCZJTzCoLZnbkoPzO4DU0GxtjbEWFiaWZsqr7yx4Ko4seVUp0l6VS7RlBN0hU9xAdPxEjxN97cNy8WODbm25toTCWbRRoiC+VVO8C+uttSdW8gAKzYXB1GUQ+cFgbW0rJjtqZAyQlDItgSxOSMkEjNlUktZWNrWAUliANfrtS+iGybi43t5R/8Af8OY0MZIDdERshWwyqBe8cgYDOVupSW4e5GY8aDsYJ3SHtB2aqe/IbM8ltM7EnKGdVB7trXULoN1vbH2VHBEFiGh1LE3Z2Pps3En4AWAAAAqi4tsMFEDJkLAB2LqQnak5msN4GZjYkeHhV/xJlUAbgAPhpVSX3SlKIUpSgGqZ23ioJdqYSSLELmaY5gVOgjxUkkRVrgEShiFI00BF72q5qoDpX0emhkbPDLmad0gsA4kjWS4GUHPlAkNjy9lYWtMTGIelKxaJzOJX/StTZMLJBErElljRSSLEkKASQSdb+dbdZvMpSlApSlApSlApSlApSuL0u6RjBYVpsuY3CqOBY3tc8AACT7OZoPOlXSyLAxZ5O87eCMEBmI3nXwqLi7eYGpIBpbaO0JcbMZpzcncu5VXgoHADlz1NzuxYnESYmYyzsXdjfXcOQA3AC+gGg9tyejBCEF29gG8k8Ao4k8hUZRD3D4YKMzEAAXJO4Dma+5EzKS/diA3HQuOb38K/d3nj6tbkGDJKtINcw7OMd45uGg8cm+1tBw3FqnnRrodkZZsSAZAbpHe6xeZ4PJ57l9G/iIcjox0EMpEuLW0e9YSNXFtDKOC/wBn+96tQzp3tAttNreFe0XS9hl7OMDf9x/j51ec0oVSx0Cgk+wamvzftCcvOWO87/aQHb5uaJDVmu076+ONR71v/wB/yr9HbB2gJ8LBKP2kSPvvqygke0G491fnCRSHDEd0kAHmcpDD3Fo/3hV4dVuN7TZyLfWJ5Iz7MxdR+460JS6lKVUKUpQKiHS3/wBR2X/vZv4EqX1AOmm1Cu0MKclxhGzt3rFxKAvd0NiMp377ed6wvetIzaWdNO2pOKxlP6UpWbApSlApSlApSlApSlAqJ9Z+E7TZziwNpIjrwBkVDbzyuR76llQXrXaXsIVQ9xna/nIFvEDfS1w5AOmYJQVvs8Ed1gWkGgAHj5MDuAtvPA3HK/f2ds5i4AUyzsDlRfRFtQt/AvN236fdWuPDIna9lIWCAFssj5WN8iqCM12u2ewa/hawtlqw+r/ZJjlkdYDFG0arcp2edsxIspAJsCe8R6ehOtoydvo90XWD6ySzzEeK2kYO9I76gczvbjoAB3aUqsXF6Z4jJgMQfWjKa2/aER8d/i3caoCV7yE82c+69h8gKunrRxvZ4IC/ikBO/dGrScPNF3/6VSAazRrxyt8sgPzNSVh3cREDspmFi0WNueYDQIw9gLRAXPEe2pt1NY3/AMzFfS8co/MGRiNeUafGo3sDBdpsraX3Hgk9yatbT1cw99fXVPjuzx8an9rFJEfxKA44/wBk3PfQXdSlKqFKUoFQfpnsxG2hgb3tOzRyAG2dYxmUXGo1c6gi40qcVEula32hszylm/gSsbVi0YmGVbTWc1nCW0pSsmJSlKBSlKBSlKBXM6Q7Z+jQGQLnYsqKt7AsxsLmxso1JPIG1zYV06ivTpwfo0d98rOd+5Y3X2eKRd9BGI+mmLnGYTJHqwywqhHdYrvkDkg236ewVr41pJkKTyySK29Xdsrag6otlIuBoRU16L7EgfAQ54Y27RTKc8ak3lLSG9x981szdDcK37LJ/u3kjG625GA+VFVlJho0HdRVNwbqArBlIZWDLYhgQCDwIFSroz1iAERYthyWbQA8hKBop++O7vuF49HFdW0Dbpp1/MjcLemhPnvrg43qic3MeLUngHiI4cWV+f3agspWuLjjXtVV1XbSxK4yTCllaGNZbgsTYxuEBjuAQCTu3W899q1UVj1yYv7KP7jE/wDNdEHyV+P+VV9PhgII5OLzSJ7kjjb9ZflUl60cb2mOZfUKJ+4hc/BpflXO29CEwGzRb7U4uQnT1olA0HK2/l8IqU9V2D7XC4+P+sATn4o3Xd76gvRbG9li4JCbZMRGT5K5XPu+7I9WL1NfZ4n8cf8AC1V10jwPZ43FRC4+skAvvAzsVO71XWg/RlK0ti4/t8NDKP2sSP8AvKGt863aqFKUoFRTpQp/pDZpsbdpML8L5EIF+eh+BqV1FumkxWfZ5Xf9MQe5gUPyY0EppQUoFKUoFKUoFKUoFQbp/irSAC94sNK1geMhXJpzvCQD5mpzVe9Iz22PdCLjtcLBbfpmWV7g6eCY38hQTvA4YRxJGNyIqiwtooA3DdurPSlArDjcSI43dtyKzHduUEnfpwrNUf6fYvs9m4k+tH2f96RHyPr0ER6l8If9olN90ce6wuMzvwt6S7qs6oX1T4TLgC5/azSN7ltFz11jPKpTtbF9lBLJ/Vxu/wC6pPI8uVBQnSbHdrjJXvcZpGH4WkIXf9yMV3OsmIxDZkBGsWFe5ud5EKkWPmnPjUfwmDz4hI9+aWKLS276tT5b3OhqS9ck/wD4hhktouHY3/E76e7sx8aiu91NfZ4n8cf8LVF+tPB9ntMtbSVEf4qUPDnCPj51Kepr7PE/jT+Fq0Ou3C2OGltwdSdPRaNx57u0+fOh3SnqvxefZsQvrE0kZ8grsVH7hWpZVbdTWM7uKi5PHKPzqYzw/sR8asmqhSlKBUT6cfbbP/42P9RUsqKdN/ttn/8AGx0EqFe14K9oFKUoFKUoFKUoBqrpdtRR45ZZ2sjY2c3sZL9jHLCoAUE741Og0tbzrudaO12iw8casV7dyHI0+rRSzLfhc5QeYzDjVYbSwd4MHEO6yYbtFI9CR+zyke8OLcQSK8NTWimfLHzb232ltWaf9TMefKImfqs3E9YplRjg4lJGZc05KhWG68aAsRqDqV0IIveoz/8A32PDue1i0sDE0IAU2BBV1YkqeBN+I0IIHA2DifrFbcJ4tR95QHX3gGQV7tdrSK3rAofmyn45h+ero6ntKRZju9vG31ZpE5jtPlPOFgdDuswYmQQ4hBHIxIRlvlLAkZCCSVbQ2NyDbhcA5OtzFZcCif1k6DjuUO/DzUb6qSHEmOXON6SK49oykfNTUw6zuk8GLXC9lIMpSR2vYFC+RVDre6kWb/I165auJ6rH6FYXs9n4ZePYqx9rjOeA4sawdPsTlwMg4yFEH5nF+I9ENXcwUiNGpjYMmUZSpzAqNBY31qE9bWPyQRL5yS/3aEW+Mg+FVEK6CYftdoYe+7tJJfcBI68OYSsvXBNfasS28OGXXndpjXX6qdn2xTG32OHC+9ioHHlG1cHrYnDbXAF7pCqn22L6eVnHzqHdJupmY3xacAIG87t24PyQfOuv1u4LtNng/wBXMhO/c4aL/wCQVxOpj7TGfgw/8WKqb9M8J2mz8Sv9i7D8SDOvA8VFU7qw6o8blxyg/toHX8ylHHDkr8Rvq6a/PHRDG9ljcO/BMSo/LIch4H0JT/8AlfoehJSlKIVGumWHBfAtrdcdFb35r/pUlqO9MDrgv+Ph/hkoJCK9rwV7QKUpQKUpQKrzp10uxOGxqLG4WJI45WUKpMl3lDhi2oBWOwsRrc35WHVb9bOyznhmscrK0DkHcT3o/Zf6wX5ledeOvNq6czXs3dhWl9etNTpOY+MxOPmy9c0N8LCwvm7V0GvrwyfO6rUM2sv+1OBujSOMe4M/6SCtjau3J8W2FSdlYRyRgZUy5jmUs794gsVQ7gALtprpo42Yg4iQC5MrhfMqRCg95QfGtDc6tb6c2p3mI/l2djo32+4rXV61ra378nJUG575WJJJHUqLOMmrEMbjLnZktbUEiuhtQnsxm8Xcv+K63+darbPUHOyl44R2LaX7mW8koHrByLka2VrV7jMVoiyMLmxD3GSVV1Dq24knLccCeVibstSuZrn8+/vavE6WnF8fnb4dcNNvH7QPkT/rXQwWsSH7q/oK58ujewfz+ld3C4W0aDkq/Gwv86nEbRFatngE41Lz5Qs/q1xRbAhSF+rkdARxBs92Hrd/37+NRXrXxGfEpHySNf7yW7jd6iA/yalPVvKPohS/eSRrjS4DWYG3LePaDUC6Xz9rtN7agSOf7qMQnj67Vv6E50qz5Q4u8jG51IiP9p+qXdVeG7mJk9aRU/cQPy5y86r/AKznB2w9uACn29hC36MKtfq+w2TAIbau0j+27sFO/wBULVT9Y4B2rIwN7yMD7Vw+GUj5V6tVK+pj7TGfgw/64qrPdQQQdx0PsqsepgfWYz8GH/XE1aFUl+Zp8M0cksfpJdeHjQtGeY3oOdfo/ZeNE0EUo3Sxo4/Oobj7aovp3g+y2pOLWDOWH/MVJb7vWz1a3VrjO02bCL6x5o/YEdgo3D0Mh99QlKKUpVQqOdMmAOBJNh9Ph3/hlt86kdQzrG2lEgwitIgZcbA7KWGZUGe7kbwo57qCZilYsNikkQPGwZW3MpuDw0IrLQKUpQKUpQK1NrbLTEwvDKLo4sbaEEEEMp4MGAIPAgVt18vKF3kD2m1DopbH7HnwmKjWSJn7Ny2dcoR0KtErgkjKc0gzLvFm3ixPOWB2gQqoL5hIVZsoLElypIBsQ5B/LU76bCKedDFOLmJlk7Nkc2SRSg1DBdWlG7X3VE58K8QKpIrBIXfvoc3ctoSrAG999hu865e52tvBFdGO+Xa2u/idS19eecxEZ9GnhEmWNUVMpt3pHKnvE5mYIjHMSxJsSPbWnLg1hkAgUtKS3aknuhXDG8ijui75SFUAmx4XNST+imPjlNuSLk+LEs3wK19fQFVcqKFHIczvJ5nzOpry0NjfOdTER7o7+r03HEaY8OlmZ989vRB5MKwzIBuAAN+FrD36X99SHA7QV0BZ0DXKsAwFmDFbWJuL8vPjXowOaWTTQFB/hzf9QrtbB6z/AKPh4ohhMypcZhOQT3iS2Ux7zcm17edbu52tdxERM4w0NpvLbWZmsZyz9HdgySypOUMcMLCUyuuXMIyHyoGsSDbV/Da9iTujOFmLzSStvEWdvxTO8jbz/ZjjUt2r1rRTYaWIYedJJkaJTeIqpkGQMWEmYWzX0B3VGcCVWKeRrhWlVCRvCgRxm1r7mZ69dDQro18NXluNxfcX8d1x7AwnZYWCO1skSAjTeFF92l73qlOn0X+3kjXNiMQfgsY/yq3oOnGBfdi4hpfvNk/jtr5b6qTbirLi0ZGDo8+OdWUgqwMhIII3jXfXu1oSrqcS0mL/AAYf9cTVnVAOrCDJJiR9yD+LE1P6Eqb648HkxkcltHjThvKOysf3JF+Fd7qbxl4sTF6siSf3iZOXOHmd/DSvOunA5sPA44O8f94mbnziHCuF1RY62OK8JsOfipR1G71S/wDNqh2XJSlKqBqmulm0Y8dOpOGkVxGySWuQbMvcbNGNRm14d4cquWqL2iuTFmNoi8iiTtWMhIzXiu12JJN7jQfKiwsJ8QybCRgXhKYeLXtArWUpuYEG7gbtG79rA1v9CdqrJhrNMXdXcHOxLgFiVvm7xFtxPCqt2TsmXFdpEpVCm5WfEFMqHtVYFEKDulVytYjILaWrqdEughxEbzRtAoayWeEse6gJNww3lz/JoLhpWHCQZI0QnMVVVud5sAL++1ZqIUpSg0ttqThpwt7mGQDKSGvka1iuoPs1qklwsL5ZCpzMq653PmLZmI41fVcXE9DcG+pw0YPNFyHnvS3OiqlQZWzLNIDlC69mRYEkCxTmTxrDioHkYFplZcmQo0fdbUNdrPru3WtzBqyMX1XYZvBJNH5Bww4f1ik/PjXFxPVRMPs8SjeTxsnzDNx8qi5RRFkHhI/LPKv+EqRX2cVOOMn/ALD/AK2Y10sV0Dx8Z0iWQc45FPPg5U8OXEVy8ThMTF9rBMg5mN8vD0rZeI40GATyguWeQZ2v3YGW1lVfEM2llBuCNSa1i0Y0zqLAaE2NuHi1rYj2prv1rZTanM0HMOGvqpvY3BFjYjdX1JPJ2PYm2XOXJsQxJcyakG3iPLcK6V4m8UUZPMot/javr6FAfRI/C7r8g1qCP9ka62xFv9C84sQ37xjb/qrM+yo+DyD3qf4lJ+damAwVpGtPIBCxjQDKQFeOFzo6sBqbaADSg76wj6Q/+5j8j45tLj2D4VszYp0Gk8yACw+vlAA9he1cU4ZL5meVjYC5mkGgJIFkKjeTw41zsTj4VYhYFZhmGoBJOmXU3Nm11+6dKDb290jlljEZxRlUMhyko/hNvEFzXsTx1trWHq7xBXaOFAVh9Y66iwylJVG8j0bc+Fc7FbRkYkKpA4d08b8za4A5byBXT6Aq7bQw1xmKy3JUXsMjasB4db76C/aUpVYlV31vbVURRwdk7uzCQMCgVQpKkXZwbm/AVYd6orrH2aYMc+d1btbyKSmtndiUF2N7EHcOI0osJt1b9IYpMG2HWNopIYyWDFLSFzIcylWJY2XW9ju310eqtR/RkbcWdyfMhio+Sj4VVfQuFGx0V2VRHmlIsqkBEYgm9rAvkH5qsTq76Q4eDZMRlnRbM4tmDNcyNYBFuxPGwG7Wgn9K5uyOkeHxV+xkDEC5BDK1r2vlYA2vx3V0qIUpSgUpSgUpSgUpSg1MZsiGb7WGOT8aK3PmPM/GuJiurnAv+xyG/oO6/IHLb3VJqUECxPVNH+yxMi/jVHH+HJXIxXVhi1+zkhkHmWjPHhZhy48atSlFypTGdEsdHvwzkc0Kvy4Ixbjyrm4TYWLLyBcJiLl7m8TqL5FHicBfQtv4VftKGVQ4Lq5x0njEcQv6cgZt/ARhgdNfEPdXcwfVGt7zYljzEaKmtuJfOT8twqwqUMo5gur3Ax2P0cSEcZS0nyclRu4Cu9h8MkahY0VFG5VAUD2AaVlrxhpREP6a9ZcGz2WPL20rZrorfZgLe75QxW9xw3XPK8HxXXbiWv2UUaDU6qzGw3as67xqO7wJ0FR7pL0GxuFZnljaRd5kTvLcb2uRoS2t5LWJJFzrUZmPO4F95BA378xBHC9ySeJu2UCK2cRtnNKZZJCZJGzs7A3zXF8zBQBoSLcACN2UDFj2Rj3cpJUgDQX3k8NdShtrwO69YmxCH0kA8yN1r6i9zYG9vvBeL16Z19YaeYa1rN7GIJB+87ckorYw8oV8rW0FhlQneyKNwNiWYC2nE21125sahAI1NiO9G+UDR7t3blCIyDa+j7jex50TRgWzLpcWVhfTQ5TzuxVTzeR+F66eEXvDL3iCLZI3YZs4UHKqnuBlz29SCEelQZNibRnwjx/R5MjKB3stkAXOkinMpFtGJJBIXDEnMygC1+g/WI+IkWHELZm7oawDK9mIVwO6wOSQZ1y2aMqVBsTV64GQAfVlC1gonZY7jUgEMc7+GNCApvnnI8YqedXvQ+VZxMysFLK7O4ZL5EYRxxq4DsLuWaRguY3sNe7UWpSlKIUrV2nFI0ZERs111vbuh1LC4BtdcwuBxrgY7o7iyAY8YQwzNrexYsxG70bFRY3HdvaglNK4f9E4i9/pJ/De4y93u5rXJ8Yz2v3gbd0V8LsPEEgtinvdc1ibZAGBC6WBJI71r6eywd+lcGTY2IZg30phZgco0UgRBbaDjIC3Kx3aV2MJGyoA7ZmG8/5X42Gl+Nr0GalKUClKUClKUClKUClKUCuPjuiGEmuZMNESdSwUKxJ45ksb6867FKCGTdUuBJ0WVfZKWv7c+Y1gTqhww3T4n4w//TU6pQQpOqyEEWxOK9l4LHy+wv8AA108N0EwyizCWT8c0mu/0VIXjy4VIqUGlgNiwQfYwxx3tcqigmwtqQLk24mt2lKBSlK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5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52160" y="1115568"/>
            <a:ext cx="1060704" cy="9966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56719" y="2270990"/>
            <a:ext cx="1060704" cy="9966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https://encrypted-tbn0.gstatic.com/images?q=tbn:ANd9GcRgHh-62kiujDd4u_c9yAbeYtgdG-FCxr0X7tT79Ei2taLVWm1wQQ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56719" y="3491695"/>
            <a:ext cx="1060704" cy="9966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2806286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uild="p"/>
      <p:bldP spid="40" grpId="0"/>
      <p:bldP spid="41" grpId="0"/>
      <p:bldP spid="56" grpId="0"/>
      <p:bldP spid="69" grpId="0"/>
      <p:bldP spid="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7815805" y="4920515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84461" y="938117"/>
            <a:ext cx="2270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[Nisan-Ronen ’99]:</a:t>
            </a:r>
            <a:endParaRPr lang="en-US" sz="2000" b="1" dirty="0">
              <a:solidFill>
                <a:srgbClr val="FF6600"/>
              </a:solidFill>
              <a:latin typeface="Times New Roman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0261" y="1255100"/>
            <a:ext cx="78763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smtClean="0">
                <a:latin typeface="Times New Roman"/>
                <a:cs typeface="Times New Roman"/>
              </a:rPr>
              <a:t>How much more difficult are optimization problems on “strategic” input compared to “honest” input?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Algorithmic Mechanism Design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70261" y="2373824"/>
            <a:ext cx="5202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Times New Roman"/>
                <a:cs typeface="Times New Roman"/>
              </a:rPr>
              <a:t>Black-box reduction from mechanism- to algorithm-design for all optimization problems.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461" y="1962986"/>
            <a:ext cx="1512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/>
                <a:cs typeface="Times New Roman"/>
              </a:rPr>
              <a:t>The Dream:</a:t>
            </a:r>
            <a:endParaRPr lang="en-US" sz="2000" b="1" dirty="0">
              <a:latin typeface="Times New Roman"/>
              <a:cs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273101" y="4005289"/>
            <a:ext cx="2317172" cy="20422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1303822" y="3188319"/>
            <a:ext cx="987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1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rot="16200000">
            <a:off x="2625032" y="3172799"/>
            <a:ext cx="101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m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cxnSp>
        <p:nvCxnSpPr>
          <p:cNvPr id="2048" name="Straight Arrow Connector 2047"/>
          <p:cNvCxnSpPr/>
          <p:nvPr/>
        </p:nvCxnSpPr>
        <p:spPr>
          <a:xfrm>
            <a:off x="1828800" y="3196293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134356" y="3196293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 rot="16200000">
            <a:off x="1735538" y="6175938"/>
            <a:ext cx="1018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2431686" y="6060381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7" name="TextBox 2056"/>
          <p:cNvSpPr txBox="1"/>
          <p:nvPr/>
        </p:nvSpPr>
        <p:spPr>
          <a:xfrm>
            <a:off x="1341710" y="4377038"/>
            <a:ext cx="2115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Mechanism </a:t>
            </a:r>
            <a:r>
              <a:rPr lang="en-US" sz="2400" dirty="0" smtClean="0"/>
              <a:t>that works on strategic input</a:t>
            </a:r>
            <a:endParaRPr lang="en-US" sz="2400" dirty="0"/>
          </a:p>
        </p:txBody>
      </p:sp>
      <p:sp>
        <p:nvSpPr>
          <p:cNvPr id="49" name="TextBox 48"/>
          <p:cNvSpPr txBox="1"/>
          <p:nvPr/>
        </p:nvSpPr>
        <p:spPr>
          <a:xfrm>
            <a:off x="2251153" y="333945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  <p:sp>
        <p:nvSpPr>
          <p:cNvPr id="2058" name="TextBox 2057"/>
          <p:cNvSpPr txBox="1"/>
          <p:nvPr/>
        </p:nvSpPr>
        <p:spPr>
          <a:xfrm>
            <a:off x="233837" y="4637810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Want:</a:t>
            </a:r>
            <a:endParaRPr lang="en-US" sz="24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4556493" y="4637810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Have:</a:t>
            </a:r>
            <a:endParaRPr lang="en-US" sz="2400" b="1" dirty="0"/>
          </a:p>
        </p:txBody>
      </p:sp>
      <p:cxnSp>
        <p:nvCxnSpPr>
          <p:cNvPr id="28" name="Straight Arrow Connector 27"/>
          <p:cNvCxnSpPr>
            <a:stCxn id="33" idx="1"/>
          </p:cNvCxnSpPr>
          <p:nvPr/>
        </p:nvCxnSpPr>
        <p:spPr>
          <a:xfrm>
            <a:off x="4759841" y="5239165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7862657" y="5239164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59841" y="4915999"/>
            <a:ext cx="966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Known Input </a:t>
            </a:r>
            <a:endParaRPr lang="en-US" dirty="0"/>
          </a:p>
        </p:txBody>
      </p:sp>
      <p:pic>
        <p:nvPicPr>
          <p:cNvPr id="3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07772" y="2424759"/>
            <a:ext cx="1984676" cy="13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7" descr="C:\Users\Weink\AppData\Local\Microsoft\Windows\Temporary Internet Files\Content.IE5\5JH6FGTS\MC900441763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00057" y="1597836"/>
            <a:ext cx="1743943" cy="113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/>
          <p:cNvSpPr/>
          <p:nvPr/>
        </p:nvSpPr>
        <p:spPr>
          <a:xfrm>
            <a:off x="5554018" y="4005840"/>
            <a:ext cx="2302486" cy="2041669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5726196" y="4377037"/>
            <a:ext cx="1983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Algorithm </a:t>
            </a:r>
            <a:r>
              <a:rPr lang="en-US" sz="2400" dirty="0" smtClean="0">
                <a:solidFill>
                  <a:schemeClr val="bg1"/>
                </a:solidFill>
              </a:rPr>
              <a:t>that works on honest input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844362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7815805" y="4920515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52" idx="1"/>
          </p:cNvCxnSpPr>
          <p:nvPr/>
        </p:nvCxnSpPr>
        <p:spPr>
          <a:xfrm>
            <a:off x="4759841" y="5239165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7862657" y="5239164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1" name="Rectangle 2060"/>
          <p:cNvSpPr/>
          <p:nvPr/>
        </p:nvSpPr>
        <p:spPr>
          <a:xfrm>
            <a:off x="5554018" y="4005840"/>
            <a:ext cx="2302486" cy="2041669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4461" y="938117"/>
            <a:ext cx="2270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[Nisan-Ronen ’99]:</a:t>
            </a:r>
            <a:endParaRPr lang="en-US" sz="2000" b="1" dirty="0">
              <a:solidFill>
                <a:srgbClr val="FF6600"/>
              </a:solidFill>
              <a:latin typeface="Times New Roman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0261" y="1255100"/>
            <a:ext cx="78763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smtClean="0">
                <a:latin typeface="Times New Roman"/>
                <a:cs typeface="Times New Roman"/>
              </a:rPr>
              <a:t>How much more difficult are optimization problems on “strategic” input compared to “honest” input?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Algorithmic Mechanism Design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70261" y="2373824"/>
            <a:ext cx="5202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>
                <a:latin typeface="Times New Roman"/>
                <a:cs typeface="Times New Roman"/>
              </a:rPr>
              <a:t>Black-box reduction from mechanism- to algorithm-design for all optimization problems.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461" y="1962986"/>
            <a:ext cx="1512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/>
                <a:cs typeface="Times New Roman"/>
              </a:rPr>
              <a:t>The Dream:</a:t>
            </a:r>
            <a:endParaRPr lang="en-US" sz="2000" b="1" dirty="0">
              <a:latin typeface="Times New Roman"/>
              <a:cs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273101" y="4005289"/>
            <a:ext cx="2317172" cy="20422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1303822" y="3188319"/>
            <a:ext cx="987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1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 rot="16200000">
            <a:off x="2625032" y="3172799"/>
            <a:ext cx="101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m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cxnSp>
        <p:nvCxnSpPr>
          <p:cNvPr id="2048" name="Straight Arrow Connector 2047"/>
          <p:cNvCxnSpPr/>
          <p:nvPr/>
        </p:nvCxnSpPr>
        <p:spPr>
          <a:xfrm>
            <a:off x="1828800" y="3196293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134356" y="3196293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 rot="16200000">
            <a:off x="1735538" y="6175938"/>
            <a:ext cx="1018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2431686" y="6060381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7" name="TextBox 2056"/>
          <p:cNvSpPr txBox="1"/>
          <p:nvPr/>
        </p:nvSpPr>
        <p:spPr>
          <a:xfrm>
            <a:off x="1341710" y="4377038"/>
            <a:ext cx="2115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Mechanism </a:t>
            </a:r>
            <a:r>
              <a:rPr lang="en-US" sz="2400" dirty="0" smtClean="0"/>
              <a:t>that works on strategic input</a:t>
            </a:r>
            <a:endParaRPr lang="en-US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5726196" y="4377037"/>
            <a:ext cx="1983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Algorithm </a:t>
            </a:r>
            <a:r>
              <a:rPr lang="en-US" sz="2400" dirty="0" smtClean="0">
                <a:solidFill>
                  <a:schemeClr val="bg1"/>
                </a:solidFill>
              </a:rPr>
              <a:t>that works on honest input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251153" y="333945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  <p:sp>
        <p:nvSpPr>
          <p:cNvPr id="2058" name="TextBox 2057"/>
          <p:cNvSpPr txBox="1"/>
          <p:nvPr/>
        </p:nvSpPr>
        <p:spPr>
          <a:xfrm>
            <a:off x="233837" y="4637810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Want:</a:t>
            </a:r>
            <a:endParaRPr lang="en-US" sz="24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4556493" y="4637810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Have:</a:t>
            </a:r>
            <a:endParaRPr lang="en-US" sz="24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4759841" y="4915999"/>
            <a:ext cx="966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Known Input 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3548709" y="4521155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1 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590273" y="4272038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590273" y="3922395"/>
            <a:ext cx="89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Chosen Input 1 </a:t>
            </a:r>
            <a:endParaRPr lang="en-US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3590273" y="5372975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569491" y="5851280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569491" y="4831417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552978" y="5556585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k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3590273" y="5049809"/>
            <a:ext cx="89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Chosen Input k 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 rot="5400000">
            <a:off x="3951161" y="4771024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07772" y="2424759"/>
            <a:ext cx="1984676" cy="13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7" descr="C:\Users\Weink\AppData\Local\Microsoft\Windows\Temporary Internet Files\Content.IE5\5JH6FGTS\MC900441763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00057" y="1597836"/>
            <a:ext cx="1743943" cy="113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9897559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-0.1151 -0.007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4" y="-37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L -0.11632 -4.44444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16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061" grpId="0" animBg="1"/>
      <p:bldP spid="47" grpId="0"/>
      <p:bldP spid="51" grpId="0"/>
      <p:bldP spid="52" grpId="0"/>
      <p:bldP spid="53" grpId="0"/>
      <p:bldP spid="35" grpId="0"/>
      <p:bldP spid="43" grpId="0"/>
      <p:bldP spid="48" grpId="0"/>
      <p:bldP spid="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Black-Box Reductions?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83801" y="854436"/>
            <a:ext cx="4108048" cy="5788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400" b="1" dirty="0" smtClean="0"/>
          </a:p>
          <a:p>
            <a:pPr marL="0" indent="0">
              <a:buFont typeface="Arial"/>
              <a:buNone/>
            </a:pPr>
            <a:endParaRPr lang="en-US" sz="2400" b="1" dirty="0" smtClean="0"/>
          </a:p>
          <a:p>
            <a:pPr marL="0" indent="0">
              <a:buFont typeface="Arial"/>
              <a:buNone/>
            </a:pPr>
            <a:endParaRPr lang="en-US" sz="2400" b="1" dirty="0"/>
          </a:p>
          <a:p>
            <a:pPr marL="0" indent="0">
              <a:buFont typeface="Arial"/>
              <a:buNone/>
            </a:pPr>
            <a:endParaRPr lang="en-US" sz="2400" b="1" dirty="0" smtClean="0"/>
          </a:p>
          <a:p>
            <a:pPr marL="0" indent="0">
              <a:buFont typeface="Arial"/>
              <a:buNone/>
            </a:pPr>
            <a:endParaRPr lang="en-US" sz="2400" b="1" dirty="0"/>
          </a:p>
          <a:p>
            <a:pPr marL="0" indent="0">
              <a:buFont typeface="Arial"/>
              <a:buNone/>
            </a:pPr>
            <a:endParaRPr lang="en-US" sz="2400" b="1" dirty="0" smtClean="0"/>
          </a:p>
          <a:p>
            <a:pPr marL="0" indent="0">
              <a:buFont typeface="Arial"/>
              <a:buNone/>
            </a:pPr>
            <a:endParaRPr lang="en-US" sz="2400" dirty="0" smtClean="0"/>
          </a:p>
        </p:txBody>
      </p:sp>
      <p:sp>
        <p:nvSpPr>
          <p:cNvPr id="9" name="Rectangle 8"/>
          <p:cNvSpPr/>
          <p:nvPr/>
        </p:nvSpPr>
        <p:spPr bwMode="auto">
          <a:xfrm>
            <a:off x="283801" y="1257301"/>
            <a:ext cx="3842028" cy="14443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b="1" dirty="0" smtClean="0">
                <a:latin typeface="Tahoma" pitchFamily="-112" charset="0"/>
              </a:rPr>
              <a:t>Algorithmic</a:t>
            </a:r>
          </a:p>
          <a:p>
            <a:r>
              <a:rPr lang="en-US" sz="2800" b="1" dirty="0" smtClean="0">
                <a:latin typeface="Tahoma" pitchFamily="-112" charset="0"/>
              </a:rPr>
              <a:t>Mechanism Design</a:t>
            </a:r>
            <a:endParaRPr lang="en-US" sz="2800" b="1" dirty="0">
              <a:latin typeface="Tahoma" pitchFamily="-112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019243" y="1257300"/>
            <a:ext cx="3840480" cy="144433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800" b="1" dirty="0" smtClean="0">
              <a:latin typeface="Tahoma" pitchFamily="-112" charset="0"/>
            </a:endParaRPr>
          </a:p>
          <a:p>
            <a:r>
              <a:rPr lang="en-US" sz="2800" b="1" dirty="0" smtClean="0">
                <a:latin typeface="Tahoma" pitchFamily="-112" charset="0"/>
              </a:rPr>
              <a:t>Algorithm </a:t>
            </a:r>
            <a:r>
              <a:rPr lang="en-US" sz="2800" b="1" dirty="0">
                <a:latin typeface="Tahoma" pitchFamily="-112" charset="0"/>
              </a:rPr>
              <a:t>Design</a:t>
            </a:r>
          </a:p>
        </p:txBody>
      </p:sp>
      <p:sp>
        <p:nvSpPr>
          <p:cNvPr id="13" name="Right Arrow 12"/>
          <p:cNvSpPr/>
          <p:nvPr/>
        </p:nvSpPr>
        <p:spPr bwMode="auto">
          <a:xfrm>
            <a:off x="4225216" y="1742208"/>
            <a:ext cx="685800" cy="457200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FFFFFF"/>
              </a:solidFill>
              <a:latin typeface="Tahoma" pitchFamily="-112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41156" y="2876094"/>
            <a:ext cx="8842375" cy="3981906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buFont typeface="+mj-lt"/>
              <a:buAutoNum type="arabicParenR"/>
            </a:pPr>
            <a:r>
              <a:rPr lang="en-US" sz="2400" b="1" dirty="0" smtClean="0">
                <a:latin typeface="Times New Roman"/>
                <a:cs typeface="Times New Roman"/>
              </a:rPr>
              <a:t>More is known about algorithms than mechanisms.</a:t>
            </a:r>
          </a:p>
          <a:p>
            <a:pPr lvl="1">
              <a:spcBef>
                <a:spcPts val="300"/>
              </a:spcBef>
              <a:buFontTx/>
              <a:buChar char="-"/>
            </a:pPr>
            <a:r>
              <a:rPr lang="en-US" sz="1800" dirty="0" smtClean="0">
                <a:solidFill>
                  <a:schemeClr val="tx1"/>
                </a:solidFill>
                <a:latin typeface="Times New Roman"/>
                <a:cs typeface="Times New Roman"/>
              </a:rPr>
              <a:t>Hope: unsolved problems might reduce to already-solved problems.</a:t>
            </a:r>
          </a:p>
          <a:p>
            <a:pPr>
              <a:spcBef>
                <a:spcPts val="300"/>
              </a:spcBef>
              <a:buFont typeface="+mj-lt"/>
              <a:buAutoNum type="arabicParenR"/>
            </a:pPr>
            <a:endParaRPr lang="en-US" sz="2400" b="1" dirty="0">
              <a:latin typeface="Times New Roman"/>
              <a:cs typeface="Times New Roman"/>
            </a:endParaRPr>
          </a:p>
          <a:p>
            <a:pPr>
              <a:spcBef>
                <a:spcPts val="300"/>
              </a:spcBef>
              <a:buFont typeface="+mj-lt"/>
              <a:buAutoNum type="arabicParenR"/>
            </a:pPr>
            <a:r>
              <a:rPr lang="en-US" sz="2400" b="1" dirty="0" smtClean="0">
                <a:latin typeface="Times New Roman"/>
                <a:cs typeface="Times New Roman"/>
              </a:rPr>
              <a:t>Allows larger toolkit to tackle important problems.</a:t>
            </a:r>
          </a:p>
          <a:p>
            <a:pPr lvl="1">
              <a:spcBef>
                <a:spcPts val="300"/>
              </a:spcBef>
              <a:buFontTx/>
              <a:buChar char="-"/>
            </a:pPr>
            <a:r>
              <a:rPr lang="en-US" sz="1800" dirty="0" smtClean="0">
                <a:latin typeface="Times New Roman"/>
                <a:cs typeface="Times New Roman"/>
              </a:rPr>
              <a:t>Reduces to purely algorithmic problems.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spcBef>
                <a:spcPts val="300"/>
              </a:spcBef>
              <a:buFont typeface="+mj-lt"/>
              <a:buAutoNum type="arabicParenR"/>
            </a:pPr>
            <a:endParaRPr lang="en-US" sz="2400" b="1" dirty="0" smtClean="0">
              <a:latin typeface="Times New Roman"/>
              <a:cs typeface="Times New Roman"/>
            </a:endParaRPr>
          </a:p>
          <a:p>
            <a:pPr>
              <a:spcBef>
                <a:spcPts val="300"/>
              </a:spcBef>
              <a:buFont typeface="+mj-lt"/>
              <a:buAutoNum type="arabicParenR"/>
            </a:pPr>
            <a:r>
              <a:rPr lang="en-US" sz="2400" b="1" dirty="0" smtClean="0">
                <a:latin typeface="Times New Roman"/>
                <a:cs typeface="Times New Roman"/>
              </a:rPr>
              <a:t>Provides deeper understanding of Mechanism Design.</a:t>
            </a:r>
            <a:endParaRPr lang="en-US" sz="2400" b="1" dirty="0">
              <a:latin typeface="Times New Roman"/>
              <a:cs typeface="Times New Roman"/>
            </a:endParaRPr>
          </a:p>
          <a:p>
            <a:pPr lvl="1">
              <a:spcBef>
                <a:spcPts val="300"/>
              </a:spcBef>
              <a:buFontTx/>
              <a:buChar char="-"/>
            </a:pPr>
            <a:r>
              <a:rPr lang="en-US" sz="1800" dirty="0" smtClean="0">
                <a:latin typeface="Times New Roman"/>
                <a:cs typeface="Times New Roman"/>
              </a:rPr>
              <a:t>What makes incentives so difficult to deal with?</a:t>
            </a:r>
            <a:endParaRPr lang="en-US" sz="1800" dirty="0">
              <a:latin typeface="Times New Roman"/>
              <a:cs typeface="Times New Roman"/>
            </a:endParaRPr>
          </a:p>
          <a:p>
            <a:pPr marL="0" indent="0">
              <a:spcBef>
                <a:spcPts val="300"/>
              </a:spcBef>
              <a:buNone/>
            </a:pPr>
            <a:endParaRPr lang="en-US" sz="2200" dirty="0" smtClean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4460" y="5983069"/>
            <a:ext cx="85621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[This </a:t>
            </a:r>
            <a:r>
              <a:rPr lang="en-US" sz="24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Talk] </a:t>
            </a:r>
            <a:r>
              <a:rPr lang="en-US" sz="2400" b="1" dirty="0">
                <a:solidFill>
                  <a:srgbClr val="008000"/>
                </a:solidFill>
                <a:latin typeface="Times New Roman"/>
                <a:cs typeface="Times New Roman"/>
              </a:rPr>
              <a:t>(informal):</a:t>
            </a:r>
            <a:r>
              <a:rPr lang="en-US" sz="240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Reduction </a:t>
            </a:r>
            <a:r>
              <a:rPr lang="en-US" sz="2400" dirty="0" smtClean="0">
                <a:latin typeface="Times New Roman"/>
                <a:cs typeface="Times New Roman"/>
              </a:rPr>
              <a:t>exists! (with right qualifications)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5563566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374541" y="4631168"/>
            <a:ext cx="5337701" cy="1305921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Reductions in Mechanism Design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87468742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41312" y="895528"/>
                <a:ext cx="8688388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</a:rPr>
                  <a:t>[</a:t>
                </a:r>
                <a:r>
                  <a:rPr lang="en-US" sz="2000" b="1" dirty="0" err="1" smtClean="0">
                    <a:solidFill>
                      <a:srgbClr val="FF6600"/>
                    </a:solidFill>
                  </a:rPr>
                  <a:t>Vickrey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‘61] </a:t>
                </a:r>
                <a:r>
                  <a:rPr lang="en-US" sz="2000" b="1" dirty="0" smtClean="0"/>
                  <a:t>+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[Clarke ‘71] </a:t>
                </a:r>
                <a:r>
                  <a:rPr lang="en-US" sz="2000" b="1" dirty="0" smtClean="0"/>
                  <a:t>+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[Groves ’73]: </a:t>
                </a:r>
                <a:r>
                  <a:rPr lang="en-US" sz="2000" dirty="0" smtClean="0"/>
                  <a:t>Optimal algorithm for welfare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 optimal mechanism for welfare.</a:t>
                </a:r>
                <a:endParaRPr lang="en-US" sz="2000" dirty="0" smtClean="0"/>
              </a:p>
              <a:p>
                <a:endParaRPr lang="en-US" sz="2400" b="1" dirty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r>
                  <a:rPr lang="en-US" sz="2000" b="1" dirty="0" smtClean="0">
                    <a:solidFill>
                      <a:srgbClr val="FF6600"/>
                    </a:solidFill>
                  </a:rPr>
                  <a:t>VCG Mechanism: </a:t>
                </a:r>
                <a:endParaRPr lang="en-US" sz="2000" dirty="0" smtClean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dirty="0" smtClean="0"/>
                  <a:t>Each agent reports a type. Given as input to optimal algorithm.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b="1" dirty="0" smtClean="0">
                    <a:solidFill>
                      <a:srgbClr val="FF6600"/>
                    </a:solidFill>
                  </a:rPr>
                  <a:t>Theorem:</a:t>
                </a:r>
                <a:r>
                  <a:rPr lang="en-US" dirty="0" smtClean="0"/>
                  <a:t> Exists payment scheme making this truthful (Clarke Pivot Rule).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dirty="0" smtClean="0"/>
                  <a:t>For </a:t>
                </a:r>
                <a:r>
                  <a:rPr lang="en-US" b="1" dirty="0" smtClean="0"/>
                  <a:t>mechanism</a:t>
                </a:r>
                <a:r>
                  <a:rPr lang="en-US" dirty="0" smtClean="0"/>
                  <a:t> to work on all types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 smtClean="0"/>
                  <a:t>, need </a:t>
                </a:r>
                <a:r>
                  <a:rPr lang="en-US" b="1" dirty="0" smtClean="0"/>
                  <a:t>algorithm</a:t>
                </a:r>
                <a:r>
                  <a:rPr lang="en-US" dirty="0" smtClean="0"/>
                  <a:t> for all types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 smtClean="0"/>
                  <a:t>.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2" y="895528"/>
                <a:ext cx="8688388" cy="5909310"/>
              </a:xfrm>
              <a:prstGeom prst="rect">
                <a:avLst/>
              </a:prstGeom>
              <a:blipFill rotWithShape="1">
                <a:blip r:embed="rId3"/>
                <a:stretch>
                  <a:fillRect l="-772" t="-619" b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Reducing Mechanism to Algorithm Design: Welfare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95993" y="3459623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cxnSp>
        <p:nvCxnSpPr>
          <p:cNvPr id="5" name="Straight Arrow Connector 4"/>
          <p:cNvCxnSpPr>
            <a:stCxn id="20" idx="1"/>
          </p:cNvCxnSpPr>
          <p:nvPr/>
        </p:nvCxnSpPr>
        <p:spPr>
          <a:xfrm>
            <a:off x="4840029" y="3778273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7942845" y="3778272"/>
            <a:ext cx="7941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34206" y="2544948"/>
            <a:ext cx="2302486" cy="2041669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353289" y="2544397"/>
            <a:ext cx="2317172" cy="20422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1384010" y="1727427"/>
            <a:ext cx="987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1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rot="16200000">
            <a:off x="2705220" y="1711907"/>
            <a:ext cx="101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 m</a:t>
            </a:r>
          </a:p>
          <a:p>
            <a:r>
              <a:rPr lang="en-US" dirty="0" smtClean="0"/>
              <a:t>Input 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908988" y="1735401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14544" y="1735401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16200000">
            <a:off x="1815726" y="4715046"/>
            <a:ext cx="1018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511874" y="4599489"/>
            <a:ext cx="0" cy="80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21898" y="2916146"/>
            <a:ext cx="2115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Mechanism </a:t>
            </a:r>
            <a:r>
              <a:rPr lang="en-US" sz="2400" dirty="0" smtClean="0"/>
              <a:t>that optimizes welfare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5806384" y="2916145"/>
            <a:ext cx="1983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Algorithm </a:t>
            </a:r>
            <a:r>
              <a:rPr lang="en-US" sz="2400" dirty="0" smtClean="0">
                <a:solidFill>
                  <a:schemeClr val="bg1"/>
                </a:solidFill>
              </a:rPr>
              <a:t>that optimizes welfare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1341" y="1878564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314025" y="3176918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Want: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636681" y="3176918"/>
            <a:ext cx="997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Have: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40029" y="3455107"/>
            <a:ext cx="966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Known Input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628897" y="3060263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1 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670461" y="2811146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70461" y="2461503"/>
            <a:ext cx="89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Chosen Input 1 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670461" y="3912083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3649679" y="4390388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649679" y="3370525"/>
            <a:ext cx="8961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33166" y="4095693"/>
            <a:ext cx="11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k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670461" y="3588917"/>
            <a:ext cx="89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Chosen Input k 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 rot="5400000">
            <a:off x="4031349" y="3310132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14008628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-0.1151 -0.0071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4" y="-37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L -0.11632 -4.44444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16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6" grpId="0"/>
      <p:bldP spid="19" grpId="0"/>
      <p:bldP spid="20" grpId="0"/>
      <p:bldP spid="21" grpId="0"/>
      <p:bldP spid="23" grpId="0"/>
      <p:bldP spid="27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41312" y="895528"/>
                <a:ext cx="8688388" cy="8133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</a:rPr>
                  <a:t>[</a:t>
                </a:r>
                <a:r>
                  <a:rPr lang="en-US" sz="2000" b="1" dirty="0" err="1" smtClean="0">
                    <a:solidFill>
                      <a:srgbClr val="FF6600"/>
                    </a:solidFill>
                  </a:rPr>
                  <a:t>Vickrey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‘61] </a:t>
                </a:r>
                <a:r>
                  <a:rPr lang="en-US" sz="2000" b="1" dirty="0" smtClean="0"/>
                  <a:t>+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[Clarke ‘71] </a:t>
                </a:r>
                <a:r>
                  <a:rPr lang="en-US" sz="2000" b="1" dirty="0" smtClean="0"/>
                  <a:t>+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[Groves ’73]: </a:t>
                </a:r>
                <a:r>
                  <a:rPr lang="en-US" sz="2000" dirty="0" smtClean="0"/>
                  <a:t>Optimal algorithm for welfare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 optimal mechanism for welfare.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>
                    <a:sym typeface="Wingdings" panose="05000000000000000000" pitchFamily="2" charset="2"/>
                  </a:rPr>
                  <a:t>Dominant Strategy truthful (not just BIC).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>
                    <a:sym typeface="Wingdings" panose="05000000000000000000" pitchFamily="2" charset="2"/>
                  </a:rPr>
                  <a:t>Prior-free guarantee (selects welfare-optimal outcome always).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b="1" dirty="0" smtClean="0">
                    <a:sym typeface="Wingdings" panose="05000000000000000000" pitchFamily="2" charset="2"/>
                  </a:rPr>
                  <a:t>But reduction breaks with approximation algorithms.</a:t>
                </a:r>
              </a:p>
              <a:p>
                <a:endParaRPr lang="en-US" b="1" dirty="0">
                  <a:solidFill>
                    <a:srgbClr val="FF6600"/>
                  </a:solidFill>
                  <a:sym typeface="Wingdings" panose="05000000000000000000" pitchFamily="2" charset="2"/>
                </a:endParaRPr>
              </a:p>
              <a:p>
                <a:r>
                  <a:rPr lang="en-US" sz="2000" b="1" dirty="0" smtClean="0"/>
                  <a:t>Approximation-preserving reduction maintaining these extra properties?</a:t>
                </a:r>
                <a:endParaRPr lang="en-US" sz="2000" dirty="0"/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Impossible in many settings. </a:t>
                </a:r>
              </a:p>
              <a:p>
                <a:pPr marL="342900" indent="-342900">
                  <a:buFontTx/>
                  <a:buChar char="-"/>
                </a:pPr>
                <a:endParaRPr lang="en-US" dirty="0" smtClean="0"/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n agents m items, valuation function of each agent is monotone </a:t>
                </a:r>
                <a:r>
                  <a:rPr lang="en-US" dirty="0" err="1" smtClean="0"/>
                  <a:t>submodular</a:t>
                </a:r>
                <a:r>
                  <a:rPr lang="en-US" dirty="0" smtClean="0"/>
                  <a:t>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/>
                  <a:t>Monotone: more value for more items.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err="1" smtClean="0"/>
                  <a:t>Submodular</a:t>
                </a:r>
                <a:r>
                  <a:rPr lang="en-US" dirty="0" smtClean="0"/>
                  <a:t>: diminishing marginal returns for more and more items.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b="1" dirty="0" smtClean="0"/>
                  <a:t>Algorithm design: </a:t>
                </a:r>
                <a:r>
                  <a:rPr lang="en-US" dirty="0" smtClean="0"/>
                  <a:t>greedy is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 smtClean="0"/>
                  <a:t>-approximation.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b="1" dirty="0" smtClean="0"/>
                  <a:t>Mechanism design: </a:t>
                </a:r>
                <a:r>
                  <a:rPr lang="en-US" dirty="0" smtClean="0"/>
                  <a:t>NP-hard to beat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dirty="0" smtClean="0"/>
                  <a:t>-approximation </a:t>
                </a:r>
                <a:r>
                  <a:rPr lang="en-US" dirty="0">
                    <a:solidFill>
                      <a:srgbClr val="FF6600"/>
                    </a:solidFill>
                  </a:rPr>
                  <a:t>[PSS ’08, BDFKMPSSU ’10 , D ’11, DV ’12</a:t>
                </a:r>
                <a:r>
                  <a:rPr lang="en-US" dirty="0" smtClean="0">
                    <a:solidFill>
                      <a:srgbClr val="FF6600"/>
                    </a:solidFill>
                  </a:rPr>
                  <a:t>].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any computationally efficient reduction must lose at least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. </a:t>
                </a:r>
              </a:p>
              <a:p>
                <a:pPr marL="342900" indent="-342900">
                  <a:buFontTx/>
                  <a:buChar char="-"/>
                </a:pPr>
                <a:endParaRPr lang="en-US" dirty="0" smtClean="0"/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Single-dimensional settings with arbitrary feasibility constraints.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>
                    <a:solidFill>
                      <a:srgbClr val="FF6600"/>
                    </a:solidFill>
                  </a:rPr>
                  <a:t>[CIL ’12] </a:t>
                </a:r>
                <a:r>
                  <a:rPr lang="en-US" dirty="0" smtClean="0"/>
                  <a:t>any black-box reduction must lose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 smtClean="0"/>
                  <a:t>.</a:t>
                </a:r>
                <a:endParaRPr lang="en-US" dirty="0" smtClean="0">
                  <a:solidFill>
                    <a:srgbClr val="FF6600"/>
                  </a:solidFill>
                </a:endParaRPr>
              </a:p>
              <a:p>
                <a:pPr marL="342900" indent="-342900">
                  <a:buFontTx/>
                  <a:buChar char="-"/>
                </a:pPr>
                <a:endParaRPr lang="en-US" sz="20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  <a:p>
                <a:endParaRPr lang="en-US" sz="2400" b="1" dirty="0" smtClean="0">
                  <a:solidFill>
                    <a:srgbClr val="FF6600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2" y="895528"/>
                <a:ext cx="8688388" cy="8133701"/>
              </a:xfrm>
              <a:prstGeom prst="rect">
                <a:avLst/>
              </a:prstGeom>
              <a:blipFill rotWithShape="1">
                <a:blip r:embed="rId3"/>
                <a:stretch>
                  <a:fillRect l="-772" t="-450" r="-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Reducing Mechanism to Algorithm Design: Welfare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1791723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41312" y="895528"/>
                <a:ext cx="8688388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</a:rPr>
                  <a:t>[</a:t>
                </a:r>
                <a:r>
                  <a:rPr lang="en-US" sz="2000" b="1" dirty="0" err="1" smtClean="0">
                    <a:solidFill>
                      <a:srgbClr val="FF6600"/>
                    </a:solidFill>
                  </a:rPr>
                  <a:t>Vickrey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‘61] </a:t>
                </a:r>
                <a:r>
                  <a:rPr lang="en-US" sz="2000" b="1" dirty="0" smtClean="0"/>
                  <a:t>+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[Clarke ‘71] </a:t>
                </a:r>
                <a:r>
                  <a:rPr lang="en-US" sz="2000" b="1" dirty="0" smtClean="0"/>
                  <a:t>+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[Groves ’73]: </a:t>
                </a:r>
                <a:r>
                  <a:rPr lang="en-US" sz="2000" dirty="0" smtClean="0"/>
                  <a:t>Optimal algorithm for welfare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 optimal mechanism for welfare.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>
                    <a:sym typeface="Wingdings" panose="05000000000000000000" pitchFamily="2" charset="2"/>
                  </a:rPr>
                  <a:t>Dominant Strategy truthful (not just BIC).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>
                    <a:sym typeface="Wingdings" panose="05000000000000000000" pitchFamily="2" charset="2"/>
                  </a:rPr>
                  <a:t>Prior-free guarantee (selects welfare-optimal outcome always).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b="1" dirty="0" smtClean="0">
                    <a:sym typeface="Wingdings" panose="05000000000000000000" pitchFamily="2" charset="2"/>
                  </a:rPr>
                  <a:t>But reduction breaks with approximation algorithms.</a:t>
                </a:r>
              </a:p>
              <a:p>
                <a:endParaRPr lang="en-US" b="1" dirty="0">
                  <a:solidFill>
                    <a:srgbClr val="FF6600"/>
                  </a:solidFill>
                  <a:sym typeface="Wingdings" panose="05000000000000000000" pitchFamily="2" charset="2"/>
                </a:endParaRPr>
              </a:p>
              <a:p>
                <a:r>
                  <a:rPr lang="en-US" sz="2000" b="1" dirty="0" smtClean="0"/>
                  <a:t>Approximation-preserving reduction without these extra properties?</a:t>
                </a:r>
                <a:endParaRPr lang="en-US" sz="2000" dirty="0"/>
              </a:p>
              <a:p>
                <a:pPr marL="342900" indent="-342900">
                  <a:buFontTx/>
                  <a:buChar char="-"/>
                </a:pPr>
                <a:r>
                  <a:rPr lang="en-US" sz="2000" dirty="0" smtClean="0"/>
                  <a:t>Yes, in all settings </a:t>
                </a:r>
                <a:r>
                  <a:rPr lang="en-US" sz="2000" dirty="0" smtClean="0">
                    <a:solidFill>
                      <a:srgbClr val="FF6600"/>
                    </a:solidFill>
                  </a:rPr>
                  <a:t>[HL ‘10, HKM ‘11, BH ‘11]</a:t>
                </a:r>
                <a:r>
                  <a:rPr lang="en-US" sz="2000" dirty="0" smtClean="0"/>
                  <a:t>.</a:t>
                </a:r>
                <a:r>
                  <a:rPr lang="en-US" sz="2000" dirty="0" smtClean="0">
                    <a:solidFill>
                      <a:srgbClr val="FF6600"/>
                    </a:solidFill>
                  </a:rPr>
                  <a:t> </a:t>
                </a:r>
                <a:r>
                  <a:rPr lang="en-US" sz="2000" dirty="0" smtClean="0"/>
                  <a:t>Specifically:</a:t>
                </a:r>
              </a:p>
              <a:p>
                <a:pPr marL="800100" lvl="1" indent="-3429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-approximate 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mechanism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with black-box access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-approximate 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algorithm.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/>
                  <a:t>For </a:t>
                </a:r>
                <a:r>
                  <a:rPr lang="en-US" b="1" dirty="0"/>
                  <a:t>mechanism</a:t>
                </a:r>
                <a:r>
                  <a:rPr lang="en-US" dirty="0"/>
                  <a:t> to work on all types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, need </a:t>
                </a:r>
                <a:r>
                  <a:rPr lang="en-US" b="1" dirty="0"/>
                  <a:t>algorithm</a:t>
                </a:r>
                <a:r>
                  <a:rPr lang="en-US" dirty="0"/>
                  <a:t> for all types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b="1" dirty="0" smtClean="0">
                    <a:solidFill>
                      <a:schemeClr val="tx1"/>
                    </a:solidFill>
                  </a:rPr>
                  <a:t>Caveat: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mechanism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𝜖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-BIC, loses additive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𝜖</m:t>
                    </m:r>
                  </m:oMath>
                </a14:m>
                <a:r>
                  <a:rPr lang="en-US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(same sampling error as Yang’s talk).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b="1" dirty="0" smtClean="0"/>
                  <a:t>(additional) Runtime: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𝑝𝑜𝑙𝑦</m:t>
                    </m:r>
                    <m:r>
                      <a:rPr lang="en-US" b="0" i="1" smtClean="0">
                        <a:latin typeface="Cambria Math"/>
                      </a:rPr>
                      <m:t>(#</m:t>
                    </m:r>
                    <m:r>
                      <a:rPr lang="en-US" b="0" i="1" smtClean="0">
                        <a:latin typeface="Cambria Math"/>
                      </a:rPr>
                      <m:t>𝑎𝑔𝑒𝑛𝑡𝑠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1/</m:t>
                    </m:r>
                    <m:r>
                      <a:rPr lang="en-US" b="0" i="1" smtClean="0">
                        <a:latin typeface="Cambria Math"/>
                      </a:rPr>
                      <m:t>𝜖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. </a:t>
                </a:r>
              </a:p>
              <a:p>
                <a:pPr marL="800100" lvl="1" indent="-342900">
                  <a:buFontTx/>
                  <a:buChar char="-"/>
                </a:pPr>
                <a:endParaRPr lang="en-US" sz="2400" b="1" dirty="0">
                  <a:solidFill>
                    <a:srgbClr val="FF6600"/>
                  </a:solidFill>
                </a:endParaRPr>
              </a:p>
              <a:p>
                <a:r>
                  <a:rPr lang="en-US" sz="2000" b="1" dirty="0" smtClean="0"/>
                  <a:t>Takeaways: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Approximation-preserving reduction challenging, even when exact reduction easy.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Bayesian setting necessary to accommodate approximation.</a:t>
                </a:r>
                <a:endParaRPr lang="en-US" sz="2000" dirty="0" smtClean="0"/>
              </a:p>
              <a:p>
                <a:endParaRPr lang="en-US" sz="2000" b="1" dirty="0" smtClean="0"/>
              </a:p>
              <a:p>
                <a:r>
                  <a:rPr lang="en-US" sz="2000" b="1" dirty="0" smtClean="0"/>
                  <a:t>Rest of Talk - targeting BIC mechanisms with average-case guarantees.</a:t>
                </a:r>
                <a:endParaRPr lang="en-US" sz="2000" b="1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2" y="895528"/>
                <a:ext cx="8688388" cy="5386090"/>
              </a:xfrm>
              <a:prstGeom prst="rect">
                <a:avLst/>
              </a:prstGeom>
              <a:blipFill rotWithShape="1">
                <a:blip r:embed="rId3"/>
                <a:stretch>
                  <a:fillRect l="-772" t="-680" b="-1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Reducing Mechanism to Algorithm Design: Welfare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01438215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41312" y="895528"/>
                <a:ext cx="8688388" cy="536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What about non-linear objectives (e.g. </a:t>
                </a:r>
                <a:r>
                  <a:rPr lang="en-US" sz="2000" b="1" dirty="0" err="1" smtClean="0"/>
                  <a:t>makespan</a:t>
                </a:r>
                <a:r>
                  <a:rPr lang="en-US" sz="2000" b="1" dirty="0" smtClean="0"/>
                  <a:t> or fairness)?</a:t>
                </a:r>
              </a:p>
              <a:p>
                <a:endParaRPr lang="en-US" sz="2400" b="1" dirty="0"/>
              </a:p>
              <a:p>
                <a:r>
                  <a:rPr lang="en-US" sz="2000" b="1" dirty="0" smtClean="0">
                    <a:solidFill>
                      <a:srgbClr val="FF6600"/>
                    </a:solidFill>
                  </a:rPr>
                  <a:t>[Chawla-</a:t>
                </a:r>
                <a:r>
                  <a:rPr lang="en-US" sz="2000" b="1" dirty="0" err="1" smtClean="0">
                    <a:solidFill>
                      <a:srgbClr val="FF6600"/>
                    </a:solidFill>
                  </a:rPr>
                  <a:t>Immorlica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-</a:t>
                </a:r>
                <a:r>
                  <a:rPr lang="en-US" sz="2000" b="1" dirty="0" err="1" smtClean="0">
                    <a:solidFill>
                      <a:srgbClr val="FF6600"/>
                    </a:solidFill>
                  </a:rPr>
                  <a:t>Lucier</a:t>
                </a:r>
                <a:r>
                  <a:rPr lang="en-US" sz="2000" b="1" dirty="0" smtClean="0">
                    <a:solidFill>
                      <a:srgbClr val="FF6600"/>
                    </a:solidFill>
                  </a:rPr>
                  <a:t> ‘12]: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Any “strong,” computationally efficient black-box reduction for </a:t>
                </a:r>
                <a:r>
                  <a:rPr lang="en-US" sz="2000" dirty="0" err="1" smtClean="0">
                    <a:solidFill>
                      <a:schemeClr val="tx1"/>
                    </a:solidFill>
                  </a:rPr>
                  <a:t>makespan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loses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# 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𝑚𝑎𝑐h𝑖𝑛𝑒𝑠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1/4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, even in simple Bayesian settings.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Qualifications: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>
                    <a:solidFill>
                      <a:schemeClr val="tx1"/>
                    </a:solidFill>
                  </a:rPr>
                  <a:t>“strong” = mechanism/algorithm design problem are </a:t>
                </a:r>
                <a:r>
                  <a:rPr lang="en-US" i="1" dirty="0" smtClean="0">
                    <a:solidFill>
                      <a:schemeClr val="tx1"/>
                    </a:solidFill>
                  </a:rPr>
                  <a:t>the same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. 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/>
                  <a:t>“simple” = single-dimensional, any machine can process any job.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/>
                  <a:t>“Bayesian settings” = ask for BIC mechanism with average-case guarantee.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>
                    <a:solidFill>
                      <a:schemeClr val="tx1"/>
                    </a:solidFill>
                  </a:rPr>
                  <a:t>Even though a PTAS exists for mechanism design </a:t>
                </a:r>
                <a:r>
                  <a:rPr lang="en-US" b="1" dirty="0" smtClean="0">
                    <a:solidFill>
                      <a:srgbClr val="FF6600"/>
                    </a:solidFill>
                  </a:rPr>
                  <a:t>[DDDR ‘09].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dirty="0" smtClean="0">
                    <a:solidFill>
                      <a:schemeClr val="tx1"/>
                    </a:solidFill>
                  </a:rPr>
                  <a:t>And this is the best possible even for algorithm design 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𝑁𝑃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sz="2000" b="1" dirty="0" smtClean="0"/>
              </a:p>
              <a:p>
                <a:r>
                  <a:rPr lang="en-US" sz="2000" b="1" dirty="0" smtClean="0"/>
                  <a:t>Takeaways</a:t>
                </a:r>
                <a:r>
                  <a:rPr lang="en-US" sz="2000" b="1" dirty="0"/>
                  <a:t>: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Non-linear objectives are subtle: exist settings where mechanisms can do just as well as algorithms, but no reduction exists.</a:t>
                </a:r>
                <a:endParaRPr lang="en-US" dirty="0"/>
              </a:p>
              <a:p>
                <a:endParaRPr lang="en-US" dirty="0"/>
              </a:p>
              <a:p>
                <a:pPr marL="342900" indent="-342900">
                  <a:buFontTx/>
                  <a:buChar char="-"/>
                </a:pPr>
                <a:r>
                  <a:rPr lang="en-US" dirty="0" smtClean="0"/>
                  <a:t>Need to somehow </a:t>
                </a:r>
                <a:r>
                  <a:rPr lang="en-US" i="1" dirty="0" smtClean="0"/>
                  <a:t>perturb</a:t>
                </a:r>
                <a:r>
                  <a:rPr lang="en-US" b="1" i="1" dirty="0" smtClean="0"/>
                  <a:t> </a:t>
                </a:r>
                <a:r>
                  <a:rPr lang="en-US" dirty="0" smtClean="0"/>
                  <a:t>algorithmic problem in reduction to possibly accommodate </a:t>
                </a:r>
                <a:r>
                  <a:rPr lang="en-US" dirty="0" err="1" smtClean="0"/>
                  <a:t>makespan</a:t>
                </a:r>
                <a:r>
                  <a:rPr lang="en-US" dirty="0" smtClean="0"/>
                  <a:t>.</a:t>
                </a:r>
                <a:endParaRPr lang="en-US" sz="2000" b="1" dirty="0" smtClean="0">
                  <a:solidFill>
                    <a:srgbClr val="FF6600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2" y="895528"/>
                <a:ext cx="8688388" cy="5366854"/>
              </a:xfrm>
              <a:prstGeom prst="rect">
                <a:avLst/>
              </a:prstGeom>
              <a:blipFill rotWithShape="1">
                <a:blip r:embed="rId3"/>
                <a:stretch>
                  <a:fillRect l="-772" t="-568" r="-632"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Reducing Mechanism to Algorithm Design: </a:t>
            </a:r>
            <a:r>
              <a:rPr lang="en-US" dirty="0" err="1" smtClean="0"/>
              <a:t>Makespan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73929796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05799823"/>
              </p:ext>
            </p:extLst>
          </p:nvPr>
        </p:nvGraphicFramePr>
        <p:xfrm>
          <a:off x="301625" y="1600200"/>
          <a:ext cx="8537576" cy="28448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268788"/>
                <a:gridCol w="4268788"/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solidFill>
                            <a:srgbClr val="000004"/>
                          </a:solidFill>
                          <a:latin typeface="Times New Roman"/>
                          <a:cs typeface="Times New Roman"/>
                        </a:rPr>
                        <a:t>Mechanism</a:t>
                      </a:r>
                      <a:r>
                        <a:rPr lang="en-US" sz="2200" baseline="0" dirty="0" smtClean="0">
                          <a:solidFill>
                            <a:srgbClr val="000004"/>
                          </a:solidFill>
                          <a:latin typeface="Times New Roman"/>
                          <a:cs typeface="Times New Roman"/>
                        </a:rPr>
                        <a:t> Design Objective</a:t>
                      </a:r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solidFill>
                            <a:srgbClr val="000004"/>
                          </a:solidFill>
                          <a:latin typeface="Times New Roman"/>
                          <a:cs typeface="Times New Roman"/>
                        </a:rPr>
                        <a:t>Algorithm Design Objective</a:t>
                      </a:r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endParaRPr lang="en-US" sz="2200" b="1" i="1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 smtClean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 bwMode="auto">
          <a:xfrm>
            <a:off x="4343400" y="2667000"/>
            <a:ext cx="533400" cy="1588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6111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4343400" y="3429000"/>
            <a:ext cx="533400" cy="1588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6111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4343400" y="4114800"/>
            <a:ext cx="533400" cy="1588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6111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Reducing Mechanism to Algorithm Design</a:t>
            </a:r>
            <a:endParaRPr lang="en-US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41312" y="5297108"/>
                <a:ext cx="8537576" cy="1366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Virtual Welfare: </a:t>
                </a:r>
                <a:r>
                  <a:rPr lang="en-US" sz="2000" dirty="0" smtClean="0"/>
                  <a:t>Each agent has “virtual type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(may or may not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). Virtual welfare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Valid virtual type</a:t>
                </a:r>
                <a:r>
                  <a:rPr lang="en-US" sz="2000" dirty="0" smtClean="0"/>
                  <a:t> = linear combination of valid types.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2" y="5297108"/>
                <a:ext cx="8537576" cy="1366977"/>
              </a:xfrm>
              <a:prstGeom prst="rect">
                <a:avLst/>
              </a:prstGeom>
              <a:blipFill rotWithShape="1">
                <a:blip r:embed="rId2"/>
                <a:stretch>
                  <a:fillRect l="-785" t="-13393" b="-5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2" name="TextBox 11"/>
              <p:cNvSpPr txBox="1"/>
              <p:nvPr/>
            </p:nvSpPr>
            <p:spPr>
              <a:xfrm>
                <a:off x="5109882" y="3865819"/>
                <a:ext cx="356288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/>
                  <a:t>Can’t be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2200" dirty="0" smtClean="0"/>
                  <a:t>! </a:t>
                </a:r>
                <a:r>
                  <a:rPr lang="en-US" sz="2200" dirty="0" smtClean="0">
                    <a:solidFill>
                      <a:srgbClr val="FF6600"/>
                    </a:solidFill>
                  </a:rPr>
                  <a:t>[CIL]</a:t>
                </a:r>
                <a:endParaRPr lang="en-US" sz="2200" dirty="0">
                  <a:solidFill>
                    <a:srgbClr val="FF6600"/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882" y="3865819"/>
                <a:ext cx="3562887" cy="430887"/>
              </a:xfrm>
              <a:prstGeom prst="rect">
                <a:avLst/>
              </a:prstGeom>
              <a:blipFill rotWithShape="1">
                <a:blip r:embed="rId3"/>
                <a:stretch>
                  <a:fillRect t="-8451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109882" y="2450368"/>
            <a:ext cx="35628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Welfare </a:t>
            </a:r>
            <a:r>
              <a:rPr lang="en-US" sz="2200" dirty="0" smtClean="0">
                <a:solidFill>
                  <a:srgbClr val="FF6600"/>
                </a:solidFill>
              </a:rPr>
              <a:t>[VCG, HL, HKM, BH]</a:t>
            </a:r>
            <a:endParaRPr lang="en-US" sz="2200" dirty="0"/>
          </a:p>
        </p:txBody>
      </p:sp>
      <p:sp>
        <p:nvSpPr>
          <p:cNvPr id="11" name="TextBox 10"/>
          <p:cNvSpPr txBox="1"/>
          <p:nvPr/>
        </p:nvSpPr>
        <p:spPr>
          <a:xfrm>
            <a:off x="4966789" y="3215144"/>
            <a:ext cx="39376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Virtual Welfare </a:t>
            </a:r>
            <a:r>
              <a:rPr lang="en-US" sz="2200" dirty="0" smtClean="0">
                <a:solidFill>
                  <a:srgbClr val="FF6600"/>
                </a:solidFill>
              </a:rPr>
              <a:t>[Myerson, CDW]</a:t>
            </a:r>
            <a:endParaRPr lang="en-US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683111" y="2453144"/>
            <a:ext cx="35628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/>
              <a:t>Welfare</a:t>
            </a:r>
            <a:endParaRPr lang="en-US" sz="2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80512" y="3186055"/>
            <a:ext cx="34654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/>
              <a:t>Revenue</a:t>
            </a:r>
            <a:endParaRPr lang="en-US" sz="2200" b="1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5" name="TextBox 14"/>
              <p:cNvSpPr txBox="1"/>
              <p:nvPr/>
            </p:nvSpPr>
            <p:spPr>
              <a:xfrm>
                <a:off x="683111" y="3876491"/>
                <a:ext cx="356288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 smtClean="0"/>
                  <a:t>General Objective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/>
                      </a:rPr>
                      <m:t>𝑶</m:t>
                    </m:r>
                  </m:oMath>
                </a14:m>
                <a:endParaRPr lang="en-US" sz="2200" b="1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11" y="3876491"/>
                <a:ext cx="3562888" cy="430887"/>
              </a:xfrm>
              <a:prstGeom prst="rect">
                <a:avLst/>
              </a:prstGeom>
              <a:blipFill rotWithShape="1">
                <a:blip r:embed="rId4"/>
                <a:stretch>
                  <a:fillRect t="-8451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8057291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74457215"/>
              </p:ext>
            </p:extLst>
          </p:nvPr>
        </p:nvGraphicFramePr>
        <p:xfrm>
          <a:off x="301625" y="1600200"/>
          <a:ext cx="8537576" cy="28448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268788"/>
                <a:gridCol w="4268788"/>
              </a:tblGrid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solidFill>
                            <a:srgbClr val="000004"/>
                          </a:solidFill>
                          <a:latin typeface="Times New Roman"/>
                          <a:cs typeface="Times New Roman"/>
                        </a:rPr>
                        <a:t>Mechanism</a:t>
                      </a:r>
                      <a:r>
                        <a:rPr lang="en-US" sz="2200" baseline="0" dirty="0" smtClean="0">
                          <a:solidFill>
                            <a:srgbClr val="000004"/>
                          </a:solidFill>
                          <a:latin typeface="Times New Roman"/>
                          <a:cs typeface="Times New Roman"/>
                        </a:rPr>
                        <a:t> Design Objective</a:t>
                      </a:r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solidFill>
                            <a:srgbClr val="000004"/>
                          </a:solidFill>
                          <a:latin typeface="Times New Roman"/>
                          <a:cs typeface="Times New Roman"/>
                        </a:rPr>
                        <a:t>Algorithm Design Objective</a:t>
                      </a:r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dirty="0" smtClean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endParaRPr lang="en-US" sz="2200" b="1" i="1" dirty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 smtClean="0">
                        <a:solidFill>
                          <a:srgbClr val="000004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 bwMode="auto">
          <a:xfrm>
            <a:off x="4343400" y="2667000"/>
            <a:ext cx="533400" cy="1588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6111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4343400" y="3429000"/>
            <a:ext cx="533400" cy="1588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6111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4343400" y="4114800"/>
            <a:ext cx="533400" cy="1588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6111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Up Arrow Callout 9"/>
          <p:cNvSpPr/>
          <p:nvPr/>
        </p:nvSpPr>
        <p:spPr bwMode="auto">
          <a:xfrm>
            <a:off x="5396734" y="4445000"/>
            <a:ext cx="2880809" cy="822960"/>
          </a:xfrm>
          <a:prstGeom prst="upArrowCallou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/>
            <a:r>
              <a:rPr lang="en-US" sz="2200" dirty="0" smtClean="0">
                <a:latin typeface="Times New Roman"/>
                <a:cs typeface="Times New Roman"/>
              </a:rPr>
              <a:t>[This Talk]</a:t>
            </a:r>
            <a:endParaRPr lang="en-US" sz="2200" dirty="0">
              <a:latin typeface="Times New Roman"/>
              <a:cs typeface="Times New Roman"/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9" name="TextBox 8"/>
              <p:cNvSpPr txBox="1"/>
              <p:nvPr/>
            </p:nvSpPr>
            <p:spPr>
              <a:xfrm>
                <a:off x="5763062" y="3876490"/>
                <a:ext cx="258481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0004"/>
                        </a:solidFill>
                        <a:latin typeface="Cambria Math"/>
                        <a:cs typeface="Times New Roman"/>
                      </a:rPr>
                      <m:t>𝑶</m:t>
                    </m:r>
                  </m:oMath>
                </a14:m>
                <a:r>
                  <a:rPr lang="en-US" sz="2200" b="1" dirty="0" smtClean="0">
                    <a:solidFill>
                      <a:srgbClr val="000004"/>
                    </a:solidFill>
                    <a:latin typeface="Times New Roman"/>
                    <a:cs typeface="Times New Roman"/>
                  </a:rPr>
                  <a:t> + Virtual Welfare</a:t>
                </a:r>
                <a:endParaRPr lang="en-US" sz="2200" dirty="0">
                  <a:solidFill>
                    <a:srgbClr val="000004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062" y="3876490"/>
                <a:ext cx="2584810" cy="430887"/>
              </a:xfrm>
              <a:prstGeom prst="rect">
                <a:avLst/>
              </a:prstGeom>
              <a:blipFill rotWithShape="1">
                <a:blip r:embed="rId2"/>
                <a:stretch>
                  <a:fillRect t="-8451" r="-943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Reducing Mechanism to Algorithm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9882" y="2450368"/>
            <a:ext cx="35628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Welfare </a:t>
            </a:r>
            <a:r>
              <a:rPr lang="en-US" sz="2200" dirty="0" smtClean="0">
                <a:solidFill>
                  <a:srgbClr val="FF6600"/>
                </a:solidFill>
              </a:rPr>
              <a:t>[VCG, HL, HKM, BH]</a:t>
            </a:r>
            <a:endParaRPr lang="en-US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4966789" y="3215144"/>
            <a:ext cx="39376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Virtual Welfare </a:t>
            </a:r>
            <a:r>
              <a:rPr lang="en-US" sz="2200" dirty="0" smtClean="0">
                <a:solidFill>
                  <a:srgbClr val="FF6600"/>
                </a:solidFill>
              </a:rPr>
              <a:t>[Myerson, CDW]</a:t>
            </a:r>
            <a:endParaRPr lang="en-US" sz="2200" dirty="0"/>
          </a:p>
        </p:txBody>
      </p:sp>
      <p:sp>
        <p:nvSpPr>
          <p:cNvPr id="16" name="TextBox 15"/>
          <p:cNvSpPr txBox="1"/>
          <p:nvPr/>
        </p:nvSpPr>
        <p:spPr>
          <a:xfrm>
            <a:off x="683111" y="2453144"/>
            <a:ext cx="35628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/>
              <a:t>Welfare</a:t>
            </a:r>
            <a:endParaRPr lang="en-US" sz="2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80512" y="3186055"/>
            <a:ext cx="34654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/>
              <a:t>Revenue</a:t>
            </a:r>
            <a:endParaRPr lang="en-US" sz="2200" b="1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8" name="TextBox 17"/>
              <p:cNvSpPr txBox="1"/>
              <p:nvPr/>
            </p:nvSpPr>
            <p:spPr>
              <a:xfrm>
                <a:off x="683111" y="3876491"/>
                <a:ext cx="356288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 smtClean="0"/>
                  <a:t>General Objective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latin typeface="Cambria Math"/>
                      </a:rPr>
                      <m:t>𝑶</m:t>
                    </m:r>
                  </m:oMath>
                </a14:m>
                <a:endParaRPr lang="en-US" sz="2200" b="1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11" y="3876491"/>
                <a:ext cx="3562888" cy="430887"/>
              </a:xfrm>
              <a:prstGeom prst="rect">
                <a:avLst/>
              </a:prstGeom>
              <a:blipFill rotWithShape="1">
                <a:blip r:embed="rId3"/>
                <a:stretch>
                  <a:fillRect t="-8451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9" name="TextBox 18"/>
              <p:cNvSpPr txBox="1"/>
              <p:nvPr/>
            </p:nvSpPr>
            <p:spPr>
              <a:xfrm>
                <a:off x="341312" y="5297108"/>
                <a:ext cx="8537576" cy="1366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Virtual Welfare: </a:t>
                </a:r>
                <a:r>
                  <a:rPr lang="en-US" sz="2000" dirty="0" smtClean="0"/>
                  <a:t>Each agent has “virtual type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(may or may not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). Virtual welfare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Valid virtual type</a:t>
                </a:r>
                <a:r>
                  <a:rPr lang="en-US" sz="2000" dirty="0" smtClean="0"/>
                  <a:t> = linear combination of valid types.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12" y="5297108"/>
                <a:ext cx="8537576" cy="1366977"/>
              </a:xfrm>
              <a:prstGeom prst="rect">
                <a:avLst/>
              </a:prstGeom>
              <a:blipFill rotWithShape="1">
                <a:blip r:embed="rId4"/>
                <a:stretch>
                  <a:fillRect l="-785" t="-13393" b="-5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13713419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 smtClean="0">
                    <a:solidFill>
                      <a:srgbClr val="008000"/>
                    </a:solidFill>
                  </a:rPr>
                  <a:t>Theorem [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Cai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Daskalakis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-W. ‘13b]: </a:t>
                </a:r>
                <a:r>
                  <a:rPr lang="en-US" sz="2200" dirty="0" smtClean="0"/>
                  <a:t>Polynomial-time reduction from mechanism design for objective </a:t>
                </a:r>
                <a:r>
                  <a:rPr lang="en-US" sz="2200" i="1" dirty="0" smtClean="0"/>
                  <a:t>O </a:t>
                </a:r>
                <a:r>
                  <a:rPr lang="en-US" sz="2200" dirty="0" smtClean="0"/>
                  <a:t>to algorithm design for </a:t>
                </a:r>
                <a:r>
                  <a:rPr lang="en-US" sz="2200" b="1" dirty="0" smtClean="0"/>
                  <a:t>same objective </a:t>
                </a:r>
                <a:r>
                  <a:rPr lang="en-US" sz="2200" b="1" i="1" dirty="0" smtClean="0"/>
                  <a:t>O</a:t>
                </a:r>
                <a:r>
                  <a:rPr lang="en-US" sz="2200" b="1" dirty="0" smtClean="0"/>
                  <a:t> plus virtual welfare</a:t>
                </a:r>
                <a:r>
                  <a:rPr lang="en-US" sz="2200" dirty="0" smtClean="0"/>
                  <a:t>.</a:t>
                </a:r>
              </a:p>
              <a:p>
                <a:endParaRPr lang="en-US" sz="2200" dirty="0"/>
              </a:p>
              <a:p>
                <a:pPr lvl="1"/>
                <a:r>
                  <a:rPr lang="en-US" sz="1800" dirty="0" smtClean="0"/>
                  <a:t>Randomly assigns each agent a virtual type (computed by LP).</a:t>
                </a:r>
              </a:p>
              <a:p>
                <a:pPr lvl="1"/>
                <a:r>
                  <a:rPr lang="en-US" sz="1800" dirty="0" smtClean="0"/>
                  <a:t>Inputs all types and virtual types to algorithm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1800" dirty="0" smtClean="0"/>
                  <a:t> + welfare.</a:t>
                </a:r>
              </a:p>
              <a:p>
                <a:endParaRPr lang="en-US" sz="2200" dirty="0"/>
              </a:p>
              <a:p>
                <a:endParaRPr lang="en-US" sz="22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800" t="-564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Result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1469" t="8611" r="31984" b="41875"/>
          <a:stretch/>
        </p:blipFill>
        <p:spPr>
          <a:xfrm>
            <a:off x="466026" y="3667776"/>
            <a:ext cx="767192" cy="767192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0871" t="9011" r="18601" b="28111"/>
          <a:stretch/>
        </p:blipFill>
        <p:spPr>
          <a:xfrm>
            <a:off x="441905" y="5390619"/>
            <a:ext cx="767192" cy="767406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2089" b="30727"/>
          <a:stretch/>
        </p:blipFill>
        <p:spPr>
          <a:xfrm rot="20915308">
            <a:off x="449380" y="4518285"/>
            <a:ext cx="767192" cy="767192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TextBox 15"/>
          <p:cNvSpPr txBox="1"/>
          <p:nvPr/>
        </p:nvSpPr>
        <p:spPr>
          <a:xfrm>
            <a:off x="823077" y="3197483"/>
            <a:ext cx="2257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Times" pitchFamily="18" charset="0"/>
                <a:ea typeface="Tahoma" pitchFamily="34" charset="0"/>
                <a:cs typeface="Times" pitchFamily="18" charset="0"/>
              </a:rPr>
              <a:t>Reported Types</a:t>
            </a:r>
            <a:endParaRPr lang="en-US" sz="1600" b="1" dirty="0" smtClean="0">
              <a:solidFill>
                <a:srgbClr val="0070C0"/>
              </a:solidFill>
              <a:latin typeface="Times" pitchFamily="18" charset="0"/>
              <a:ea typeface="Tahoma" pitchFamily="34" charset="0"/>
              <a:cs typeface="Times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1811" y="3197482"/>
            <a:ext cx="2265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Times" pitchFamily="18" charset="0"/>
                <a:ea typeface="Tahoma" pitchFamily="34" charset="0"/>
                <a:cs typeface="Times" pitchFamily="18" charset="0"/>
              </a:rPr>
              <a:t>Virtual Types</a:t>
            </a:r>
            <a:endParaRPr lang="en-US" sz="1600" b="1" dirty="0" smtClean="0">
              <a:solidFill>
                <a:srgbClr val="0070C0"/>
              </a:solidFill>
              <a:latin typeface="Times" pitchFamily="18" charset="0"/>
              <a:ea typeface="Tahoma" pitchFamily="34" charset="0"/>
              <a:cs typeface="Times" pitchFamily="18" charset="0"/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1336569" y="3820539"/>
                <a:ext cx="530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/>
                            </a:rPr>
                            <m:t>𝒕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9" y="3820539"/>
                <a:ext cx="530850" cy="461665"/>
              </a:xfrm>
              <a:prstGeom prst="rect">
                <a:avLst/>
              </a:prstGeom>
              <a:blipFill rotWithShape="1">
                <a:blip r:embed="rId7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9" name="TextBox 18"/>
              <p:cNvSpPr txBox="1"/>
              <p:nvPr/>
            </p:nvSpPr>
            <p:spPr>
              <a:xfrm>
                <a:off x="1330171" y="4671048"/>
                <a:ext cx="5308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/>
                            </a:rPr>
                            <m:t>𝒕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171" y="4671048"/>
                <a:ext cx="530851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0" name="TextBox 19"/>
              <p:cNvSpPr txBox="1"/>
              <p:nvPr/>
            </p:nvSpPr>
            <p:spPr>
              <a:xfrm>
                <a:off x="1336569" y="5543489"/>
                <a:ext cx="5308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/>
                            </a:rPr>
                            <m:t>𝒕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9" y="5543489"/>
                <a:ext cx="530851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Arrow 20"/>
          <p:cNvSpPr/>
          <p:nvPr/>
        </p:nvSpPr>
        <p:spPr>
          <a:xfrm>
            <a:off x="1861021" y="3820539"/>
            <a:ext cx="1649089" cy="4753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1867420" y="5529830"/>
            <a:ext cx="1649089" cy="4753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1867420" y="4671048"/>
            <a:ext cx="1649089" cy="4753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4" name="TextBox 23"/>
              <p:cNvSpPr txBox="1"/>
              <p:nvPr/>
            </p:nvSpPr>
            <p:spPr>
              <a:xfrm>
                <a:off x="3516509" y="3820538"/>
                <a:ext cx="530850" cy="463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09" y="3820538"/>
                <a:ext cx="530850" cy="463332"/>
              </a:xfrm>
              <a:prstGeom prst="rect">
                <a:avLst/>
              </a:prstGeom>
              <a:blipFill rotWithShape="1">
                <a:blip r:embed="rId10"/>
                <a:stretch>
                  <a:fillRect t="-11842" r="-19540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5" name="TextBox 24"/>
              <p:cNvSpPr txBox="1"/>
              <p:nvPr/>
            </p:nvSpPr>
            <p:spPr>
              <a:xfrm>
                <a:off x="3510111" y="4671047"/>
                <a:ext cx="530850" cy="463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11" y="4671047"/>
                <a:ext cx="530850" cy="463332"/>
              </a:xfrm>
              <a:prstGeom prst="rect">
                <a:avLst/>
              </a:prstGeom>
              <a:blipFill rotWithShape="1">
                <a:blip r:embed="rId11"/>
                <a:stretch>
                  <a:fillRect t="-11842" r="-19540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6" name="TextBox 25"/>
              <p:cNvSpPr txBox="1"/>
              <p:nvPr/>
            </p:nvSpPr>
            <p:spPr>
              <a:xfrm>
                <a:off x="3516509" y="5543488"/>
                <a:ext cx="530850" cy="463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509" y="5543488"/>
                <a:ext cx="530850" cy="463332"/>
              </a:xfrm>
              <a:prstGeom prst="rect">
                <a:avLst/>
              </a:prstGeom>
              <a:blipFill rotWithShape="1">
                <a:blip r:embed="rId12"/>
                <a:stretch>
                  <a:fillRect t="-11842" r="-19540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4982299" y="3820538"/>
            <a:ext cx="2567827" cy="2276128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8" name="TextBox 27"/>
              <p:cNvSpPr txBox="1"/>
              <p:nvPr/>
            </p:nvSpPr>
            <p:spPr>
              <a:xfrm>
                <a:off x="4982300" y="3820540"/>
                <a:ext cx="2567826" cy="1632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000" b="1" dirty="0" smtClean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Algorithm optimizing: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𝑶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1" i="1" dirty="0" smtClean="0">
                  <a:solidFill>
                    <a:schemeClr val="bg1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𝑾𝒆𝒍𝒇𝒂𝒓𝒆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2000" b="1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0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00" y="3820540"/>
                <a:ext cx="2567826" cy="1632691"/>
              </a:xfrm>
              <a:prstGeom prst="rect">
                <a:avLst/>
              </a:prstGeom>
              <a:blipFill rotWithShape="1">
                <a:blip r:embed="rId13"/>
                <a:stretch>
                  <a:fillRect l="-948" r="-7109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/>
          <p:cNvCxnSpPr/>
          <p:nvPr/>
        </p:nvCxnSpPr>
        <p:spPr>
          <a:xfrm>
            <a:off x="1764122" y="4165948"/>
            <a:ext cx="3129625" cy="142012"/>
          </a:xfrm>
          <a:prstGeom prst="curvedConnector3">
            <a:avLst>
              <a:gd name="adj1" fmla="val 2329"/>
            </a:avLst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26" idx="3"/>
          </p:cNvCxnSpPr>
          <p:nvPr/>
        </p:nvCxnSpPr>
        <p:spPr>
          <a:xfrm>
            <a:off x="4047359" y="5775154"/>
            <a:ext cx="846390" cy="12700"/>
          </a:xfrm>
          <a:prstGeom prst="curvedConnector3">
            <a:avLst>
              <a:gd name="adj1" fmla="val 50000"/>
            </a:avLst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25" idx="3"/>
          </p:cNvCxnSpPr>
          <p:nvPr/>
        </p:nvCxnSpPr>
        <p:spPr>
          <a:xfrm flipV="1">
            <a:off x="4040961" y="4901880"/>
            <a:ext cx="852788" cy="833"/>
          </a:xfrm>
          <a:prstGeom prst="curvedConnector3">
            <a:avLst>
              <a:gd name="adj1" fmla="val 50000"/>
            </a:avLst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/>
          <p:cNvCxnSpPr>
            <a:stCxn id="24" idx="3"/>
          </p:cNvCxnSpPr>
          <p:nvPr/>
        </p:nvCxnSpPr>
        <p:spPr>
          <a:xfrm>
            <a:off x="4047359" y="4052204"/>
            <a:ext cx="852788" cy="5998"/>
          </a:xfrm>
          <a:prstGeom prst="curvedConnector3">
            <a:avLst>
              <a:gd name="adj1" fmla="val 50000"/>
            </a:avLst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urved Connector 59"/>
          <p:cNvCxnSpPr/>
          <p:nvPr/>
        </p:nvCxnSpPr>
        <p:spPr>
          <a:xfrm>
            <a:off x="1770522" y="5004360"/>
            <a:ext cx="3129625" cy="142012"/>
          </a:xfrm>
          <a:prstGeom prst="curvedConnector3">
            <a:avLst>
              <a:gd name="adj1" fmla="val 2329"/>
            </a:avLst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/>
          <p:cNvCxnSpPr/>
          <p:nvPr/>
        </p:nvCxnSpPr>
        <p:spPr>
          <a:xfrm>
            <a:off x="1764124" y="5883642"/>
            <a:ext cx="3129625" cy="142012"/>
          </a:xfrm>
          <a:prstGeom prst="curvedConnector3">
            <a:avLst>
              <a:gd name="adj1" fmla="val 2329"/>
            </a:avLst>
          </a:prstGeom>
          <a:ln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ight Arrow 62"/>
          <p:cNvSpPr/>
          <p:nvPr/>
        </p:nvSpPr>
        <p:spPr>
          <a:xfrm>
            <a:off x="7646382" y="4665051"/>
            <a:ext cx="576997" cy="4753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 descr="https://encrypted-tbn1.gstatic.com/images?q=tbn:ANd9GcTltSRR3eWAJ7D1QB7lqSpCLGZZ3PqnMcYp-9quKCWNtW6T3OnOfQ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83538" y="4515870"/>
            <a:ext cx="772019" cy="7720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24023358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 smtClean="0">
                    <a:solidFill>
                      <a:srgbClr val="008000"/>
                    </a:solidFill>
                  </a:rPr>
                  <a:t>Theorem [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Cai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Daskalakis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-W. ‘13b]: </a:t>
                </a:r>
                <a:r>
                  <a:rPr lang="en-US" sz="2200" dirty="0" smtClean="0"/>
                  <a:t>Polynomial-time reduction from mechanism design for objective </a:t>
                </a:r>
                <a:r>
                  <a:rPr lang="en-US" sz="2200" i="1" dirty="0" smtClean="0"/>
                  <a:t>O </a:t>
                </a:r>
                <a:r>
                  <a:rPr lang="en-US" sz="2200" dirty="0" smtClean="0"/>
                  <a:t>to algorithm design for </a:t>
                </a:r>
                <a:r>
                  <a:rPr lang="en-US" sz="2200" b="1" dirty="0" smtClean="0"/>
                  <a:t>same objective </a:t>
                </a:r>
                <a:r>
                  <a:rPr lang="en-US" sz="2200" b="1" i="1" dirty="0" smtClean="0"/>
                  <a:t>O</a:t>
                </a:r>
                <a:r>
                  <a:rPr lang="en-US" sz="2200" b="1" dirty="0" smtClean="0"/>
                  <a:t> plus virtual welfare</a:t>
                </a:r>
                <a:r>
                  <a:rPr lang="en-US" sz="2200" dirty="0" smtClean="0"/>
                  <a:t>.</a:t>
                </a:r>
              </a:p>
              <a:p>
                <a:endParaRPr lang="en-US" sz="2200" dirty="0"/>
              </a:p>
              <a:p>
                <a:pPr lvl="1"/>
                <a:r>
                  <a:rPr lang="en-US" sz="1800" dirty="0" smtClean="0"/>
                  <a:t>Randomly assigns each agent a virtual type (computed by LP).</a:t>
                </a:r>
              </a:p>
              <a:p>
                <a:pPr lvl="1"/>
                <a:r>
                  <a:rPr lang="en-US" sz="1800" dirty="0" smtClean="0"/>
                  <a:t>Inputs all types and virtual types to algorithm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1800" dirty="0" smtClean="0"/>
                  <a:t> + welfare.</a:t>
                </a:r>
              </a:p>
              <a:p>
                <a:pPr lvl="1"/>
                <a:r>
                  <a:rPr lang="en-US" sz="1800" dirty="0" smtClean="0"/>
                  <a:t>Charges prices to ensure truthfulness (computed by LP). </a:t>
                </a:r>
              </a:p>
              <a:p>
                <a:endParaRPr lang="en-US" sz="2600" dirty="0" smtClean="0"/>
              </a:p>
              <a:p>
                <a:r>
                  <a:rPr lang="en-US" sz="2000" dirty="0" smtClean="0"/>
                  <a:t>Properties:</a:t>
                </a:r>
              </a:p>
              <a:p>
                <a:pPr lvl="1"/>
                <a:r>
                  <a:rPr lang="en-US" sz="1800" dirty="0" smtClean="0"/>
                  <a:t>Approximation-preserving: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with black-box access 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 smtClean="0"/>
                  <a:t>algorithm. </a:t>
                </a:r>
                <a:r>
                  <a:rPr lang="en-US" sz="1800" dirty="0" smtClean="0"/>
                  <a:t>Also accommodates bi-criterion approximations.</a:t>
                </a:r>
                <a:endParaRPr lang="en-US" sz="1800" b="1" dirty="0" smtClean="0"/>
              </a:p>
              <a:p>
                <a:pPr lvl="1"/>
                <a:r>
                  <a:rPr lang="en-US" sz="1800" dirty="0" smtClean="0"/>
                  <a:t>For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to work on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/>
                  <a:t>, need </a:t>
                </a:r>
                <a:r>
                  <a:rPr lang="en-US" sz="1800" b="1" dirty="0"/>
                  <a:t>algorithm</a:t>
                </a:r>
                <a:r>
                  <a:rPr lang="en-US" sz="1800" dirty="0"/>
                  <a:t> for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 smtClean="0"/>
                  <a:t>, virtual types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 smtClean="0"/>
                  <a:t>.</a:t>
                </a:r>
                <a:endParaRPr lang="en-US" sz="1800" dirty="0"/>
              </a:p>
              <a:p>
                <a:pPr lvl="1"/>
                <a:r>
                  <a:rPr lang="en-US" sz="1800" b="1" dirty="0"/>
                  <a:t>Caveat: </a:t>
                </a:r>
                <a:r>
                  <a:rPr lang="en-US" sz="1800" dirty="0"/>
                  <a:t>mechanism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dirty="0"/>
                  <a:t>-BIC, loses additive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(same sampling error as Yang’s talk</a:t>
                </a:r>
                <a:r>
                  <a:rPr lang="en-US" sz="1800" dirty="0" smtClean="0"/>
                  <a:t>).</a:t>
                </a:r>
              </a:p>
              <a:p>
                <a:pPr lvl="1"/>
                <a:r>
                  <a:rPr lang="en-US" sz="1800" b="1" dirty="0" smtClean="0"/>
                  <a:t>(additional) Runtime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𝑝𝑜𝑙𝑦</m:t>
                    </m:r>
                    <m:r>
                      <a:rPr lang="en-US" sz="1800" i="1">
                        <a:latin typeface="Cambria Math"/>
                      </a:rPr>
                      <m:t>(#</m:t>
                    </m:r>
                    <m:r>
                      <a:rPr lang="en-US" sz="1800" i="1">
                        <a:latin typeface="Cambria Math"/>
                      </a:rPr>
                      <m:t>𝑎𝑔𝑒𝑛𝑡𝑠</m:t>
                    </m:r>
                    <m:r>
                      <a:rPr lang="en-US" sz="1800" i="1">
                        <a:latin typeface="Cambria Math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, 1/</m:t>
                    </m:r>
                    <m:r>
                      <a:rPr lang="en-US" sz="1800" i="1">
                        <a:latin typeface="Cambria Math"/>
                      </a:rPr>
                      <m:t>𝜖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lvl="1"/>
                <a:endParaRPr lang="en-US" sz="18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800" t="-564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Result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381951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79077" y="5179100"/>
            <a:ext cx="4575856" cy="1301910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Implicit Forms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1349486" y="1268107"/>
            <a:ext cx="6734641" cy="19426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 cap="none" spc="0">
                <a:ln w="1905">
                  <a:solidFill>
                    <a:srgbClr val="00D300"/>
                  </a:solidFill>
                </a:ln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ea typeface="Tahoma" pitchFamily="34" charset="0"/>
                <a:cs typeface="Arial" pitchFamily="34" charset="0"/>
              </a:defRPr>
            </a:lvl1pPr>
          </a:lstStyle>
          <a:p>
            <a:endParaRPr lang="en-US" altLang="zh-CN" dirty="0" smtClean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  <a:p>
            <a:pPr marL="571500" indent="-571500">
              <a:buFontTx/>
              <a:buChar char="-"/>
            </a:pPr>
            <a:endParaRPr lang="en-US" b="0" dirty="0" smtClean="0">
              <a:ln w="1905">
                <a:solidFill>
                  <a:srgbClr val="92D050"/>
                </a:solidFill>
              </a:ln>
              <a:solidFill>
                <a:schemeClr val="tx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0628866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Times New Roman"/>
                    <a:cs typeface="Times New Roman"/>
                  </a:rPr>
                  <a:t>Variables</a:t>
                </a:r>
                <a:r>
                  <a:rPr lang="en-US" sz="2400" dirty="0">
                    <a:latin typeface="Times New Roman"/>
                    <a:cs typeface="Times New Roman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value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of agent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with type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reporting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instead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price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paid by agent agent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hen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reporting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type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</a:p>
              <a:p>
                <a:endParaRPr lang="en-US" sz="2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Constraints: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is truthful: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)≥0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≥</m:t>
                    </m:r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is feasible (i.e. corresponds to an actual mechanism).</a:t>
                </a:r>
              </a:p>
              <a:p>
                <a:endParaRPr lang="en-US" sz="2400" dirty="0" smtClean="0">
                  <a:effectLst/>
                  <a:latin typeface="Times New Roman"/>
                  <a:cs typeface="Times New Roman"/>
                </a:endParaRPr>
              </a:p>
              <a:p>
                <a:endParaRPr lang="en-US" sz="24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400" dirty="0" smtClean="0">
                    <a:effectLst/>
                    <a:latin typeface="Times New Roman"/>
                    <a:cs typeface="Times New Roman"/>
                  </a:rPr>
                  <a:t>Maximizing:</a:t>
                </a:r>
              </a:p>
              <a:p>
                <a:pPr lvl="1"/>
                <a:r>
                  <a:rPr lang="en-US" sz="2000" dirty="0">
                    <a:cs typeface="Times New Roman"/>
                  </a:rPr>
                  <a:t>Expected </a:t>
                </a:r>
                <a:r>
                  <a:rPr lang="en-US" sz="2000" dirty="0" smtClean="0">
                    <a:cs typeface="Times New Roman"/>
                  </a:rPr>
                  <a:t>welfare: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𝑇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/>
                                    <a:cs typeface="Times New Roman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  <a:cs typeface="Times New Roman"/>
                                      </a:rPr>
                                      <m:t>𝑡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  <a:cs typeface="Times New Roman"/>
                                      </a:rPr>
                                      <m:t>←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  <a:cs typeface="Times New Roman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⋅</m:t>
                            </m:r>
                            <m:sSubSup>
                              <m:sSubSupPr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𝑀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𝑡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lang="en-US" sz="2000" dirty="0" smtClean="0">
                    <a:effectLst/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blipFill rotWithShape="1">
                <a:blip r:embed="rId3"/>
                <a:stretch>
                  <a:fillRect l="-863" t="-928" b="-440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LP Using Implicit Form: Welfare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03904536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Times New Roman"/>
                    <a:cs typeface="Times New Roman"/>
                  </a:rPr>
                  <a:t>Variables: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value of agent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with type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reporting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instead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price paid by agent agent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hen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reporting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type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</a:p>
              <a:p>
                <a:endParaRPr lang="en-US" sz="2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2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Constraints:</a:t>
                </a: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is truthful: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)≥0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≥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is feasible (i.e. corresponds to an actual mechanism).</a:t>
                </a:r>
              </a:p>
              <a:p>
                <a:endParaRPr lang="en-US" sz="2400" dirty="0" smtClean="0">
                  <a:effectLst/>
                  <a:latin typeface="Times New Roman"/>
                  <a:cs typeface="Times New Roman"/>
                </a:endParaRPr>
              </a:p>
              <a:p>
                <a:endParaRPr lang="en-US" sz="24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400" dirty="0" smtClean="0">
                    <a:effectLst/>
                    <a:latin typeface="Times New Roman"/>
                    <a:cs typeface="Times New Roman"/>
                  </a:rPr>
                  <a:t>Minimizing:</a:t>
                </a:r>
              </a:p>
              <a:p>
                <a:pPr lvl="1"/>
                <a:r>
                  <a:rPr lang="en-US" sz="2000" dirty="0">
                    <a:cs typeface="Times New Roman"/>
                  </a:rPr>
                  <a:t>Expected </a:t>
                </a:r>
                <a:r>
                  <a:rPr lang="en-US" sz="2000" dirty="0" err="1" smtClean="0">
                    <a:cs typeface="Times New Roman"/>
                  </a:rPr>
                  <a:t>makespan</a:t>
                </a:r>
                <a:r>
                  <a:rPr lang="en-US" sz="2000" dirty="0" smtClean="0">
                    <a:cs typeface="Times New Roman"/>
                  </a:rPr>
                  <a:t>: ???</a:t>
                </a:r>
              </a:p>
              <a:p>
                <a:pPr lvl="2"/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Not a function of implicit form.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blipFill rotWithShape="1">
                <a:blip r:embed="rId3"/>
                <a:stretch>
                  <a:fillRect l="-863" t="-92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LP Using Implicit Form: </a:t>
            </a:r>
            <a:r>
              <a:rPr lang="en-US" dirty="0" err="1" smtClean="0"/>
              <a:t>Makespan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49835648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Implicit Forms &amp; </a:t>
            </a:r>
            <a:r>
              <a:rPr lang="en-US" dirty="0" err="1" smtClean="0"/>
              <a:t>Makespan</a:t>
            </a:r>
            <a:r>
              <a:rPr lang="en-US" dirty="0" smtClean="0"/>
              <a:t>: Example</a:t>
            </a:r>
            <a:endParaRPr lang="en-US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24790"/>
                <a:ext cx="9177129" cy="5933209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dirty="0" smtClean="0">
                    <a:latin typeface="Times New Roman"/>
                    <a:cs typeface="Times New Roman"/>
                  </a:rPr>
                  <a:t>Let there be two machines and two jobs. Each machine can process each job in one unit of time.</a:t>
                </a:r>
              </a:p>
              <a:p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latin typeface="Times New Roman"/>
                    <a:cs typeface="Times New Roman"/>
                  </a:rPr>
                  <a:t>Consider the following two mechanisms: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: assign both jobs the same machine, chosen uniformly at random.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𝑀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′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: assign one job to each machine.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, 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=</m:t>
                    </m:r>
                    <m:sSubSup>
                      <m:sSubSup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sSup>
                          <m:sSupPr>
                            <m:ctrlP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sup>
                    </m:sSubSup>
                    <m:d>
                      <m:d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, 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=1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𝑖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′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So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𝑀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have the same implicit form.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has expected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2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𝑀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′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has expected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1.</a:t>
                </a:r>
              </a:p>
              <a:p>
                <a:pPr lvl="1"/>
                <a:endParaRPr lang="en-US" sz="1600" dirty="0"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latin typeface="Times New Roman"/>
                    <a:cs typeface="Times New Roman"/>
                  </a:rPr>
                  <a:t>So we need to store more information to compute the expected </a:t>
                </a:r>
                <a:r>
                  <a:rPr lang="en-US" sz="20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Idea: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let’s just add a variable storing this!</a:t>
                </a:r>
              </a:p>
              <a:p>
                <a:pPr lvl="1"/>
                <a:r>
                  <a:rPr lang="en-US" sz="1800" dirty="0" smtClean="0">
                    <a:latin typeface="Times New Roman"/>
                    <a:cs typeface="Times New Roman"/>
                  </a:rPr>
                  <a:t>i.e. add to the implicit form the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variable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800" b="1" i="1" dirty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𝑶</m:t>
                        </m:r>
                      </m:e>
                      <m:sup>
                        <m:r>
                          <a:rPr lang="en-US" sz="1800" b="1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/>
                          </a:rPr>
                          <m:t>𝑴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denoting </a:t>
                </a:r>
                <a:r>
                  <a:rPr lang="en-US" sz="1800" dirty="0" smtClean="0">
                    <a:latin typeface="Times New Roman"/>
                    <a:cs typeface="Times New Roman"/>
                  </a:rPr>
                  <a:t>the expected value of the objective obtained when agents with types sampled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  <a:cs typeface="Times New Roman"/>
                      </a:rPr>
                      <m:t>𝐷</m:t>
                    </m:r>
                  </m:oMath>
                </a14:m>
                <a:r>
                  <a:rPr lang="en-US" sz="1800" dirty="0" smtClean="0">
                    <a:latin typeface="Times New Roman"/>
                    <a:cs typeface="Times New Roman"/>
                  </a:rPr>
                  <a:t> play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 smtClean="0">
                    <a:latin typeface="Times New Roman"/>
                    <a:cs typeface="Times New Roman"/>
                  </a:rPr>
                  <a:t> truthfully.</a:t>
                </a:r>
              </a:p>
            </p:txBody>
          </p:sp>
        </mc:Choice>
        <mc:Fallback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24790"/>
                <a:ext cx="9177129" cy="5933209"/>
              </a:xfrm>
              <a:blipFill rotWithShape="1">
                <a:blip r:embed="rId3"/>
                <a:stretch>
                  <a:fillRect l="-531" t="-514" r="-39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463162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Times New Roman"/>
                    <a:cs typeface="Times New Roman"/>
                  </a:rPr>
                  <a:t>Variables: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value of agent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with type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reporting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instead.</a:t>
                </a:r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</a:t>
                </a:r>
                <a:r>
                  <a:rPr lang="en-US" sz="1800" dirty="0">
                    <a:latin typeface="Times New Roman"/>
                    <a:cs typeface="Times New Roman"/>
                  </a:rPr>
                  <a:t>price paid by agent agent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Times New Roman"/>
                      </a:rPr>
                      <m:t>hen</m:t>
                    </m:r>
                    <m:r>
                      <a:rPr lang="en-US" sz="1800"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Times New Roman"/>
                      </a:rPr>
                      <m:t>reporting</m:t>
                    </m:r>
                    <m:r>
                      <a:rPr lang="en-US" sz="1800"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cs typeface="Times New Roman"/>
                      </a:rPr>
                      <m:t>type</m:t>
                    </m:r>
                    <m:r>
                      <a:rPr lang="en-US" sz="1800"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</a:t>
                </a:r>
                <a:r>
                  <a:rPr lang="en-US" sz="18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800" b="1" i="1" dirty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𝑶</m:t>
                        </m:r>
                      </m:e>
                      <m:sup>
                        <m:r>
                          <a:rPr lang="en-US" sz="1800" b="1" i="1" dirty="0" smtClean="0">
                            <a:solidFill>
                              <a:srgbClr val="008000"/>
                            </a:solidFill>
                            <a:latin typeface="Cambria Math"/>
                            <a:cs typeface="Times New Roman"/>
                          </a:rPr>
                          <m:t>𝑴</m:t>
                        </m:r>
                      </m:sup>
                    </m:sSup>
                  </m:oMath>
                </a14:m>
                <a:r>
                  <a:rPr lang="en-US" sz="1800" dirty="0" smtClean="0">
                    <a:latin typeface="Times New Roman"/>
                    <a:cs typeface="Times New Roman"/>
                  </a:rPr>
                  <a:t>, denoting expected value of objective when agents sampled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  <a:cs typeface="Times New Roman"/>
                      </a:rPr>
                      <m:t>𝐷</m:t>
                    </m:r>
                  </m:oMath>
                </a14:m>
                <a:r>
                  <a:rPr lang="en-US" sz="1800" dirty="0" smtClean="0">
                    <a:latin typeface="Times New Roman"/>
                    <a:cs typeface="Times New Roman"/>
                  </a:rPr>
                  <a:t> play truthfully.</a:t>
                </a:r>
                <a:endParaRPr lang="en-US" sz="1800" dirty="0">
                  <a:latin typeface="Times New Roman"/>
                  <a:cs typeface="Times New Roman"/>
                </a:endParaRPr>
              </a:p>
              <a:p>
                <a:pPr lvl="1"/>
                <a:endParaRPr lang="en-US" sz="1800" dirty="0">
                  <a:latin typeface="Times New Roman"/>
                  <a:cs typeface="Times New Roman"/>
                </a:endParaRPr>
              </a:p>
              <a:p>
                <a:endParaRPr lang="en-US" sz="2400" dirty="0" smtClean="0">
                  <a:latin typeface="Times New Roman"/>
                  <a:cs typeface="Times New Roman"/>
                </a:endParaRPr>
              </a:p>
              <a:p>
                <a:r>
                  <a:rPr lang="en-US" sz="2400" dirty="0" smtClean="0">
                    <a:latin typeface="Times New Roman"/>
                    <a:cs typeface="Times New Roman"/>
                  </a:rPr>
                  <a:t>Constraints:</a:t>
                </a:r>
                <a:endParaRPr lang="en-US" sz="2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is truthful: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)≥0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≥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is feasible (i.e. corresponds to an actual mechanism).</a:t>
                </a:r>
              </a:p>
              <a:p>
                <a:pPr lvl="2"/>
                <a:r>
                  <a:rPr lang="en-US" sz="1600" b="1" dirty="0" smtClean="0">
                    <a:effectLst/>
                    <a:latin typeface="Times New Roman"/>
                    <a:cs typeface="Times New Roman"/>
                  </a:rPr>
                  <a:t>More challenging: now involves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effectLst/>
                        <a:latin typeface="Cambria Math"/>
                        <a:cs typeface="Times New Roman"/>
                      </a:rPr>
                      <m:t>𝑶</m:t>
                    </m:r>
                  </m:oMath>
                </a14:m>
                <a:r>
                  <a:rPr lang="en-US" sz="1600" b="1" dirty="0" smtClean="0">
                    <a:effectLst/>
                    <a:latin typeface="Times New Roman"/>
                    <a:cs typeface="Times New Roman"/>
                  </a:rPr>
                  <a:t> as well as incentives.</a:t>
                </a:r>
              </a:p>
              <a:p>
                <a:endParaRPr lang="en-US" sz="24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400" dirty="0" smtClean="0">
                    <a:effectLst/>
                    <a:latin typeface="Times New Roman"/>
                    <a:cs typeface="Times New Roman"/>
                  </a:rPr>
                  <a:t>Minimizing:</a:t>
                </a:r>
              </a:p>
              <a:p>
                <a:pPr lvl="1"/>
                <a:r>
                  <a:rPr lang="en-US" sz="2000" dirty="0">
                    <a:cs typeface="Times New Roman"/>
                  </a:rPr>
                  <a:t>Expected </a:t>
                </a:r>
                <a:r>
                  <a:rPr lang="en-US" sz="2000" dirty="0" err="1" smtClean="0">
                    <a:cs typeface="Times New Roman"/>
                  </a:rPr>
                  <a:t>makespan</a:t>
                </a:r>
                <a:r>
                  <a:rPr lang="en-US" sz="2000" dirty="0" smtClean="0">
                    <a:cs typeface="Times New Roman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𝑂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blipFill rotWithShape="1">
                <a:blip r:embed="rId3"/>
                <a:stretch>
                  <a:fillRect l="-863" t="-928" b="-1972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LP Using Implicit Form: </a:t>
            </a:r>
            <a:r>
              <a:rPr lang="en-US" dirty="0" err="1" smtClean="0"/>
              <a:t>Makespan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0105006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of (new) Implicit Forms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71" y="924790"/>
            <a:ext cx="9177129" cy="5933209"/>
          </a:xfrm>
          <a:effectLst/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/>
                <a:cs typeface="Times New Roman"/>
              </a:rPr>
              <a:t>What question are we asking now?</a:t>
            </a:r>
          </a:p>
          <a:p>
            <a:endParaRPr lang="en-US" sz="2000" b="1" dirty="0">
              <a:latin typeface="Times New Roman"/>
              <a:cs typeface="Times New Roman"/>
            </a:endParaRPr>
          </a:p>
          <a:p>
            <a:r>
              <a:rPr lang="en-US" sz="2000" b="1" dirty="0" smtClean="0">
                <a:latin typeface="Times New Roman"/>
                <a:cs typeface="Times New Roman"/>
              </a:rPr>
              <a:t>Example: </a:t>
            </a:r>
            <a:r>
              <a:rPr lang="en-US" sz="2000" dirty="0" smtClean="0">
                <a:latin typeface="Times New Roman"/>
                <a:cs typeface="Times New Roman"/>
              </a:rPr>
              <a:t>Two jobs, </a:t>
            </a:r>
            <a:r>
              <a:rPr lang="en-US" sz="2000" dirty="0">
                <a:latin typeface="Times New Roman"/>
                <a:cs typeface="Times New Roman"/>
              </a:rPr>
              <a:t>t</a:t>
            </a:r>
            <a:r>
              <a:rPr lang="en-US" sz="2000" dirty="0" smtClean="0">
                <a:latin typeface="Times New Roman"/>
                <a:cs typeface="Times New Roman"/>
              </a:rPr>
              <a:t>wo agents, each with two types.</a:t>
            </a:r>
          </a:p>
          <a:p>
            <a:pPr lvl="1"/>
            <a:r>
              <a:rPr lang="en-US" sz="1600" dirty="0" smtClean="0">
                <a:latin typeface="Times New Roman"/>
                <a:cs typeface="Times New Roman"/>
              </a:rPr>
              <a:t>A = processes either job in one unit of time.</a:t>
            </a:r>
          </a:p>
          <a:p>
            <a:pPr lvl="1"/>
            <a:r>
              <a:rPr lang="en-US" sz="1600" dirty="0" smtClean="0">
                <a:latin typeface="Times New Roman"/>
                <a:cs typeface="Times New Roman"/>
              </a:rPr>
              <a:t>B = processes either job in two units of time.</a:t>
            </a:r>
            <a:endParaRPr lang="en-US" sz="2000" dirty="0">
              <a:latin typeface="Times New Roman"/>
              <a:cs typeface="Times New Roman"/>
            </a:endParaRPr>
          </a:p>
          <a:p>
            <a:pPr lvl="1"/>
            <a:endParaRPr lang="en-US" sz="2000" dirty="0">
              <a:latin typeface="Times New Roman"/>
              <a:cs typeface="Times New Roman"/>
            </a:endParaRPr>
          </a:p>
          <a:p>
            <a:pPr lvl="1"/>
            <a:endParaRPr lang="en-US" sz="2000" dirty="0">
              <a:latin typeface="Times New Roman"/>
              <a:cs typeface="Times New Roman"/>
            </a:endParaRPr>
          </a:p>
          <a:p>
            <a:pPr lvl="1"/>
            <a:endParaRPr lang="en-US" sz="2000" dirty="0">
              <a:latin typeface="Times New Roman"/>
              <a:cs typeface="Times New Roman"/>
            </a:endParaRPr>
          </a:p>
          <a:p>
            <a:pPr lvl="1"/>
            <a:endParaRPr lang="en-US" sz="2000" dirty="0">
              <a:latin typeface="Times New Roman"/>
              <a:cs typeface="Times New Roman"/>
            </a:endParaRPr>
          </a:p>
          <a:p>
            <a:pPr lvl="1"/>
            <a:endParaRPr lang="en-US" sz="2000" dirty="0">
              <a:latin typeface="Times New Roman"/>
              <a:cs typeface="Times New Roman"/>
            </a:endParaRPr>
          </a:p>
          <a:p>
            <a:pPr lvl="1"/>
            <a:endParaRPr lang="en-US" sz="2000" dirty="0">
              <a:latin typeface="Times New Roman"/>
              <a:cs typeface="Times New Roman"/>
            </a:endParaRPr>
          </a:p>
          <a:p>
            <a:pPr lvl="1"/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 smtClean="0">
                <a:latin typeface="Times New Roman"/>
                <a:cs typeface="Times New Roman"/>
              </a:rPr>
              <a:t>Is there a mechanism matching all of these guarantees?</a:t>
            </a:r>
          </a:p>
          <a:p>
            <a:pPr lvl="1"/>
            <a:r>
              <a:rPr lang="en-US" sz="1800" dirty="0" smtClean="0">
                <a:latin typeface="Times New Roman"/>
                <a:cs typeface="Times New Roman"/>
              </a:rPr>
              <a:t>Yes: assign one job to each machine no matter what.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1256" y="3352535"/>
            <a:ext cx="992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Agent 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668307" y="3352535"/>
            <a:ext cx="1174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Agent 2</a:t>
            </a:r>
            <a:endParaRPr lang="en-US" b="1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433763" y="3031511"/>
            <a:ext cx="800100" cy="505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3"/>
          </p:cNvCxnSpPr>
          <p:nvPr/>
        </p:nvCxnSpPr>
        <p:spPr>
          <a:xfrm>
            <a:off x="1433764" y="3537201"/>
            <a:ext cx="800099" cy="5749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1"/>
          </p:cNvCxnSpPr>
          <p:nvPr/>
        </p:nvCxnSpPr>
        <p:spPr>
          <a:xfrm flipH="1" flipV="1">
            <a:off x="6937482" y="3031511"/>
            <a:ext cx="730825" cy="505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1"/>
          </p:cNvCxnSpPr>
          <p:nvPr/>
        </p:nvCxnSpPr>
        <p:spPr>
          <a:xfrm flipH="1">
            <a:off x="6937482" y="3537201"/>
            <a:ext cx="730825" cy="5749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527280" y="2949844"/>
            <a:ext cx="66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1/2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762808" y="3590621"/>
            <a:ext cx="66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1/2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176471" y="2977553"/>
            <a:ext cx="66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1/2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888984" y="3573301"/>
            <a:ext cx="66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1/2</a:t>
            </a:r>
            <a:endParaRPr lang="en-US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8" name="TextBox 37"/>
              <p:cNvSpPr txBox="1"/>
              <p:nvPr/>
            </p:nvSpPr>
            <p:spPr>
              <a:xfrm>
                <a:off x="1939451" y="2825384"/>
                <a:ext cx="26808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𝑨</m:t>
                      </m:r>
                      <m:r>
                        <a:rPr lang="en-US" b="1" i="1" smtClean="0">
                          <a:latin typeface="Cambria Math"/>
                        </a:rPr>
                        <m:t>        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𝝅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  <m:r>
                        <a:rPr lang="en-US" b="1" i="1" smtClean="0">
                          <a:latin typeface="Cambria Math"/>
                        </a:rPr>
                        <m:t>     </m:t>
                      </m:r>
                    </m:oMath>
                  </m:oMathPara>
                </a14:m>
                <a:endParaRPr lang="en-US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>
                          <a:latin typeface="Cambria Math"/>
                        </a:rPr>
                        <m:t>       </m:t>
                      </m:r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𝝅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US" b="1" i="1">
                              <a:latin typeface="Cambria Math"/>
                            </a:rPr>
                            <m:t>,</m:t>
                          </m:r>
                          <m:r>
                            <a:rPr lang="en-US" b="1" i="1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     </m:t>
                      </m:r>
                    </m:oMath>
                  </m:oMathPara>
                </a14:m>
                <a:endParaRPr lang="en-US" b="1" i="1" dirty="0" smtClean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r>
                  <a:rPr lang="en-US" b="1" dirty="0" smtClean="0"/>
                  <a:t>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        </m:t>
                    </m:r>
                    <m:r>
                      <a:rPr lang="en-US" b="1" i="1" smtClean="0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𝝅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𝑩</m:t>
                        </m:r>
                        <m:r>
                          <a:rPr lang="en-US" b="1" i="1">
                            <a:latin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=</m:t>
                    </m:r>
                    <m:r>
                      <a:rPr lang="en-US" b="1" i="1" smtClean="0">
                        <a:latin typeface="Cambria Math"/>
                      </a:rPr>
                      <m:t>𝟐</m:t>
                    </m:r>
                    <m:r>
                      <a:rPr lang="en-US" b="1" i="1">
                        <a:latin typeface="Cambria Math"/>
                      </a:rPr>
                      <m:t>     </m:t>
                    </m:r>
                  </m:oMath>
                </a14:m>
                <a:endParaRPr lang="en-US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𝑩</m:t>
                      </m:r>
                      <m:r>
                        <a:rPr lang="en-US" b="1" i="1" smtClean="0">
                          <a:latin typeface="Cambria Math"/>
                        </a:rPr>
                        <m:t>        </m:t>
                      </m:r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𝝅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𝑩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  <m:r>
                        <a:rPr lang="en-US" b="1" i="1" smtClean="0">
                          <a:latin typeface="Cambria Math"/>
                        </a:rPr>
                        <m:t>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451" y="2825384"/>
                <a:ext cx="2680856" cy="147732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9" name="TextBox 38"/>
              <p:cNvSpPr txBox="1"/>
              <p:nvPr/>
            </p:nvSpPr>
            <p:spPr>
              <a:xfrm>
                <a:off x="4547571" y="2827386"/>
                <a:ext cx="268085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𝝅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  <m:r>
                        <a:rPr lang="en-US" b="1" i="1" smtClean="0">
                          <a:latin typeface="Cambria Math"/>
                        </a:rPr>
                        <m:t>          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𝝅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𝟏</m:t>
                      </m:r>
                      <m:r>
                        <a:rPr lang="en-US" b="1" i="1">
                          <a:latin typeface="Cambria Math"/>
                        </a:rPr>
                        <m:t>              </m:t>
                      </m:r>
                    </m:oMath>
                  </m:oMathPara>
                </a14:m>
                <a:endParaRPr lang="en-US" b="1" i="1" dirty="0" smtClean="0">
                  <a:latin typeface="Cambria Math"/>
                </a:endParaRPr>
              </a:p>
              <a:p>
                <a:endParaRPr lang="en-US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𝝅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𝑩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𝟐</m:t>
                      </m:r>
                      <m:r>
                        <a:rPr lang="en-US" b="1" i="1">
                          <a:latin typeface="Cambria Math"/>
                        </a:rPr>
                        <m:t>              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/>
                            </a:rPr>
                            <m:t>𝝅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𝑩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  <m:r>
                        <a:rPr lang="en-US" b="1" i="1" smtClean="0">
                          <a:latin typeface="Cambria Math"/>
                        </a:rPr>
                        <m:t>          </m:t>
                      </m:r>
                      <m:r>
                        <a:rPr lang="en-US" b="1" i="1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571" y="2827386"/>
                <a:ext cx="2680856" cy="175432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7" name="TextBox 16"/>
              <p:cNvSpPr txBox="1"/>
              <p:nvPr/>
            </p:nvSpPr>
            <p:spPr>
              <a:xfrm>
                <a:off x="3207143" y="4581712"/>
                <a:ext cx="26808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𝑶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1" i="1" smtClean="0">
                          <a:latin typeface="Cambria Math"/>
                        </a:rPr>
                        <m:t>𝟕𝟓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143" y="4581712"/>
                <a:ext cx="268085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5041246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31" grpId="0"/>
      <p:bldP spid="33" grpId="0"/>
      <p:bldP spid="34" grpId="0"/>
      <p:bldP spid="36" grpId="0"/>
      <p:bldP spid="38" grpId="0" animBg="1"/>
      <p:bldP spid="39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of (new) Implicit Forms</a:t>
            </a:r>
            <a:endParaRPr lang="en-US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24790"/>
                <a:ext cx="9177129" cy="5933209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How can we tell if an implicit form is feasible?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Same approach as </a:t>
                </a:r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Yang’s talk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: equivalence of separation and optimization.</a:t>
                </a:r>
                <a:endParaRPr lang="en-US" sz="1600" dirty="0">
                  <a:latin typeface="Times New Roman"/>
                  <a:cs typeface="Times New Roman"/>
                </a:endParaRPr>
              </a:p>
              <a:p>
                <a:pPr lvl="1"/>
                <a:endParaRPr lang="en-US" sz="1400" dirty="0" smtClean="0"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latin typeface="Times New Roman"/>
                    <a:cs typeface="Times New Roman"/>
                  </a:rPr>
                  <a:t>Space of feasible implicit forms is convex.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Same proof as Yang/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Costis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endParaRPr lang="en-US" sz="1600" dirty="0" smtClean="0"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latin typeface="Times New Roman"/>
                    <a:cs typeface="Times New Roman"/>
                  </a:rPr>
                  <a:t>Separation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optimization.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Just need an algorithm that optimizes linear functions over feasible implicit forms.</a:t>
                </a:r>
              </a:p>
              <a:p>
                <a:pPr lvl="1"/>
                <a:endParaRPr lang="en-US" sz="2200" dirty="0" smtClean="0"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latin typeface="Times New Roman"/>
                    <a:cs typeface="Times New Roman"/>
                  </a:rPr>
                  <a:t>Interpret linear functions in space of feasible implicit forms.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1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𝑴</m:t>
                        </m:r>
                      </m:sup>
                    </m:sSup>
                    <m:r>
                      <a:rPr lang="en-US" sz="1600" b="1" i="1" dirty="0" smtClean="0">
                        <a:latin typeface="Cambria Math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𝒘</m:t>
                        </m:r>
                      </m:e>
                      <m:sub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𝑶</m:t>
                        </m:r>
                      </m:sub>
                    </m:sSub>
                    <m:r>
                      <a:rPr lang="en-US" sz="1600" b="1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𝑶</m:t>
                        </m:r>
                      </m:e>
                      <m:sup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𝑴</m:t>
                        </m:r>
                      </m:sup>
                    </m:sSup>
                    <m:r>
                      <a:rPr lang="en-US" sz="1600" b="1" i="1" dirty="0" smtClean="0">
                        <a:latin typeface="Cambria Math"/>
                        <a:cs typeface="Times New Roman"/>
                      </a:rPr>
                      <m:t>+</m:t>
                    </m:r>
                    <m:sSub>
                      <m:sSubPr>
                        <m:ctrlP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600" b="1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dirty="0" smtClean="0"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−</m:t>
                        </m:r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𝑶</m:t>
                        </m:r>
                      </m:sub>
                    </m:sSub>
                    <m:r>
                      <a:rPr lang="en-US" sz="1600" b="1" i="1" dirty="0" smtClean="0">
                        <a:latin typeface="Cambria Math"/>
                        <a:cs typeface="Times New Roman"/>
                      </a:rPr>
                      <m:t>⋅</m:t>
                    </m:r>
                    <m:sSubSup>
                      <m:sSubSupPr>
                        <m:ctrlP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1600" b="1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dirty="0" smtClean="0">
                                <a:latin typeface="Cambria Math"/>
                                <a:cs typeface="Times New Roman"/>
                              </a:rPr>
                              <m:t>𝝅</m:t>
                            </m:r>
                          </m:e>
                        </m:acc>
                      </m:e>
                      <m:sub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−</m:t>
                        </m:r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𝑶</m:t>
                        </m:r>
                      </m:sub>
                      <m:sup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𝑴</m:t>
                        </m:r>
                      </m:sup>
                    </m:sSubSup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600" b="1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dirty="0"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−</m:t>
                        </m:r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𝑶</m:t>
                        </m:r>
                      </m:sub>
                    </m:sSub>
                    <m:r>
                      <a:rPr lang="en-US" sz="1600" b="1" i="1" dirty="0">
                        <a:latin typeface="Cambria Math"/>
                        <a:cs typeface="Times New Roman"/>
                      </a:rPr>
                      <m:t>⋅</m:t>
                    </m:r>
                    <m:sSubSup>
                      <m:sSubSupPr>
                        <m:ctrlPr>
                          <a:rPr lang="en-US" sz="1600" b="1" i="1" dirty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1600" b="1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dirty="0">
                                <a:latin typeface="Cambria Math"/>
                                <a:cs typeface="Times New Roman"/>
                              </a:rPr>
                              <m:t>𝝅</m:t>
                            </m:r>
                          </m:e>
                        </m:acc>
                      </m:e>
                      <m:sub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−</m:t>
                        </m:r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𝑶</m:t>
                        </m:r>
                      </m:sub>
                      <m:sup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𝑴</m:t>
                        </m:r>
                      </m:sup>
                    </m:sSubSup>
                    <m:r>
                      <a:rPr lang="en-US" sz="1600" b="1" i="1" dirty="0" smtClean="0"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expected virtual welfare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(with virtual types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−</m:t>
                        </m:r>
                        <m:r>
                          <a:rPr lang="en-US" sz="1600" b="1" i="1" dirty="0" smtClean="0">
                            <a:latin typeface="Cambria Math"/>
                            <a:cs typeface="Times New Roman"/>
                          </a:rPr>
                          <m:t>𝑶</m:t>
                        </m:r>
                      </m:sub>
                    </m:sSub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) </a:t>
                </a:r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[Yang’s Talk].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𝒘</m:t>
                        </m:r>
                      </m:e>
                      <m:sub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𝑶</m:t>
                        </m:r>
                      </m:sub>
                    </m:sSub>
                    <m:r>
                      <a:rPr lang="en-US" sz="1600" b="1" i="1" dirty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b="1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𝑶</m:t>
                        </m:r>
                      </m:e>
                      <m:sup>
                        <m:r>
                          <a:rPr lang="en-US" sz="1600" b="1" i="1" dirty="0">
                            <a:latin typeface="Cambria Math"/>
                            <a:cs typeface="Times New Roman"/>
                          </a:rPr>
                          <m:t>𝑴</m:t>
                        </m:r>
                      </m:sup>
                    </m:sSup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= expected value of objective 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(scaled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).</a:t>
                </a:r>
              </a:p>
              <a:p>
                <a:pPr lvl="2"/>
                <a:r>
                  <a:rPr lang="en-US" sz="1400" b="0" dirty="0" smtClean="0">
                    <a:cs typeface="Times New Roman"/>
                  </a:rPr>
                  <a:t>May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  <a:cs typeface="Times New Roman"/>
                          </a:rPr>
                          <m:t>𝑂</m:t>
                        </m:r>
                      </m:sub>
                    </m:sSub>
                    <m:r>
                      <a:rPr lang="en-US" sz="1400" b="0" i="1" smtClean="0">
                        <a:latin typeface="Cambria Math"/>
                        <a:cs typeface="Times New Roman"/>
                      </a:rPr>
                      <m:t>≥0 </m:t>
                    </m:r>
                  </m:oMath>
                </a14:m>
                <a:r>
                  <a:rPr lang="en-US" sz="1400" dirty="0" smtClean="0">
                    <a:latin typeface="Times New Roman"/>
                    <a:cs typeface="Times New Roman"/>
                  </a:rPr>
                  <a:t>. Proof omitted, simple but technical.</a:t>
                </a:r>
              </a:p>
              <a:p>
                <a:pPr lvl="2"/>
                <a:endParaRPr lang="en-US" sz="1400" dirty="0"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latin typeface="Times New Roman"/>
                    <a:cs typeface="Times New Roman"/>
                    <a:sym typeface="Wingdings" panose="05000000000000000000" pitchFamily="2" charset="2"/>
                  </a:rPr>
                  <a:t>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determine feasibility with black-box access to </a:t>
                </a:r>
                <a:r>
                  <a:rPr lang="en-US" sz="2000" b="1" dirty="0" smtClean="0">
                    <a:latin typeface="Times New Roman"/>
                    <a:cs typeface="Times New Roman"/>
                  </a:rPr>
                  <a:t>algorithm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+virtual welfare.</a:t>
                </a:r>
              </a:p>
            </p:txBody>
          </p:sp>
        </mc:Choice>
        <mc:Fallback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24790"/>
                <a:ext cx="9177129" cy="5933209"/>
              </a:xfrm>
              <a:blipFill rotWithShape="1">
                <a:blip r:embed="rId3"/>
                <a:stretch>
                  <a:fillRect l="-531" t="-514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7344128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Times New Roman"/>
                    <a:cs typeface="Times New Roman"/>
                  </a:rPr>
                  <a:t>Variables: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value of agent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with type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reporting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instead.</a:t>
                </a:r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b="0" i="1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price paid by agent agent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h𝑒𝑛</m:t>
                    </m:r>
                    <m:r>
                      <a:rPr lang="en-US" sz="1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𝑟𝑒𝑝𝑜𝑟𝑡𝑖𝑛𝑔</m:t>
                    </m:r>
                    <m:r>
                      <a:rPr lang="en-US" sz="1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𝑡𝑦𝑝𝑒</m:t>
                    </m:r>
                    <m:r>
                      <a:rPr lang="en-US" sz="1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  <m:r>
                      <a:rPr lang="en-US" sz="1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𝑂</m:t>
                        </m:r>
                      </m:e>
                      <m: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denoting </a:t>
                </a:r>
                <a:r>
                  <a:rPr lang="en-US" sz="1800" dirty="0" smtClean="0">
                    <a:latin typeface="Times New Roman"/>
                    <a:cs typeface="Times New Roman"/>
                  </a:rPr>
                  <a:t>expected value of objective when agents sampled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  <a:cs typeface="Times New Roman"/>
                      </a:rPr>
                      <m:t>𝐷</m:t>
                    </m:r>
                  </m:oMath>
                </a14:m>
                <a:r>
                  <a:rPr lang="en-US" sz="1800" dirty="0" smtClean="0">
                    <a:latin typeface="Times New Roman"/>
                    <a:cs typeface="Times New Roman"/>
                  </a:rPr>
                  <a:t> play truthfully.</a:t>
                </a:r>
                <a:endParaRPr lang="en-US" sz="1800" dirty="0">
                  <a:latin typeface="Times New Roman"/>
                  <a:cs typeface="Times New Roman"/>
                </a:endParaRPr>
              </a:p>
              <a:p>
                <a:pPr marL="0" indent="0">
                  <a:buNone/>
                </a:pPr>
                <a:endParaRPr lang="en-US" sz="2400" dirty="0" smtClean="0">
                  <a:latin typeface="Times New Roman"/>
                  <a:cs typeface="Times New Roman"/>
                </a:endParaRPr>
              </a:p>
              <a:p>
                <a:r>
                  <a:rPr lang="en-US" sz="2400" dirty="0" smtClean="0">
                    <a:latin typeface="Times New Roman"/>
                    <a:cs typeface="Times New Roman"/>
                  </a:rPr>
                  <a:t>Constraints:</a:t>
                </a:r>
                <a:endParaRPr lang="en-US" sz="2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is truthful: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)≥0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>
                    <a:solidFill>
                      <a:schemeClr val="tx1"/>
                    </a:solidFill>
                    <a:cs typeface="Times New Roman"/>
                  </a:rPr>
                  <a:t>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≥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𝑡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−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bSup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𝑡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𝑖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′∈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𝑇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8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Guarantee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𝑀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is feasible (i.e. corresponds to an actual mechanism).</a:t>
                </a:r>
              </a:p>
              <a:p>
                <a:pPr lvl="2"/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Use separation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8000"/>
                        </a:solidFill>
                        <a:latin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sz="1600" b="1" dirty="0" smtClean="0">
                    <a:solidFill>
                      <a:srgbClr val="008000"/>
                    </a:solidFill>
                    <a:effectLst/>
                    <a:latin typeface="Times New Roman"/>
                    <a:cs typeface="Times New Roman"/>
                  </a:rPr>
                  <a:t> optimization </a:t>
                </a:r>
                <a:r>
                  <a:rPr lang="en-US" sz="16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&amp;</a:t>
                </a:r>
                <a:r>
                  <a:rPr lang="en-US" sz="1600" b="1" dirty="0" smtClean="0">
                    <a:solidFill>
                      <a:srgbClr val="008000"/>
                    </a:solidFill>
                    <a:effectLst/>
                    <a:latin typeface="Times New Roman"/>
                    <a:cs typeface="Times New Roman"/>
                  </a:rPr>
                  <a:t> algorithm for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8000"/>
                        </a:solidFill>
                        <a:effectLst/>
                        <a:latin typeface="Cambria Math"/>
                        <a:cs typeface="Times New Roman"/>
                      </a:rPr>
                      <m:t>𝑶</m:t>
                    </m:r>
                  </m:oMath>
                </a14:m>
                <a:r>
                  <a:rPr lang="en-US" sz="1600" b="1" dirty="0" smtClean="0">
                    <a:solidFill>
                      <a:srgbClr val="008000"/>
                    </a:solidFill>
                    <a:effectLst/>
                    <a:latin typeface="Times New Roman"/>
                    <a:cs typeface="Times New Roman"/>
                  </a:rPr>
                  <a:t>+virtual welfare.</a:t>
                </a:r>
              </a:p>
              <a:p>
                <a:endParaRPr lang="en-US" sz="24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400" dirty="0" smtClean="0">
                    <a:effectLst/>
                    <a:latin typeface="Times New Roman"/>
                    <a:cs typeface="Times New Roman"/>
                  </a:rPr>
                  <a:t>Minimizing:</a:t>
                </a:r>
              </a:p>
              <a:p>
                <a:pPr lvl="1"/>
                <a:r>
                  <a:rPr lang="en-US" sz="2000" dirty="0">
                    <a:cs typeface="Times New Roman"/>
                  </a:rPr>
                  <a:t>Expected </a:t>
                </a:r>
                <a:r>
                  <a:rPr lang="en-US" sz="2000" dirty="0" err="1" smtClean="0">
                    <a:cs typeface="Times New Roman"/>
                  </a:rPr>
                  <a:t>makespan</a:t>
                </a:r>
                <a:r>
                  <a:rPr lang="en-US" sz="2000" dirty="0" smtClean="0">
                    <a:cs typeface="Times New Roman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𝑂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1143000"/>
                <a:ext cx="9177129" cy="5257800"/>
              </a:xfrm>
              <a:blipFill rotWithShape="1">
                <a:blip r:embed="rId3"/>
                <a:stretch>
                  <a:fillRect l="-863" t="-92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LP Using Implicit Form: </a:t>
            </a:r>
            <a:r>
              <a:rPr lang="en-US" dirty="0" err="1" smtClean="0"/>
              <a:t>Makespan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59897262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38463"/>
                <a:ext cx="9177129" cy="582328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Shown so far: </a:t>
                </a:r>
                <a:r>
                  <a:rPr lang="en-US" sz="2000" dirty="0" smtClean="0"/>
                  <a:t>Polynomial-time </a:t>
                </a:r>
                <a:r>
                  <a:rPr lang="en-US" sz="2000" dirty="0"/>
                  <a:t>reduction from </a:t>
                </a:r>
                <a:r>
                  <a:rPr lang="en-US" sz="2000" dirty="0" smtClean="0"/>
                  <a:t>(exact) mechanism </a:t>
                </a:r>
                <a:r>
                  <a:rPr lang="en-US" sz="2000" dirty="0"/>
                  <a:t>design for objective </a:t>
                </a:r>
                <a:r>
                  <a:rPr lang="en-US" sz="2000" i="1" dirty="0"/>
                  <a:t>O </a:t>
                </a:r>
                <a:r>
                  <a:rPr lang="en-US" sz="2000" dirty="0"/>
                  <a:t>to </a:t>
                </a:r>
                <a:r>
                  <a:rPr lang="en-US" sz="2000" dirty="0" smtClean="0"/>
                  <a:t>(exact) algorithm </a:t>
                </a:r>
                <a:r>
                  <a:rPr lang="en-US" sz="2000" dirty="0"/>
                  <a:t>design for </a:t>
                </a:r>
                <a:r>
                  <a:rPr lang="en-US" sz="2000" b="1" dirty="0"/>
                  <a:t>same objective </a:t>
                </a:r>
                <a:r>
                  <a:rPr lang="en-US" sz="2000" b="1" i="1" dirty="0"/>
                  <a:t>O</a:t>
                </a:r>
                <a:r>
                  <a:rPr lang="en-US" sz="2000" b="1" dirty="0"/>
                  <a:t> plus virtual welfare</a:t>
                </a:r>
                <a:r>
                  <a:rPr lang="en-US" sz="2000" dirty="0" smtClean="0"/>
                  <a:t>.</a:t>
                </a:r>
              </a:p>
              <a:p>
                <a:pPr lvl="1"/>
                <a:r>
                  <a:rPr lang="en-US" sz="1800" dirty="0"/>
                  <a:t>For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to work on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/>
                  <a:t>, need </a:t>
                </a:r>
                <a:r>
                  <a:rPr lang="en-US" sz="1800" b="1" dirty="0"/>
                  <a:t>algorithm</a:t>
                </a:r>
                <a:r>
                  <a:rPr lang="en-US" sz="1800" dirty="0"/>
                  <a:t> for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/>
                  <a:t>, virtual types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/>
                  <a:t>.</a:t>
                </a:r>
              </a:p>
              <a:p>
                <a:pPr lvl="1"/>
                <a:r>
                  <a:rPr lang="en-US" sz="1800" b="1" dirty="0"/>
                  <a:t>Caveat: </a:t>
                </a:r>
                <a:r>
                  <a:rPr lang="en-US" sz="1800" dirty="0"/>
                  <a:t>mechanism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dirty="0"/>
                  <a:t>-BIC, loses additive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(same sampling error as Yang’s talk).</a:t>
                </a:r>
              </a:p>
              <a:p>
                <a:pPr lvl="1"/>
                <a:r>
                  <a:rPr lang="en-US" sz="1800" b="1" dirty="0"/>
                  <a:t>(additional) Runtime: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𝑝𝑜𝑙𝑦</m:t>
                    </m:r>
                    <m:r>
                      <a:rPr lang="en-US" sz="1800" i="1">
                        <a:latin typeface="Cambria Math"/>
                      </a:rPr>
                      <m:t>(#</m:t>
                    </m:r>
                    <m:r>
                      <a:rPr lang="en-US" sz="1800" i="1">
                        <a:latin typeface="Cambria Math"/>
                      </a:rPr>
                      <m:t>𝑎𝑔𝑒𝑛𝑡𝑠</m:t>
                    </m:r>
                    <m:r>
                      <a:rPr lang="en-US" sz="1800" i="1">
                        <a:latin typeface="Cambria Math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, 1/</m:t>
                    </m:r>
                    <m:r>
                      <a:rPr lang="en-US" sz="1800" i="1">
                        <a:latin typeface="Cambria Math"/>
                      </a:rPr>
                      <m:t>𝜖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endParaRPr lang="en-US" sz="2000" dirty="0" smtClean="0"/>
              </a:p>
              <a:p>
                <a:r>
                  <a:rPr lang="en-US" sz="2000" dirty="0" smtClean="0"/>
                  <a:t>Pretty cool… but:</a:t>
                </a:r>
              </a:p>
              <a:p>
                <a:pPr lvl="1"/>
                <a:r>
                  <a:rPr lang="en-US" sz="1600" dirty="0" err="1" smtClean="0"/>
                  <a:t>Makespan</a:t>
                </a:r>
                <a:r>
                  <a:rPr lang="en-US" sz="1600" dirty="0" smtClean="0"/>
                  <a:t> NP-hard to approximate better than 3/2 </a:t>
                </a:r>
                <a:r>
                  <a:rPr lang="en-US" sz="1600" b="1" dirty="0" smtClean="0">
                    <a:solidFill>
                      <a:srgbClr val="FF6600"/>
                    </a:solidFill>
                  </a:rPr>
                  <a:t>[</a:t>
                </a:r>
                <a:r>
                  <a:rPr lang="en-US" sz="1600" b="1" dirty="0" err="1" smtClean="0">
                    <a:solidFill>
                      <a:srgbClr val="FF6600"/>
                    </a:solidFill>
                  </a:rPr>
                  <a:t>Lenstra-Shmoys-Tardos</a:t>
                </a:r>
                <a:r>
                  <a:rPr lang="en-US" sz="1600" b="1" dirty="0" smtClean="0">
                    <a:solidFill>
                      <a:srgbClr val="FF6600"/>
                    </a:solidFill>
                  </a:rPr>
                  <a:t> ‘87].</a:t>
                </a:r>
              </a:p>
              <a:p>
                <a:pPr lvl="1"/>
                <a:r>
                  <a:rPr lang="en-US" sz="1600" dirty="0" smtClean="0"/>
                  <a:t>Fairness NP-hard to approximate better than 2 </a:t>
                </a:r>
                <a:r>
                  <a:rPr lang="en-US" sz="1600" b="1" dirty="0" smtClean="0">
                    <a:solidFill>
                      <a:srgbClr val="FF6600"/>
                    </a:solidFill>
                  </a:rPr>
                  <a:t>[</a:t>
                </a:r>
                <a:r>
                  <a:rPr lang="en-US" sz="1600" b="1" dirty="0" err="1" smtClean="0">
                    <a:solidFill>
                      <a:srgbClr val="FF6600"/>
                    </a:solidFill>
                  </a:rPr>
                  <a:t>Bezakova-Dani</a:t>
                </a:r>
                <a:r>
                  <a:rPr lang="en-US" sz="1600" b="1" dirty="0" smtClean="0">
                    <a:solidFill>
                      <a:srgbClr val="FF6600"/>
                    </a:solidFill>
                  </a:rPr>
                  <a:t> ‘05].</a:t>
                </a:r>
              </a:p>
              <a:p>
                <a:pPr lvl="1"/>
                <a:r>
                  <a:rPr lang="en-US" sz="1600" dirty="0" smtClean="0"/>
                  <a:t>Even without virtual welfare.</a:t>
                </a:r>
              </a:p>
              <a:p>
                <a:pPr lvl="1"/>
                <a:endParaRPr lang="en-US" sz="1600" dirty="0"/>
              </a:p>
              <a:p>
                <a:r>
                  <a:rPr lang="en-US" sz="2000" dirty="0" smtClean="0"/>
                  <a:t>Want approximation-preserving reduction.</a:t>
                </a:r>
              </a:p>
              <a:p>
                <a:pPr lvl="1"/>
                <a:r>
                  <a:rPr lang="en-US" sz="1600" dirty="0" smtClean="0"/>
                  <a:t>Will do by proving approximation-preserving version of separation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↔</m:t>
                    </m:r>
                  </m:oMath>
                </a14:m>
                <a:r>
                  <a:rPr lang="en-US" sz="1600" dirty="0" smtClean="0"/>
                  <a:t>optimization.</a:t>
                </a:r>
              </a:p>
              <a:p>
                <a:pPr lvl="1"/>
                <a:r>
                  <a:rPr lang="en-US" sz="1600" dirty="0" smtClean="0"/>
                  <a:t>i.e. what if we can only approximately optimize linear functions over feasible implicit forms?</a:t>
                </a:r>
              </a:p>
              <a:p>
                <a:pPr lvl="2"/>
                <a:r>
                  <a:rPr lang="en-US" sz="1400" dirty="0" smtClean="0"/>
                  <a:t>Clear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sz="1400" dirty="0" smtClean="0"/>
                  <a:t>-approximation for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1400" dirty="0" smtClean="0"/>
                  <a:t>+virtual welfare </a:t>
                </a:r>
                <a:r>
                  <a:rPr lang="en-US" sz="1400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/>
                        <a:sym typeface="Wingdings" panose="05000000000000000000" pitchFamily="2" charset="2"/>
                      </a:rPr>
                      <m:t>𝛼</m:t>
                    </m:r>
                  </m:oMath>
                </a14:m>
                <a:r>
                  <a:rPr lang="en-US" sz="1400" dirty="0" smtClean="0"/>
                  <a:t>-approximate linear function optimizer.</a:t>
                </a:r>
                <a:endParaRPr lang="en-US" sz="16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38463"/>
                <a:ext cx="9177129" cy="5823284"/>
              </a:xfrm>
              <a:blipFill rotWithShape="1">
                <a:blip r:embed="rId3"/>
                <a:stretch>
                  <a:fillRect l="-531" t="-524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9596963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67045" y="3460823"/>
            <a:ext cx="4575856" cy="2474625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Approximate Equivalence of Separation and Optimization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1349486" y="1268107"/>
            <a:ext cx="6734641" cy="19426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 cap="none" spc="0">
                <a:ln w="1905">
                  <a:solidFill>
                    <a:srgbClr val="00D300"/>
                  </a:solidFill>
                </a:ln>
                <a:solidFill>
                  <a:srgbClr val="92D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ea typeface="Tahoma" pitchFamily="34" charset="0"/>
                <a:cs typeface="Arial" pitchFamily="34" charset="0"/>
              </a:defRPr>
            </a:lvl1pPr>
          </a:lstStyle>
          <a:p>
            <a:endParaRPr lang="en-US" altLang="zh-CN" dirty="0" smtClean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  <a:p>
            <a:pPr marL="571500" indent="-571500">
              <a:buFontTx/>
              <a:buChar char="-"/>
            </a:pPr>
            <a:endParaRPr lang="en-US" b="0" dirty="0" smtClean="0">
              <a:ln w="1905">
                <a:solidFill>
                  <a:srgbClr val="92D050"/>
                </a:solidFill>
              </a:ln>
              <a:solidFill>
                <a:schemeClr val="tx1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2196630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Question: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 convex region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-approximation algorithm satisfying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≥</m:t>
                    </m:r>
                    <m:func>
                      <m:func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 </m:t>
                        </m:r>
                        <m:limLow>
                          <m:limLowPr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max</m:t>
                            </m:r>
                          </m:e>
                          <m:lim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∈</m:t>
                            </m:r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𝑃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can we get any meaningful approximate separation oracle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with black-box access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?</a:t>
                </a: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First attempt: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maybe get separation oracle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}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?</a:t>
                </a: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No.        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Can’t tell how good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in different directions.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i.e. maybe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reaches the boundary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in some directions, gets halfway there in others, etc.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blipFill rotWithShape="1">
                <a:blip r:embed="rId2"/>
                <a:stretch>
                  <a:fillRect l="-531" t="-521" r="-132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2771975" y="2861137"/>
            <a:ext cx="2922600" cy="2020422"/>
            <a:chOff x="1636387" y="2957096"/>
            <a:chExt cx="5389579" cy="3806729"/>
          </a:xfrm>
        </p:grpSpPr>
        <p:grpSp>
          <p:nvGrpSpPr>
            <p:cNvPr id="18" name="Group 17"/>
            <p:cNvGrpSpPr/>
            <p:nvPr/>
          </p:nvGrpSpPr>
          <p:grpSpPr>
            <a:xfrm>
              <a:off x="1636387" y="2957096"/>
              <a:ext cx="5389579" cy="3806729"/>
              <a:chOff x="2149592" y="1752593"/>
              <a:chExt cx="5394207" cy="3809998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2149592" y="1752593"/>
                <a:ext cx="5394207" cy="3809998"/>
                <a:chOff x="2759023" y="2173666"/>
                <a:chExt cx="3926352" cy="2999790"/>
              </a:xfrm>
            </p:grpSpPr>
            <p:grpSp>
              <p:nvGrpSpPr>
                <p:cNvPr id="35" name="Group 34"/>
                <p:cNvGrpSpPr>
                  <a:grpSpLocks/>
                </p:cNvGrpSpPr>
                <p:nvPr/>
              </p:nvGrpSpPr>
              <p:grpSpPr bwMode="auto">
                <a:xfrm rot="20680052">
                  <a:off x="2768782" y="2173666"/>
                  <a:ext cx="3916593" cy="2999790"/>
                  <a:chOff x="17818" y="9648"/>
                  <a:chExt cx="2440" cy="1920"/>
                </a:xfrm>
              </p:grpSpPr>
              <p:sp>
                <p:nvSpPr>
                  <p:cNvPr id="38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18117" y="10856"/>
                    <a:ext cx="1298" cy="66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39" name="Freeform 38"/>
                  <p:cNvSpPr>
                    <a:spLocks/>
                  </p:cNvSpPr>
                  <p:nvPr/>
                </p:nvSpPr>
                <p:spPr bwMode="auto">
                  <a:xfrm>
                    <a:off x="17968" y="9684"/>
                    <a:ext cx="1968" cy="1760"/>
                  </a:xfrm>
                  <a:custGeom>
                    <a:avLst/>
                    <a:gdLst>
                      <a:gd name="T0" fmla="*/ 84 w 1968"/>
                      <a:gd name="T1" fmla="*/ 392 h 1760"/>
                      <a:gd name="T2" fmla="*/ 0 w 1968"/>
                      <a:gd name="T3" fmla="*/ 876 h 1760"/>
                      <a:gd name="T4" fmla="*/ 316 w 1968"/>
                      <a:gd name="T5" fmla="*/ 1260 h 1760"/>
                      <a:gd name="T6" fmla="*/ 1312 w 1968"/>
                      <a:gd name="T7" fmla="*/ 1760 h 1760"/>
                      <a:gd name="T8" fmla="*/ 1760 w 1968"/>
                      <a:gd name="T9" fmla="*/ 1704 h 1760"/>
                      <a:gd name="T10" fmla="*/ 1872 w 1968"/>
                      <a:gd name="T11" fmla="*/ 1624 h 1760"/>
                      <a:gd name="T12" fmla="*/ 1960 w 1968"/>
                      <a:gd name="T13" fmla="*/ 1284 h 1760"/>
                      <a:gd name="T14" fmla="*/ 1968 w 1968"/>
                      <a:gd name="T15" fmla="*/ 904 h 1760"/>
                      <a:gd name="T16" fmla="*/ 1728 w 1968"/>
                      <a:gd name="T17" fmla="*/ 280 h 1760"/>
                      <a:gd name="T18" fmla="*/ 716 w 1968"/>
                      <a:gd name="T19" fmla="*/ 0 h 1760"/>
                      <a:gd name="T20" fmla="*/ 388 w 1968"/>
                      <a:gd name="T21" fmla="*/ 156 h 1760"/>
                      <a:gd name="T22" fmla="*/ 88 w 1968"/>
                      <a:gd name="T23" fmla="*/ 424 h 176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968"/>
                      <a:gd name="T37" fmla="*/ 0 h 1760"/>
                      <a:gd name="T38" fmla="*/ 1968 w 1968"/>
                      <a:gd name="T39" fmla="*/ 1760 h 1760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968" h="1760">
                        <a:moveTo>
                          <a:pt x="84" y="392"/>
                        </a:moveTo>
                        <a:lnTo>
                          <a:pt x="0" y="876"/>
                        </a:lnTo>
                        <a:lnTo>
                          <a:pt x="316" y="1260"/>
                        </a:lnTo>
                        <a:lnTo>
                          <a:pt x="1312" y="1760"/>
                        </a:lnTo>
                        <a:lnTo>
                          <a:pt x="1760" y="1704"/>
                        </a:lnTo>
                        <a:lnTo>
                          <a:pt x="1872" y="1624"/>
                        </a:lnTo>
                        <a:lnTo>
                          <a:pt x="1960" y="1284"/>
                        </a:lnTo>
                        <a:lnTo>
                          <a:pt x="1968" y="904"/>
                        </a:lnTo>
                        <a:lnTo>
                          <a:pt x="1728" y="280"/>
                        </a:lnTo>
                        <a:lnTo>
                          <a:pt x="716" y="0"/>
                        </a:lnTo>
                        <a:lnTo>
                          <a:pt x="388" y="156"/>
                        </a:lnTo>
                        <a:lnTo>
                          <a:pt x="88" y="424"/>
                        </a:lnTo>
                      </a:path>
                    </a:pathLst>
                  </a:custGeom>
                  <a:solidFill>
                    <a:schemeClr val="tx2">
                      <a:lumMod val="60000"/>
                      <a:lumOff val="4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40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17818" y="10378"/>
                    <a:ext cx="707" cy="8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41" name="Line 1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91" y="9648"/>
                    <a:ext cx="577" cy="25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42" name="Line 1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944" y="9972"/>
                    <a:ext cx="130" cy="671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43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18599" y="9665"/>
                    <a:ext cx="1236" cy="3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44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19632" y="9792"/>
                    <a:ext cx="432" cy="110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45" name="Line 1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776" y="10464"/>
                    <a:ext cx="288" cy="110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46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055" y="11320"/>
                    <a:ext cx="1203" cy="14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47" name="Line 1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5" y="10348"/>
                    <a:ext cx="28" cy="8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36" name="Line 108"/>
                <p:cNvSpPr>
                  <a:spLocks noChangeShapeType="1"/>
                </p:cNvSpPr>
                <p:nvPr/>
              </p:nvSpPr>
              <p:spPr bwMode="auto">
                <a:xfrm rot="20680052" flipV="1">
                  <a:off x="2759023" y="2653086"/>
                  <a:ext cx="937214" cy="81985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ln w="28575" cmpd="sng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" name="Line 113"/>
                <p:cNvSpPr>
                  <a:spLocks noChangeShapeType="1"/>
                </p:cNvSpPr>
                <p:nvPr/>
              </p:nvSpPr>
              <p:spPr bwMode="auto">
                <a:xfrm rot="20680052" flipV="1">
                  <a:off x="5933345" y="4276495"/>
                  <a:ext cx="461755" cy="29740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pic>
            <p:nvPicPr>
              <p:cNvPr id="34" name="Picture 33" descr="latex-image-1.pdf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3581400" y="2743200"/>
                <a:ext cx="2374900" cy="1612900"/>
              </a:xfrm>
              <a:prstGeom prst="rect">
                <a:avLst/>
              </a:prstGeom>
            </p:spPr>
          </p:pic>
        </p:grpSp>
        <p:grpSp>
          <p:nvGrpSpPr>
            <p:cNvPr id="19" name="Group 18"/>
            <p:cNvGrpSpPr/>
            <p:nvPr/>
          </p:nvGrpSpPr>
          <p:grpSpPr>
            <a:xfrm>
              <a:off x="2855837" y="3766186"/>
              <a:ext cx="2650758" cy="1872265"/>
              <a:chOff x="2759023" y="2173666"/>
              <a:chExt cx="3926352" cy="2999790"/>
            </a:xfrm>
            <a:solidFill>
              <a:srgbClr val="FF0000"/>
            </a:solidFill>
          </p:grpSpPr>
          <p:grpSp>
            <p:nvGrpSpPr>
              <p:cNvPr id="20" name="Group 19"/>
              <p:cNvGrpSpPr>
                <a:grpSpLocks/>
              </p:cNvGrpSpPr>
              <p:nvPr/>
            </p:nvGrpSpPr>
            <p:grpSpPr bwMode="auto">
              <a:xfrm rot="20680052">
                <a:off x="2768782" y="2173666"/>
                <a:ext cx="3916593" cy="2999790"/>
                <a:chOff x="17818" y="9648"/>
                <a:chExt cx="2440" cy="1920"/>
              </a:xfrm>
              <a:grpFill/>
            </p:grpSpPr>
            <p:sp>
              <p:nvSpPr>
                <p:cNvPr id="23" name="Line 107"/>
                <p:cNvSpPr>
                  <a:spLocks noChangeShapeType="1"/>
                </p:cNvSpPr>
                <p:nvPr/>
              </p:nvSpPr>
              <p:spPr bwMode="auto">
                <a:xfrm>
                  <a:off x="18117" y="10856"/>
                  <a:ext cx="1298" cy="668"/>
                </a:xfrm>
                <a:prstGeom prst="line">
                  <a:avLst/>
                </a:prstGeom>
                <a:grp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24" name="Freeform 23"/>
                <p:cNvSpPr>
                  <a:spLocks/>
                </p:cNvSpPr>
                <p:nvPr/>
              </p:nvSpPr>
              <p:spPr bwMode="auto">
                <a:xfrm>
                  <a:off x="17968" y="9684"/>
                  <a:ext cx="1968" cy="1760"/>
                </a:xfrm>
                <a:custGeom>
                  <a:avLst/>
                  <a:gdLst>
                    <a:gd name="T0" fmla="*/ 84 w 1968"/>
                    <a:gd name="T1" fmla="*/ 392 h 1760"/>
                    <a:gd name="T2" fmla="*/ 0 w 1968"/>
                    <a:gd name="T3" fmla="*/ 876 h 1760"/>
                    <a:gd name="T4" fmla="*/ 316 w 1968"/>
                    <a:gd name="T5" fmla="*/ 1260 h 1760"/>
                    <a:gd name="T6" fmla="*/ 1312 w 1968"/>
                    <a:gd name="T7" fmla="*/ 1760 h 1760"/>
                    <a:gd name="T8" fmla="*/ 1760 w 1968"/>
                    <a:gd name="T9" fmla="*/ 1704 h 1760"/>
                    <a:gd name="T10" fmla="*/ 1872 w 1968"/>
                    <a:gd name="T11" fmla="*/ 1624 h 1760"/>
                    <a:gd name="T12" fmla="*/ 1960 w 1968"/>
                    <a:gd name="T13" fmla="*/ 1284 h 1760"/>
                    <a:gd name="T14" fmla="*/ 1968 w 1968"/>
                    <a:gd name="T15" fmla="*/ 904 h 1760"/>
                    <a:gd name="T16" fmla="*/ 1728 w 1968"/>
                    <a:gd name="T17" fmla="*/ 280 h 1760"/>
                    <a:gd name="T18" fmla="*/ 716 w 1968"/>
                    <a:gd name="T19" fmla="*/ 0 h 1760"/>
                    <a:gd name="T20" fmla="*/ 388 w 1968"/>
                    <a:gd name="T21" fmla="*/ 156 h 1760"/>
                    <a:gd name="T22" fmla="*/ 88 w 1968"/>
                    <a:gd name="T23" fmla="*/ 424 h 176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968"/>
                    <a:gd name="T37" fmla="*/ 0 h 1760"/>
                    <a:gd name="T38" fmla="*/ 1968 w 1968"/>
                    <a:gd name="T39" fmla="*/ 1760 h 1760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968" h="1760">
                      <a:moveTo>
                        <a:pt x="84" y="392"/>
                      </a:moveTo>
                      <a:lnTo>
                        <a:pt x="0" y="876"/>
                      </a:lnTo>
                      <a:lnTo>
                        <a:pt x="316" y="1260"/>
                      </a:lnTo>
                      <a:lnTo>
                        <a:pt x="1312" y="1760"/>
                      </a:lnTo>
                      <a:lnTo>
                        <a:pt x="1760" y="1704"/>
                      </a:lnTo>
                      <a:lnTo>
                        <a:pt x="1872" y="1624"/>
                      </a:lnTo>
                      <a:lnTo>
                        <a:pt x="1960" y="1284"/>
                      </a:lnTo>
                      <a:lnTo>
                        <a:pt x="1968" y="904"/>
                      </a:lnTo>
                      <a:lnTo>
                        <a:pt x="1728" y="280"/>
                      </a:lnTo>
                      <a:lnTo>
                        <a:pt x="716" y="0"/>
                      </a:lnTo>
                      <a:lnTo>
                        <a:pt x="388" y="156"/>
                      </a:lnTo>
                      <a:lnTo>
                        <a:pt x="88" y="424"/>
                      </a:lnTo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25" name="Line 106"/>
                <p:cNvSpPr>
                  <a:spLocks noChangeShapeType="1"/>
                </p:cNvSpPr>
                <p:nvPr/>
              </p:nvSpPr>
              <p:spPr bwMode="auto">
                <a:xfrm>
                  <a:off x="17818" y="10378"/>
                  <a:ext cx="707" cy="857"/>
                </a:xfrm>
                <a:prstGeom prst="line">
                  <a:avLst/>
                </a:prstGeom>
                <a:grp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ln w="57150" cmpd="sng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" name="Line 108"/>
                <p:cNvSpPr>
                  <a:spLocks noChangeShapeType="1"/>
                </p:cNvSpPr>
                <p:nvPr/>
              </p:nvSpPr>
              <p:spPr bwMode="auto">
                <a:xfrm flipV="1">
                  <a:off x="18191" y="9648"/>
                  <a:ext cx="577" cy="256"/>
                </a:xfrm>
                <a:prstGeom prst="line">
                  <a:avLst/>
                </a:prstGeom>
                <a:grp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ln w="57150" cmpd="sng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7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17944" y="9972"/>
                  <a:ext cx="130" cy="671"/>
                </a:xfrm>
                <a:prstGeom prst="line">
                  <a:avLst/>
                </a:prstGeom>
                <a:grp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ln w="57150" cmpd="sng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8" name="Line 110"/>
                <p:cNvSpPr>
                  <a:spLocks noChangeShapeType="1"/>
                </p:cNvSpPr>
                <p:nvPr/>
              </p:nvSpPr>
              <p:spPr bwMode="auto">
                <a:xfrm>
                  <a:off x="18599" y="9665"/>
                  <a:ext cx="1236" cy="348"/>
                </a:xfrm>
                <a:prstGeom prst="line">
                  <a:avLst/>
                </a:prstGeom>
                <a:grp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29" name="Line 111"/>
                <p:cNvSpPr>
                  <a:spLocks noChangeShapeType="1"/>
                </p:cNvSpPr>
                <p:nvPr/>
              </p:nvSpPr>
              <p:spPr bwMode="auto">
                <a:xfrm>
                  <a:off x="19632" y="9792"/>
                  <a:ext cx="432" cy="1104"/>
                </a:xfrm>
                <a:prstGeom prst="line">
                  <a:avLst/>
                </a:prstGeom>
                <a:grp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30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19776" y="10464"/>
                  <a:ext cx="288" cy="1104"/>
                </a:xfrm>
                <a:prstGeom prst="line">
                  <a:avLst/>
                </a:prstGeom>
                <a:grp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31" name="Line 113"/>
                <p:cNvSpPr>
                  <a:spLocks noChangeShapeType="1"/>
                </p:cNvSpPr>
                <p:nvPr/>
              </p:nvSpPr>
              <p:spPr bwMode="auto">
                <a:xfrm flipV="1">
                  <a:off x="19055" y="11320"/>
                  <a:ext cx="1203" cy="142"/>
                </a:xfrm>
                <a:prstGeom prst="line">
                  <a:avLst/>
                </a:prstGeom>
                <a:grp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32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19925" y="10348"/>
                  <a:ext cx="28" cy="803"/>
                </a:xfrm>
                <a:prstGeom prst="line">
                  <a:avLst/>
                </a:prstGeom>
                <a:grp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xtLst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sp>
            <p:nvSpPr>
              <p:cNvPr id="21" name="Line 108"/>
              <p:cNvSpPr>
                <a:spLocks noChangeShapeType="1"/>
              </p:cNvSpPr>
              <p:nvPr/>
            </p:nvSpPr>
            <p:spPr bwMode="auto">
              <a:xfrm rot="20680052" flipV="1">
                <a:off x="2759023" y="2653086"/>
                <a:ext cx="937214" cy="819855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ln w="28575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" name="Line 113"/>
              <p:cNvSpPr>
                <a:spLocks noChangeShapeType="1"/>
              </p:cNvSpPr>
              <p:nvPr/>
            </p:nvSpPr>
            <p:spPr bwMode="auto">
              <a:xfrm rot="20680052" flipV="1">
                <a:off x="5933345" y="4276495"/>
                <a:ext cx="461755" cy="297403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709428" y="3497913"/>
                <a:ext cx="8322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𝜶</m:t>
                      </m:r>
                      <m:r>
                        <a:rPr lang="en-US" sz="2800" b="1" i="1" smtClean="0">
                          <a:latin typeface="Cambria Math"/>
                        </a:rPr>
                        <m:t> </m:t>
                      </m:r>
                      <m:r>
                        <a:rPr lang="en-US" sz="2800" b="1" i="1" smtClean="0">
                          <a:latin typeface="Cambria Math"/>
                        </a:rPr>
                        <m:t>𝑷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428" y="3497913"/>
                <a:ext cx="832279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Picture 5" descr="http://www.johnstonefitness.com/wp-content/uploads/2012/08/frown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62270" y="4834916"/>
            <a:ext cx="551294" cy="55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355480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Question: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 convex region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-approximation algorithm satisfying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≥</m:t>
                    </m:r>
                    <m:func>
                      <m:func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 </m:t>
                        </m:r>
                        <m:limLow>
                          <m:limLowPr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max</m:t>
                            </m:r>
                          </m:e>
                          <m:lim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∈</m:t>
                            </m:r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𝑃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can we get any meaningful approximate separation oracle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with black-box access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?</a:t>
                </a: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Second attempt: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maybe get separation oracle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𝐴</m:t>
                        </m:r>
                      </m:sub>
                      <m:sup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,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}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?</a:t>
                </a: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No.        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Impossible to query all directions.</a:t>
                </a:r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i.e. maybe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does really well in most directions. But one “hidden” direction is very restrictive.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Might accept too many points without querying every possible direction.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blipFill rotWithShape="1">
                <a:blip r:embed="rId2"/>
                <a:stretch>
                  <a:fillRect l="-531" t="-521" r="-132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  <p:pic>
        <p:nvPicPr>
          <p:cNvPr id="49" name="Picture 5" descr="http://www.johnstonefitness.com/wp-content/uploads/2012/08/frow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62270" y="4834916"/>
            <a:ext cx="551294" cy="55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0" name="Group 49"/>
          <p:cNvGrpSpPr/>
          <p:nvPr/>
        </p:nvGrpSpPr>
        <p:grpSpPr>
          <a:xfrm>
            <a:off x="3077902" y="3026499"/>
            <a:ext cx="2572659" cy="1796786"/>
            <a:chOff x="1636387" y="2259196"/>
            <a:chExt cx="5394207" cy="3809998"/>
          </a:xfrm>
        </p:grpSpPr>
        <p:grpSp>
          <p:nvGrpSpPr>
            <p:cNvPr id="53" name="Group 52"/>
            <p:cNvGrpSpPr/>
            <p:nvPr/>
          </p:nvGrpSpPr>
          <p:grpSpPr>
            <a:xfrm>
              <a:off x="1636387" y="2259196"/>
              <a:ext cx="5394207" cy="3809998"/>
              <a:chOff x="2149592" y="1752593"/>
              <a:chExt cx="5394207" cy="3809998"/>
            </a:xfrm>
          </p:grpSpPr>
          <p:grpSp>
            <p:nvGrpSpPr>
              <p:cNvPr id="66" name="Group 65"/>
              <p:cNvGrpSpPr/>
              <p:nvPr/>
            </p:nvGrpSpPr>
            <p:grpSpPr>
              <a:xfrm>
                <a:off x="2149592" y="1752593"/>
                <a:ext cx="5394207" cy="3809998"/>
                <a:chOff x="2759023" y="2173666"/>
                <a:chExt cx="3926352" cy="2999790"/>
              </a:xfrm>
            </p:grpSpPr>
            <p:grpSp>
              <p:nvGrpSpPr>
                <p:cNvPr id="68" name="Group 67"/>
                <p:cNvGrpSpPr>
                  <a:grpSpLocks/>
                </p:cNvGrpSpPr>
                <p:nvPr/>
              </p:nvGrpSpPr>
              <p:grpSpPr bwMode="auto">
                <a:xfrm rot="20680052">
                  <a:off x="2768782" y="2173666"/>
                  <a:ext cx="3916593" cy="2999790"/>
                  <a:chOff x="17818" y="9648"/>
                  <a:chExt cx="2440" cy="1920"/>
                </a:xfrm>
              </p:grpSpPr>
              <p:sp>
                <p:nvSpPr>
                  <p:cNvPr id="71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18117" y="10856"/>
                    <a:ext cx="1298" cy="66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2" name="Freeform 71"/>
                  <p:cNvSpPr>
                    <a:spLocks/>
                  </p:cNvSpPr>
                  <p:nvPr/>
                </p:nvSpPr>
                <p:spPr bwMode="auto">
                  <a:xfrm>
                    <a:off x="17968" y="9684"/>
                    <a:ext cx="1968" cy="1760"/>
                  </a:xfrm>
                  <a:custGeom>
                    <a:avLst/>
                    <a:gdLst>
                      <a:gd name="T0" fmla="*/ 84 w 1968"/>
                      <a:gd name="T1" fmla="*/ 392 h 1760"/>
                      <a:gd name="T2" fmla="*/ 0 w 1968"/>
                      <a:gd name="T3" fmla="*/ 876 h 1760"/>
                      <a:gd name="T4" fmla="*/ 316 w 1968"/>
                      <a:gd name="T5" fmla="*/ 1260 h 1760"/>
                      <a:gd name="T6" fmla="*/ 1312 w 1968"/>
                      <a:gd name="T7" fmla="*/ 1760 h 1760"/>
                      <a:gd name="T8" fmla="*/ 1760 w 1968"/>
                      <a:gd name="T9" fmla="*/ 1704 h 1760"/>
                      <a:gd name="T10" fmla="*/ 1872 w 1968"/>
                      <a:gd name="T11" fmla="*/ 1624 h 1760"/>
                      <a:gd name="T12" fmla="*/ 1960 w 1968"/>
                      <a:gd name="T13" fmla="*/ 1284 h 1760"/>
                      <a:gd name="T14" fmla="*/ 1968 w 1968"/>
                      <a:gd name="T15" fmla="*/ 904 h 1760"/>
                      <a:gd name="T16" fmla="*/ 1728 w 1968"/>
                      <a:gd name="T17" fmla="*/ 280 h 1760"/>
                      <a:gd name="T18" fmla="*/ 716 w 1968"/>
                      <a:gd name="T19" fmla="*/ 0 h 1760"/>
                      <a:gd name="T20" fmla="*/ 388 w 1968"/>
                      <a:gd name="T21" fmla="*/ 156 h 1760"/>
                      <a:gd name="T22" fmla="*/ 88 w 1968"/>
                      <a:gd name="T23" fmla="*/ 424 h 176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968"/>
                      <a:gd name="T37" fmla="*/ 0 h 1760"/>
                      <a:gd name="T38" fmla="*/ 1968 w 1968"/>
                      <a:gd name="T39" fmla="*/ 1760 h 1760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968" h="1760">
                        <a:moveTo>
                          <a:pt x="84" y="392"/>
                        </a:moveTo>
                        <a:lnTo>
                          <a:pt x="0" y="876"/>
                        </a:lnTo>
                        <a:lnTo>
                          <a:pt x="316" y="1260"/>
                        </a:lnTo>
                        <a:lnTo>
                          <a:pt x="1312" y="1760"/>
                        </a:lnTo>
                        <a:lnTo>
                          <a:pt x="1760" y="1704"/>
                        </a:lnTo>
                        <a:lnTo>
                          <a:pt x="1872" y="1624"/>
                        </a:lnTo>
                        <a:lnTo>
                          <a:pt x="1960" y="1284"/>
                        </a:lnTo>
                        <a:lnTo>
                          <a:pt x="1968" y="904"/>
                        </a:lnTo>
                        <a:lnTo>
                          <a:pt x="1728" y="280"/>
                        </a:lnTo>
                        <a:lnTo>
                          <a:pt x="716" y="0"/>
                        </a:lnTo>
                        <a:lnTo>
                          <a:pt x="388" y="156"/>
                        </a:lnTo>
                        <a:lnTo>
                          <a:pt x="88" y="424"/>
                        </a:lnTo>
                      </a:path>
                    </a:pathLst>
                  </a:custGeom>
                  <a:solidFill>
                    <a:schemeClr val="tx2">
                      <a:lumMod val="60000"/>
                      <a:lumOff val="4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3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17818" y="10378"/>
                    <a:ext cx="707" cy="8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74" name="Line 1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91" y="9648"/>
                    <a:ext cx="577" cy="25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75" name="Line 1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944" y="9972"/>
                    <a:ext cx="130" cy="671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76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18599" y="9665"/>
                    <a:ext cx="1236" cy="3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7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19632" y="9792"/>
                    <a:ext cx="432" cy="110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8" name="Line 1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776" y="10464"/>
                    <a:ext cx="288" cy="110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9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055" y="11320"/>
                    <a:ext cx="1203" cy="14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80" name="Line 1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5" y="10348"/>
                    <a:ext cx="28" cy="8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69" name="Line 108"/>
                <p:cNvSpPr>
                  <a:spLocks noChangeShapeType="1"/>
                </p:cNvSpPr>
                <p:nvPr/>
              </p:nvSpPr>
              <p:spPr bwMode="auto">
                <a:xfrm rot="20680052" flipV="1">
                  <a:off x="2759023" y="2653086"/>
                  <a:ext cx="937214" cy="81985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ln w="28575" cmpd="sng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0" name="Line 113"/>
                <p:cNvSpPr>
                  <a:spLocks noChangeShapeType="1"/>
                </p:cNvSpPr>
                <p:nvPr/>
              </p:nvSpPr>
              <p:spPr bwMode="auto">
                <a:xfrm rot="20680052" flipV="1">
                  <a:off x="5933345" y="4276495"/>
                  <a:ext cx="461755" cy="29740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pic>
            <p:nvPicPr>
              <p:cNvPr id="67" name="Picture 66" descr="latex-image-1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3581400" y="2743200"/>
                <a:ext cx="2374900" cy="1612900"/>
              </a:xfrm>
              <a:prstGeom prst="rect">
                <a:avLst/>
              </a:prstGeom>
            </p:spPr>
          </p:pic>
        </p:grpSp>
        <p:grpSp>
          <p:nvGrpSpPr>
            <p:cNvPr id="54" name="Group 53"/>
            <p:cNvGrpSpPr/>
            <p:nvPr/>
          </p:nvGrpSpPr>
          <p:grpSpPr>
            <a:xfrm>
              <a:off x="2253897" y="2840920"/>
              <a:ext cx="3792968" cy="2870294"/>
              <a:chOff x="2253897" y="2840920"/>
              <a:chExt cx="3792968" cy="2870294"/>
            </a:xfrm>
            <a:solidFill>
              <a:srgbClr val="21593A"/>
            </a:solidFill>
          </p:grpSpPr>
          <p:sp>
            <p:nvSpPr>
              <p:cNvPr id="55" name="Freeform 54"/>
              <p:cNvSpPr/>
              <p:nvPr/>
            </p:nvSpPr>
            <p:spPr>
              <a:xfrm>
                <a:off x="2415066" y="3299940"/>
                <a:ext cx="3370092" cy="1999963"/>
              </a:xfrm>
              <a:custGeom>
                <a:avLst/>
                <a:gdLst>
                  <a:gd name="connsiteX0" fmla="*/ 725020 w 3370092"/>
                  <a:gd name="connsiteY0" fmla="*/ 44999 h 1999963"/>
                  <a:gd name="connsiteX1" fmla="*/ 0 w 3370092"/>
                  <a:gd name="connsiteY1" fmla="*/ 1064980 h 1999963"/>
                  <a:gd name="connsiteX2" fmla="*/ 1035028 w 3370092"/>
                  <a:gd name="connsiteY2" fmla="*/ 1699969 h 1999963"/>
                  <a:gd name="connsiteX3" fmla="*/ 2795076 w 3370092"/>
                  <a:gd name="connsiteY3" fmla="*/ 1999963 h 1999963"/>
                  <a:gd name="connsiteX4" fmla="*/ 3360092 w 3370092"/>
                  <a:gd name="connsiteY4" fmla="*/ 1769968 h 1999963"/>
                  <a:gd name="connsiteX5" fmla="*/ 3370092 w 3370092"/>
                  <a:gd name="connsiteY5" fmla="*/ 564990 h 1999963"/>
                  <a:gd name="connsiteX6" fmla="*/ 2905079 w 3370092"/>
                  <a:gd name="connsiteY6" fmla="*/ 0 h 1999963"/>
                  <a:gd name="connsiteX7" fmla="*/ 725020 w 3370092"/>
                  <a:gd name="connsiteY7" fmla="*/ 44999 h 199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0092" h="1999963">
                    <a:moveTo>
                      <a:pt x="725020" y="44999"/>
                    </a:moveTo>
                    <a:lnTo>
                      <a:pt x="0" y="1064980"/>
                    </a:lnTo>
                    <a:lnTo>
                      <a:pt x="1035028" y="1699969"/>
                    </a:lnTo>
                    <a:lnTo>
                      <a:pt x="2795076" y="1999963"/>
                    </a:lnTo>
                    <a:lnTo>
                      <a:pt x="3360092" y="1769968"/>
                    </a:lnTo>
                    <a:cubicBezTo>
                      <a:pt x="3363425" y="1368309"/>
                      <a:pt x="3366759" y="966649"/>
                      <a:pt x="3370092" y="564990"/>
                    </a:cubicBezTo>
                    <a:lnTo>
                      <a:pt x="2905079" y="0"/>
                    </a:lnTo>
                    <a:lnTo>
                      <a:pt x="725020" y="44999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56" name="Line 108"/>
              <p:cNvSpPr>
                <a:spLocks noChangeShapeType="1"/>
              </p:cNvSpPr>
              <p:nvPr/>
            </p:nvSpPr>
            <p:spPr bwMode="auto">
              <a:xfrm rot="20680052" flipV="1">
                <a:off x="2556098" y="2840920"/>
                <a:ext cx="1272427" cy="508000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prstDash val="dash"/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>
                    <a:ln w="57150" cmpd="sng">
                      <a:solidFill>
                        <a:schemeClr val="tx1"/>
                      </a:solidFill>
                    </a:ln>
                  </a:rPr>
                  <a:t>   </a:t>
                </a:r>
                <a:endParaRPr lang="en-US" dirty="0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7" name="Line 110"/>
              <p:cNvSpPr>
                <a:spLocks noChangeShapeType="1"/>
              </p:cNvSpPr>
              <p:nvPr/>
            </p:nvSpPr>
            <p:spPr bwMode="auto">
              <a:xfrm rot="20680052">
                <a:off x="3103059" y="3013292"/>
                <a:ext cx="2478326" cy="627894"/>
              </a:xfrm>
              <a:prstGeom prst="line">
                <a:avLst/>
              </a:prstGeom>
              <a:grpFill/>
              <a:ln w="28575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8" name="Line 112"/>
              <p:cNvSpPr>
                <a:spLocks noChangeShapeType="1"/>
              </p:cNvSpPr>
              <p:nvPr/>
            </p:nvSpPr>
            <p:spPr bwMode="auto">
              <a:xfrm rot="20680052" flipH="1">
                <a:off x="5564165" y="3703581"/>
                <a:ext cx="430772" cy="1485901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59" name="Line 111"/>
              <p:cNvSpPr>
                <a:spLocks noChangeShapeType="1"/>
              </p:cNvSpPr>
              <p:nvPr/>
            </p:nvSpPr>
            <p:spPr bwMode="auto">
              <a:xfrm rot="20680052">
                <a:off x="5256035" y="2944940"/>
                <a:ext cx="526802" cy="1211434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0" name="Line 114"/>
              <p:cNvSpPr>
                <a:spLocks noChangeShapeType="1"/>
              </p:cNvSpPr>
              <p:nvPr/>
            </p:nvSpPr>
            <p:spPr bwMode="auto">
              <a:xfrm rot="20680052" flipH="1">
                <a:off x="5956877" y="3499670"/>
                <a:ext cx="89988" cy="1191636"/>
              </a:xfrm>
              <a:prstGeom prst="line">
                <a:avLst/>
              </a:prstGeom>
              <a:grpFill/>
              <a:ln w="28575">
                <a:solidFill>
                  <a:srgbClr val="FFFFFF"/>
                </a:solidFill>
                <a:prstDash val="dash"/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1" name="Line 113"/>
              <p:cNvSpPr>
                <a:spLocks noChangeShapeType="1"/>
              </p:cNvSpPr>
              <p:nvPr/>
            </p:nvSpPr>
            <p:spPr bwMode="auto">
              <a:xfrm rot="20680052" flipV="1">
                <a:off x="5065266" y="5128847"/>
                <a:ext cx="915142" cy="97202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2" name="Line 107"/>
              <p:cNvSpPr>
                <a:spLocks noChangeShapeType="1"/>
              </p:cNvSpPr>
              <p:nvPr/>
            </p:nvSpPr>
            <p:spPr bwMode="auto">
              <a:xfrm rot="20680052">
                <a:off x="2764368" y="4505324"/>
                <a:ext cx="2603989" cy="1205890"/>
              </a:xfrm>
              <a:prstGeom prst="line">
                <a:avLst/>
              </a:prstGeom>
              <a:grpFill/>
              <a:ln w="28575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3" name="Line 106"/>
              <p:cNvSpPr>
                <a:spLocks noChangeShapeType="1"/>
              </p:cNvSpPr>
              <p:nvPr/>
            </p:nvSpPr>
            <p:spPr bwMode="auto">
              <a:xfrm rot="20680052">
                <a:off x="2475125" y="4139071"/>
                <a:ext cx="1081379" cy="1179521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4" name="Line 109"/>
              <p:cNvSpPr>
                <a:spLocks noChangeShapeType="1"/>
              </p:cNvSpPr>
              <p:nvPr/>
            </p:nvSpPr>
            <p:spPr bwMode="auto">
              <a:xfrm rot="20680052" flipH="1">
                <a:off x="2253897" y="4076260"/>
                <a:ext cx="131025" cy="608554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prstDash val="dash"/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>
                    <a:ln w="57150" cmpd="sng">
                      <a:solidFill>
                        <a:schemeClr val="tx1"/>
                      </a:solidFill>
                    </a:ln>
                  </a:rPr>
                  <a:t>                  </a:t>
                </a:r>
                <a:endParaRPr lang="en-US" dirty="0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5" name="Line 108"/>
              <p:cNvSpPr>
                <a:spLocks noChangeShapeType="1"/>
              </p:cNvSpPr>
              <p:nvPr/>
            </p:nvSpPr>
            <p:spPr bwMode="auto">
              <a:xfrm rot="20680052" flipV="1">
                <a:off x="2278455" y="3406169"/>
                <a:ext cx="1050535" cy="849580"/>
              </a:xfrm>
              <a:prstGeom prst="line">
                <a:avLst/>
              </a:prstGeom>
              <a:grpFill/>
              <a:ln w="25400">
                <a:solidFill>
                  <a:srgbClr val="FFFFFF"/>
                </a:solidFill>
                <a:round/>
                <a:headEnd/>
                <a:tailEnd/>
              </a:ln>
              <a:ex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ln w="28575" cmpd="sng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972842" y="3644159"/>
                <a:ext cx="7189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/>
                            </a:rPr>
                            <m:t>𝑨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842" y="3644159"/>
                <a:ext cx="718915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966694251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Question: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 convex region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-approximation algorithm satisfying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≥</m:t>
                    </m:r>
                    <m:func>
                      <m:func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 </m:t>
                        </m:r>
                        <m:limLow>
                          <m:limLowPr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max</m:t>
                            </m:r>
                          </m:e>
                          <m:lim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∈</m:t>
                            </m:r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𝑃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can we get any meaningful approximate separation oracle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with black-box access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?</a:t>
                </a: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Third attempt: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maybe get separation oracle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𝐴</m:t>
                        </m:r>
                      </m:sub>
                      <m:sup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+</m:t>
                        </m:r>
                      </m:sup>
                    </m:sSubSup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𝐶𝑜𝑛𝑣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000" b="0" i="1" smtClean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  <a:cs typeface="Times New Roman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d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𝑑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?</a:t>
                </a: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No.        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Impossible to query all directions.</a:t>
                </a:r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i.e. maybe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does really poorly in most directions. But one “hidden” direction is very good.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Might not accept enough points without querying every possible direction.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blipFill rotWithShape="1">
                <a:blip r:embed="rId2"/>
                <a:stretch>
                  <a:fillRect l="-531" t="-521" r="-132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  <p:pic>
        <p:nvPicPr>
          <p:cNvPr id="49" name="Picture 5" descr="http://www.johnstonefitness.com/wp-content/uploads/2012/08/frow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62270" y="4834916"/>
            <a:ext cx="551294" cy="55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oup 34"/>
          <p:cNvGrpSpPr/>
          <p:nvPr/>
        </p:nvGrpSpPr>
        <p:grpSpPr>
          <a:xfrm>
            <a:off x="2880301" y="2967512"/>
            <a:ext cx="3027489" cy="2092934"/>
            <a:chOff x="6290049" y="4543570"/>
            <a:chExt cx="3135089" cy="2214353"/>
          </a:xfrm>
        </p:grpSpPr>
        <p:grpSp>
          <p:nvGrpSpPr>
            <p:cNvPr id="36" name="Group 35"/>
            <p:cNvGrpSpPr/>
            <p:nvPr/>
          </p:nvGrpSpPr>
          <p:grpSpPr>
            <a:xfrm>
              <a:off x="6290049" y="4543570"/>
              <a:ext cx="3135089" cy="2214353"/>
              <a:chOff x="1636387" y="2259196"/>
              <a:chExt cx="5394207" cy="3809998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1636387" y="2259196"/>
                <a:ext cx="5394207" cy="3809998"/>
                <a:chOff x="2759023" y="2173666"/>
                <a:chExt cx="3926352" cy="2999790"/>
              </a:xfrm>
            </p:grpSpPr>
            <p:grpSp>
              <p:nvGrpSpPr>
                <p:cNvPr id="81" name="Group 80"/>
                <p:cNvGrpSpPr>
                  <a:grpSpLocks/>
                </p:cNvGrpSpPr>
                <p:nvPr/>
              </p:nvGrpSpPr>
              <p:grpSpPr bwMode="auto">
                <a:xfrm rot="20680052">
                  <a:off x="2768782" y="2173666"/>
                  <a:ext cx="3916593" cy="2999790"/>
                  <a:chOff x="17818" y="9648"/>
                  <a:chExt cx="2440" cy="1920"/>
                </a:xfrm>
              </p:grpSpPr>
              <p:sp>
                <p:nvSpPr>
                  <p:cNvPr id="84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18117" y="10856"/>
                    <a:ext cx="1298" cy="66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85" name="Freeform 84"/>
                  <p:cNvSpPr>
                    <a:spLocks/>
                  </p:cNvSpPr>
                  <p:nvPr/>
                </p:nvSpPr>
                <p:spPr bwMode="auto">
                  <a:xfrm>
                    <a:off x="17968" y="9684"/>
                    <a:ext cx="1968" cy="1760"/>
                  </a:xfrm>
                  <a:custGeom>
                    <a:avLst/>
                    <a:gdLst>
                      <a:gd name="T0" fmla="*/ 84 w 1968"/>
                      <a:gd name="T1" fmla="*/ 392 h 1760"/>
                      <a:gd name="T2" fmla="*/ 0 w 1968"/>
                      <a:gd name="T3" fmla="*/ 876 h 1760"/>
                      <a:gd name="T4" fmla="*/ 316 w 1968"/>
                      <a:gd name="T5" fmla="*/ 1260 h 1760"/>
                      <a:gd name="T6" fmla="*/ 1312 w 1968"/>
                      <a:gd name="T7" fmla="*/ 1760 h 1760"/>
                      <a:gd name="T8" fmla="*/ 1760 w 1968"/>
                      <a:gd name="T9" fmla="*/ 1704 h 1760"/>
                      <a:gd name="T10" fmla="*/ 1872 w 1968"/>
                      <a:gd name="T11" fmla="*/ 1624 h 1760"/>
                      <a:gd name="T12" fmla="*/ 1960 w 1968"/>
                      <a:gd name="T13" fmla="*/ 1284 h 1760"/>
                      <a:gd name="T14" fmla="*/ 1968 w 1968"/>
                      <a:gd name="T15" fmla="*/ 904 h 1760"/>
                      <a:gd name="T16" fmla="*/ 1728 w 1968"/>
                      <a:gd name="T17" fmla="*/ 280 h 1760"/>
                      <a:gd name="T18" fmla="*/ 716 w 1968"/>
                      <a:gd name="T19" fmla="*/ 0 h 1760"/>
                      <a:gd name="T20" fmla="*/ 388 w 1968"/>
                      <a:gd name="T21" fmla="*/ 156 h 1760"/>
                      <a:gd name="T22" fmla="*/ 88 w 1968"/>
                      <a:gd name="T23" fmla="*/ 424 h 1760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968"/>
                      <a:gd name="T37" fmla="*/ 0 h 1760"/>
                      <a:gd name="T38" fmla="*/ 1968 w 1968"/>
                      <a:gd name="T39" fmla="*/ 1760 h 1760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968" h="1760">
                        <a:moveTo>
                          <a:pt x="84" y="392"/>
                        </a:moveTo>
                        <a:lnTo>
                          <a:pt x="0" y="876"/>
                        </a:lnTo>
                        <a:lnTo>
                          <a:pt x="316" y="1260"/>
                        </a:lnTo>
                        <a:lnTo>
                          <a:pt x="1312" y="1760"/>
                        </a:lnTo>
                        <a:lnTo>
                          <a:pt x="1760" y="1704"/>
                        </a:lnTo>
                        <a:lnTo>
                          <a:pt x="1872" y="1624"/>
                        </a:lnTo>
                        <a:lnTo>
                          <a:pt x="1960" y="1284"/>
                        </a:lnTo>
                        <a:lnTo>
                          <a:pt x="1968" y="904"/>
                        </a:lnTo>
                        <a:lnTo>
                          <a:pt x="1728" y="280"/>
                        </a:lnTo>
                        <a:lnTo>
                          <a:pt x="716" y="0"/>
                        </a:lnTo>
                        <a:lnTo>
                          <a:pt x="388" y="156"/>
                        </a:lnTo>
                        <a:lnTo>
                          <a:pt x="88" y="424"/>
                        </a:lnTo>
                      </a:path>
                    </a:pathLst>
                  </a:custGeom>
                  <a:solidFill>
                    <a:schemeClr val="tx2">
                      <a:lumMod val="60000"/>
                      <a:lumOff val="4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86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17818" y="10378"/>
                    <a:ext cx="707" cy="8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87" name="Line 1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191" y="9648"/>
                    <a:ext cx="577" cy="25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88" name="Line 1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944" y="9972"/>
                    <a:ext cx="130" cy="671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ln w="57150" cmpd="sng"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89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18599" y="9665"/>
                    <a:ext cx="1236" cy="3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90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19632" y="9792"/>
                    <a:ext cx="432" cy="110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91" name="Line 1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776" y="10464"/>
                    <a:ext cx="288" cy="1104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92" name="Line 1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055" y="11320"/>
                    <a:ext cx="1203" cy="14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93" name="Line 1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925" y="10348"/>
                    <a:ext cx="28" cy="803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  <a:noFill/>
                      </a14:hiddenFill>
                    </a:ext>
                  </a:extLst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82" name="Line 108"/>
                <p:cNvSpPr>
                  <a:spLocks noChangeShapeType="1"/>
                </p:cNvSpPr>
                <p:nvPr/>
              </p:nvSpPr>
              <p:spPr bwMode="auto">
                <a:xfrm rot="20680052" flipV="1">
                  <a:off x="2759023" y="2653086"/>
                  <a:ext cx="937214" cy="81985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ln w="28575" cmpd="sng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3" name="Line 113"/>
                <p:cNvSpPr>
                  <a:spLocks noChangeShapeType="1"/>
                </p:cNvSpPr>
                <p:nvPr/>
              </p:nvSpPr>
              <p:spPr bwMode="auto">
                <a:xfrm rot="20680052" flipV="1">
                  <a:off x="5933345" y="4276495"/>
                  <a:ext cx="461755" cy="29740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  <a:noFill/>
                    </a14:hiddenFill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sp>
            <p:nvSpPr>
              <p:cNvPr id="52" name="Freeform 51"/>
              <p:cNvSpPr/>
              <p:nvPr/>
            </p:nvSpPr>
            <p:spPr>
              <a:xfrm>
                <a:off x="2540180" y="3078644"/>
                <a:ext cx="3489537" cy="2155050"/>
              </a:xfrm>
              <a:custGeom>
                <a:avLst/>
                <a:gdLst>
                  <a:gd name="connsiteX0" fmla="*/ 282242 w 3489537"/>
                  <a:gd name="connsiteY0" fmla="*/ 461796 h 2155050"/>
                  <a:gd name="connsiteX1" fmla="*/ 769751 w 3489537"/>
                  <a:gd name="connsiteY1" fmla="*/ 0 h 2155050"/>
                  <a:gd name="connsiteX2" fmla="*/ 2835249 w 3489537"/>
                  <a:gd name="connsiteY2" fmla="*/ 0 h 2155050"/>
                  <a:gd name="connsiteX3" fmla="*/ 3489537 w 3489537"/>
                  <a:gd name="connsiteY3" fmla="*/ 1411045 h 2155050"/>
                  <a:gd name="connsiteX4" fmla="*/ 3271441 w 3489537"/>
                  <a:gd name="connsiteY4" fmla="*/ 2155050 h 2155050"/>
                  <a:gd name="connsiteX5" fmla="*/ 0 w 3489537"/>
                  <a:gd name="connsiteY5" fmla="*/ 1667598 h 2155050"/>
                  <a:gd name="connsiteX6" fmla="*/ 282242 w 3489537"/>
                  <a:gd name="connsiteY6" fmla="*/ 461796 h 215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89537" h="2155050">
                    <a:moveTo>
                      <a:pt x="282242" y="461796"/>
                    </a:moveTo>
                    <a:lnTo>
                      <a:pt x="769751" y="0"/>
                    </a:lnTo>
                    <a:lnTo>
                      <a:pt x="2835249" y="0"/>
                    </a:lnTo>
                    <a:lnTo>
                      <a:pt x="3489537" y="1411045"/>
                    </a:lnTo>
                    <a:lnTo>
                      <a:pt x="3271441" y="2155050"/>
                    </a:lnTo>
                    <a:lnTo>
                      <a:pt x="0" y="1667598"/>
                    </a:lnTo>
                    <a:lnTo>
                      <a:pt x="282242" y="461796"/>
                    </a:lnTo>
                    <a:close/>
                  </a:path>
                </a:pathLst>
              </a:custGeom>
              <a:solidFill>
                <a:srgbClr val="D9D9D9"/>
              </a:solidFill>
              <a:ln w="28575" cap="rnd" cmpd="sng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37" name="Oval 36"/>
            <p:cNvSpPr>
              <a:spLocks noChangeAspect="1"/>
            </p:cNvSpPr>
            <p:nvPr/>
          </p:nvSpPr>
          <p:spPr>
            <a:xfrm>
              <a:off x="7244537" y="4997423"/>
              <a:ext cx="53344" cy="533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8435162" y="4993158"/>
              <a:ext cx="53344" cy="533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>
            <a:xfrm>
              <a:off x="8816760" y="5818356"/>
              <a:ext cx="53344" cy="533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8686559" y="6245663"/>
              <a:ext cx="53344" cy="533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6788657" y="5957903"/>
              <a:ext cx="53344" cy="533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6958648" y="5260085"/>
              <a:ext cx="53344" cy="533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43" name="Picture 42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tretch>
              <a:fillRect/>
            </a:stretch>
          </p:blipFill>
          <p:spPr>
            <a:xfrm>
              <a:off x="6861918" y="4683435"/>
              <a:ext cx="1003300" cy="685800"/>
            </a:xfrm>
            <a:prstGeom prst="rect">
              <a:avLst/>
            </a:prstGeom>
          </p:spPr>
        </p:pic>
        <p:pic>
          <p:nvPicPr>
            <p:cNvPr id="44" name="Picture 43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tretch>
              <a:fillRect/>
            </a:stretch>
          </p:blipFill>
          <p:spPr>
            <a:xfrm>
              <a:off x="7881224" y="4703601"/>
              <a:ext cx="1003300" cy="685800"/>
            </a:xfrm>
            <a:prstGeom prst="rect">
              <a:avLst/>
            </a:prstGeom>
          </p:spPr>
        </p:pic>
        <p:pic>
          <p:nvPicPr>
            <p:cNvPr id="45" name="Picture 44" descr="latex-image-1.pdf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tretch>
              <a:fillRect/>
            </a:stretch>
          </p:blipFill>
          <p:spPr>
            <a:xfrm>
              <a:off x="8346864" y="5518634"/>
              <a:ext cx="1003300" cy="685800"/>
            </a:xfrm>
            <a:prstGeom prst="rect">
              <a:avLst/>
            </a:prstGeom>
          </p:spPr>
        </p:pic>
        <p:pic>
          <p:nvPicPr>
            <p:cNvPr id="46" name="Picture 45" descr="latex-image-1.pd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tretch>
              <a:fillRect/>
            </a:stretch>
          </p:blipFill>
          <p:spPr>
            <a:xfrm>
              <a:off x="8026400" y="5908859"/>
              <a:ext cx="1003300" cy="685800"/>
            </a:xfrm>
            <a:prstGeom prst="rect">
              <a:avLst/>
            </a:prstGeom>
          </p:spPr>
        </p:pic>
        <p:pic>
          <p:nvPicPr>
            <p:cNvPr id="47" name="Picture 46" descr="latex-image-1.pdf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tretch>
              <a:fillRect/>
            </a:stretch>
          </p:blipFill>
          <p:spPr>
            <a:xfrm>
              <a:off x="6578600" y="5700299"/>
              <a:ext cx="1003300" cy="685800"/>
            </a:xfrm>
            <a:prstGeom prst="rect">
              <a:avLst/>
            </a:prstGeom>
          </p:spPr>
        </p:pic>
        <p:pic>
          <p:nvPicPr>
            <p:cNvPr id="48" name="Picture 47" descr="latex-image-1.pdf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tretch>
              <a:fillRect/>
            </a:stretch>
          </p:blipFill>
          <p:spPr>
            <a:xfrm>
              <a:off x="6753685" y="5120504"/>
              <a:ext cx="1003300" cy="685800"/>
            </a:xfrm>
            <a:prstGeom prst="rect">
              <a:avLst/>
            </a:prstGeom>
          </p:spPr>
        </p:pic>
      </p:grp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" name="TextBox 1"/>
              <p:cNvSpPr txBox="1"/>
              <p:nvPr/>
            </p:nvSpPr>
            <p:spPr>
              <a:xfrm>
                <a:off x="3972842" y="3644159"/>
                <a:ext cx="7189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/>
                            </a:rPr>
                            <m:t>𝑨</m:t>
                          </m:r>
                        </m:sub>
                        <m:sup>
                          <m:r>
                            <a:rPr lang="en-US" sz="2800" b="1" i="1" smtClean="0">
                              <a:latin typeface="Cambria Math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842" y="3644159"/>
                <a:ext cx="718915" cy="52322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02589491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Question: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 convex region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-approximation algorithm satisfying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≥</m:t>
                    </m:r>
                    <m:func>
                      <m:func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 </m:t>
                        </m:r>
                        <m:limLow>
                          <m:limLowPr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max</m:t>
                            </m:r>
                          </m:e>
                          <m:lim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∈</m:t>
                            </m:r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𝑃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sz="20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can we get any meaningful approximate separation oracle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with black-box access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?</a:t>
                </a: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Next attempt: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forget about convex regions.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instead of an exact optimization algorithm inside separation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optimization and hope for the best.</a:t>
                </a: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endParaRPr lang="en-US" sz="2000" b="1" dirty="0">
                  <a:latin typeface="Times New Roman"/>
                  <a:cs typeface="Times New Roman"/>
                </a:endParaRPr>
              </a:p>
              <a:p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latin typeface="Times New Roman"/>
                    <a:cs typeface="Times New Roman"/>
                  </a:rPr>
                  <a:t>Interestingly, this works.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26431"/>
                <a:ext cx="9177129" cy="5847347"/>
              </a:xfrm>
              <a:blipFill rotWithShape="1">
                <a:blip r:embed="rId2"/>
                <a:stretch>
                  <a:fillRect l="-531" t="-521" r="-132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  <p:grpSp>
        <p:nvGrpSpPr>
          <p:cNvPr id="69" name="Group 68"/>
          <p:cNvGrpSpPr/>
          <p:nvPr/>
        </p:nvGrpSpPr>
        <p:grpSpPr>
          <a:xfrm>
            <a:off x="2572639" y="2973412"/>
            <a:ext cx="3620417" cy="2567707"/>
            <a:chOff x="2759023" y="2173671"/>
            <a:chExt cx="3926352" cy="2999791"/>
          </a:xfrm>
        </p:grpSpPr>
        <p:grpSp>
          <p:nvGrpSpPr>
            <p:cNvPr id="71" name="Group 104"/>
            <p:cNvGrpSpPr>
              <a:grpSpLocks/>
            </p:cNvGrpSpPr>
            <p:nvPr/>
          </p:nvGrpSpPr>
          <p:grpSpPr bwMode="auto">
            <a:xfrm rot="20680052">
              <a:off x="2768782" y="2173671"/>
              <a:ext cx="3916593" cy="2999791"/>
              <a:chOff x="17818" y="9648"/>
              <a:chExt cx="2440" cy="1920"/>
            </a:xfrm>
          </p:grpSpPr>
          <p:sp>
            <p:nvSpPr>
              <p:cNvPr id="74" name="Line 107"/>
              <p:cNvSpPr>
                <a:spLocks noChangeShapeType="1"/>
              </p:cNvSpPr>
              <p:nvPr/>
            </p:nvSpPr>
            <p:spPr bwMode="auto">
              <a:xfrm>
                <a:off x="18117" y="10856"/>
                <a:ext cx="1298" cy="6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5" name="Freeform 105"/>
              <p:cNvSpPr>
                <a:spLocks/>
              </p:cNvSpPr>
              <p:nvPr/>
            </p:nvSpPr>
            <p:spPr bwMode="auto">
              <a:xfrm>
                <a:off x="17968" y="9684"/>
                <a:ext cx="1968" cy="1760"/>
              </a:xfrm>
              <a:custGeom>
                <a:avLst/>
                <a:gdLst>
                  <a:gd name="T0" fmla="*/ 84 w 1968"/>
                  <a:gd name="T1" fmla="*/ 392 h 1760"/>
                  <a:gd name="T2" fmla="*/ 0 w 1968"/>
                  <a:gd name="T3" fmla="*/ 876 h 1760"/>
                  <a:gd name="T4" fmla="*/ 316 w 1968"/>
                  <a:gd name="T5" fmla="*/ 1260 h 1760"/>
                  <a:gd name="T6" fmla="*/ 1312 w 1968"/>
                  <a:gd name="T7" fmla="*/ 1760 h 1760"/>
                  <a:gd name="T8" fmla="*/ 1760 w 1968"/>
                  <a:gd name="T9" fmla="*/ 1704 h 1760"/>
                  <a:gd name="T10" fmla="*/ 1872 w 1968"/>
                  <a:gd name="T11" fmla="*/ 1624 h 1760"/>
                  <a:gd name="T12" fmla="*/ 1960 w 1968"/>
                  <a:gd name="T13" fmla="*/ 1284 h 1760"/>
                  <a:gd name="T14" fmla="*/ 1968 w 1968"/>
                  <a:gd name="T15" fmla="*/ 904 h 1760"/>
                  <a:gd name="T16" fmla="*/ 1728 w 1968"/>
                  <a:gd name="T17" fmla="*/ 280 h 1760"/>
                  <a:gd name="T18" fmla="*/ 716 w 1968"/>
                  <a:gd name="T19" fmla="*/ 0 h 1760"/>
                  <a:gd name="T20" fmla="*/ 388 w 1968"/>
                  <a:gd name="T21" fmla="*/ 156 h 1760"/>
                  <a:gd name="T22" fmla="*/ 88 w 1968"/>
                  <a:gd name="T23" fmla="*/ 424 h 176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68"/>
                  <a:gd name="T37" fmla="*/ 0 h 1760"/>
                  <a:gd name="T38" fmla="*/ 1968 w 1968"/>
                  <a:gd name="T39" fmla="*/ 1760 h 176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68" h="1760">
                    <a:moveTo>
                      <a:pt x="84" y="392"/>
                    </a:moveTo>
                    <a:lnTo>
                      <a:pt x="0" y="876"/>
                    </a:lnTo>
                    <a:lnTo>
                      <a:pt x="316" y="1260"/>
                    </a:lnTo>
                    <a:lnTo>
                      <a:pt x="1312" y="1760"/>
                    </a:lnTo>
                    <a:lnTo>
                      <a:pt x="1760" y="1704"/>
                    </a:lnTo>
                    <a:lnTo>
                      <a:pt x="1872" y="1624"/>
                    </a:lnTo>
                    <a:lnTo>
                      <a:pt x="1960" y="1284"/>
                    </a:lnTo>
                    <a:lnTo>
                      <a:pt x="1968" y="904"/>
                    </a:lnTo>
                    <a:lnTo>
                      <a:pt x="1728" y="280"/>
                    </a:lnTo>
                    <a:lnTo>
                      <a:pt x="716" y="0"/>
                    </a:lnTo>
                    <a:lnTo>
                      <a:pt x="388" y="156"/>
                    </a:lnTo>
                    <a:lnTo>
                      <a:pt x="88" y="424"/>
                    </a:lnTo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6" name="Line 106"/>
              <p:cNvSpPr>
                <a:spLocks noChangeShapeType="1"/>
              </p:cNvSpPr>
              <p:nvPr/>
            </p:nvSpPr>
            <p:spPr bwMode="auto">
              <a:xfrm>
                <a:off x="17818" y="10378"/>
                <a:ext cx="707" cy="8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7" name="Line 108"/>
              <p:cNvSpPr>
                <a:spLocks noChangeShapeType="1"/>
              </p:cNvSpPr>
              <p:nvPr/>
            </p:nvSpPr>
            <p:spPr bwMode="auto">
              <a:xfrm flipV="1">
                <a:off x="18191" y="9648"/>
                <a:ext cx="577" cy="2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8" name="Line 109"/>
              <p:cNvSpPr>
                <a:spLocks noChangeShapeType="1"/>
              </p:cNvSpPr>
              <p:nvPr/>
            </p:nvSpPr>
            <p:spPr bwMode="auto">
              <a:xfrm flipH="1">
                <a:off x="17944" y="9972"/>
                <a:ext cx="130" cy="67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79" name="Line 110"/>
              <p:cNvSpPr>
                <a:spLocks noChangeShapeType="1"/>
              </p:cNvSpPr>
              <p:nvPr/>
            </p:nvSpPr>
            <p:spPr bwMode="auto">
              <a:xfrm>
                <a:off x="18599" y="9665"/>
                <a:ext cx="1236" cy="3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0" name="Line 111"/>
              <p:cNvSpPr>
                <a:spLocks noChangeShapeType="1"/>
              </p:cNvSpPr>
              <p:nvPr/>
            </p:nvSpPr>
            <p:spPr bwMode="auto">
              <a:xfrm>
                <a:off x="19632" y="9792"/>
                <a:ext cx="432" cy="1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4" name="Line 112"/>
              <p:cNvSpPr>
                <a:spLocks noChangeShapeType="1"/>
              </p:cNvSpPr>
              <p:nvPr/>
            </p:nvSpPr>
            <p:spPr bwMode="auto">
              <a:xfrm flipH="1">
                <a:off x="19776" y="10464"/>
                <a:ext cx="288" cy="1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" name="Line 113"/>
              <p:cNvSpPr>
                <a:spLocks noChangeShapeType="1"/>
              </p:cNvSpPr>
              <p:nvPr/>
            </p:nvSpPr>
            <p:spPr bwMode="auto">
              <a:xfrm flipV="1">
                <a:off x="19055" y="11320"/>
                <a:ext cx="1203" cy="14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6" name="Line 114"/>
              <p:cNvSpPr>
                <a:spLocks noChangeShapeType="1"/>
              </p:cNvSpPr>
              <p:nvPr/>
            </p:nvSpPr>
            <p:spPr bwMode="auto">
              <a:xfrm flipH="1">
                <a:off x="19925" y="10348"/>
                <a:ext cx="28" cy="8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2" name="Line 108"/>
            <p:cNvSpPr>
              <a:spLocks noChangeShapeType="1"/>
            </p:cNvSpPr>
            <p:nvPr/>
          </p:nvSpPr>
          <p:spPr bwMode="auto">
            <a:xfrm rot="20680052" flipV="1">
              <a:off x="2759023" y="2653086"/>
              <a:ext cx="937214" cy="8198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>
                <a:ln w="28575" cmpd="sng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Line 113"/>
            <p:cNvSpPr>
              <a:spLocks noChangeShapeType="1"/>
            </p:cNvSpPr>
            <p:nvPr/>
          </p:nvSpPr>
          <p:spPr bwMode="auto">
            <a:xfrm rot="20680052" flipV="1">
              <a:off x="5933345" y="4276495"/>
              <a:ext cx="461755" cy="2974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sp>
        <p:nvSpPr>
          <p:cNvPr id="97" name="Explosion 1 96"/>
          <p:cNvSpPr/>
          <p:nvPr/>
        </p:nvSpPr>
        <p:spPr>
          <a:xfrm>
            <a:off x="3108086" y="3324057"/>
            <a:ext cx="2615394" cy="1798374"/>
          </a:xfrm>
          <a:prstGeom prst="irregularSeal1">
            <a:avLst/>
          </a:prstGeom>
          <a:solidFill>
            <a:schemeClr val="bg1">
              <a:lumMod val="85000"/>
            </a:schemeClr>
          </a:solidFill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98" name="TextBox 97"/>
              <p:cNvSpPr txBox="1"/>
              <p:nvPr/>
            </p:nvSpPr>
            <p:spPr>
              <a:xfrm>
                <a:off x="3649533" y="3924566"/>
                <a:ext cx="12647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"</m:t>
                      </m:r>
                      <m:r>
                        <a:rPr lang="en-US" sz="2800" b="1" i="1" smtClean="0">
                          <a:latin typeface="Cambria Math"/>
                        </a:rPr>
                        <m:t>𝒀𝒆𝒔</m:t>
                      </m:r>
                      <m:r>
                        <a:rPr lang="en-US" sz="2800" b="1" i="1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533" y="3924566"/>
                <a:ext cx="1264742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3090897" y="3418699"/>
            <a:ext cx="205029" cy="181068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05411" y="3435393"/>
            <a:ext cx="186895" cy="164374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018004" y="3435393"/>
            <a:ext cx="186895" cy="164374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 flipH="1">
            <a:off x="1503948" y="3282007"/>
            <a:ext cx="4926831" cy="805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9252749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7" grpId="0" animBg="1"/>
      <p:bldP spid="98" grpId="0" animBg="1"/>
      <p:bldP spid="20" grpId="0" animBg="1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Theorem [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Grotschel-Lovasz-Schrijver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, Karp-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Papadamitriou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 ‘81]: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Optimize linear functions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sz="2000" b="1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separation oracle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endParaRPr lang="en-US" sz="2000" b="1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Proof: </a:t>
                </a:r>
                <a:r>
                  <a:rPr lang="en-US" sz="2000" dirty="0">
                    <a:latin typeface="Times New Roman"/>
                    <a:cs typeface="Times New Roman"/>
                  </a:rPr>
                  <a:t>W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rite a program to search for possible </a:t>
                </a:r>
                <a:r>
                  <a:rPr lang="en-US" sz="2000" dirty="0" err="1" smtClean="0">
                    <a:latin typeface="Times New Roman"/>
                    <a:cs typeface="Times New Roman"/>
                  </a:rPr>
                  <a:t>hyperplanes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 violated by input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: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Variables: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Type 1 Constraints: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dimension)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Type 2 Constraints: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,</m:t>
                        </m:r>
                      </m:e>
                    </m:acc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𝑦</m:t>
                        </m:r>
                      </m:e>
                    </m:acc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Maximizing: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𝑡</m:t>
                    </m:r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effectLst/>
                    <a:latin typeface="Times New Roman"/>
                    <a:cs typeface="Times New Roman"/>
                  </a:rPr>
                  <a:t>Call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effectLst/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effectLst/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2000" b="0" i="1" dirty="0" smtClean="0">
                        <a:effectLst/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&gt;0?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Then explicitly found violated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1600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Otherwise?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and therefore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“Yes.”</a:t>
                </a:r>
              </a:p>
              <a:p>
                <a:endParaRPr lang="en-US" sz="20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Infinitely many (or at least exponentially many) type 2 constraints.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Use a separation oracle!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𝑎𝑟𝑔𝑚𝑎</m:t>
                    </m:r>
                    <m:sSub>
                      <m:sSub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</a:t>
                </a:r>
              </a:p>
              <a:p>
                <a:pPr lvl="2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then all type 2 constraints satisfied. Output “Yes.”</a:t>
                </a:r>
              </a:p>
              <a:p>
                <a:pPr lvl="2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16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n-US" sz="1600" b="1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via optimization algorithm!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Recap: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0593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Theorem [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Grotschel-Lovasz-Schrijver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, Karp-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Papadamitriou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 ‘81]: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Optimize linear functions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sz="2000" b="1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separation oracle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Proof: </a:t>
                </a:r>
                <a:r>
                  <a:rPr lang="en-US" sz="2000" dirty="0">
                    <a:latin typeface="Times New Roman"/>
                    <a:cs typeface="Times New Roman"/>
                  </a:rPr>
                  <a:t>W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rite a program to search for possible </a:t>
                </a:r>
                <a:r>
                  <a:rPr lang="en-US" sz="2000" dirty="0" err="1" smtClean="0">
                    <a:latin typeface="Times New Roman"/>
                    <a:cs typeface="Times New Roman"/>
                  </a:rPr>
                  <a:t>hyperplanes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 violated by input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Variables: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Constraints: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dimension)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16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= “yes.”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Maximizing: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𝑡</m:t>
                    </m:r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effectLst/>
                    <a:latin typeface="Times New Roman"/>
                    <a:cs typeface="Times New Roman"/>
                  </a:rPr>
                  <a:t>Call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effectLst/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effectLst/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2000" b="0" i="1" dirty="0" smtClean="0">
                        <a:effectLst/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&gt;0?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Then explicitly found violated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1600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Otherwise?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and therefore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“Yes.”</a:t>
                </a:r>
              </a:p>
              <a:p>
                <a:endParaRPr lang="en-US" sz="20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:</m:t>
                    </m:r>
                  </m:oMath>
                </a14:m>
                <a:endParaRPr lang="en-US" sz="2000" b="1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w</m:t>
                            </m:r>
                          </m:e>
                        </m:acc>
                      </m:e>
                    </m:d>
                    <m:r>
                      <a:rPr lang="en-US" sz="1600" b="1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𝑎𝑟𝑔𝑚𝑎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output “yes.”</a:t>
                </a:r>
              </a:p>
              <a:p>
                <a:pPr lvl="2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Recap: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3303423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Theorem [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Grotschel-Lovasz-Schrijver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, Karp-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Papadamitriou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 ‘81]: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Optimize linear functions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sz="2000" b="1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separation oracle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Proof: </a:t>
                </a:r>
                <a:r>
                  <a:rPr lang="en-US" sz="2000" dirty="0">
                    <a:latin typeface="Times New Roman"/>
                    <a:cs typeface="Times New Roman"/>
                  </a:rPr>
                  <a:t>W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rite a program to search for possible </a:t>
                </a:r>
                <a:r>
                  <a:rPr lang="en-US" sz="2000" dirty="0" err="1" smtClean="0">
                    <a:latin typeface="Times New Roman"/>
                    <a:cs typeface="Times New Roman"/>
                  </a:rPr>
                  <a:t>hyperplanes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 violated by input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Variables: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Constraints: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dimension)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16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= “yes.”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Maximizing: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𝑡</m:t>
                    </m:r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effectLst/>
                    <a:latin typeface="Times New Roman"/>
                    <a:cs typeface="Times New Roman"/>
                  </a:rPr>
                  <a:t>Call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effectLst/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effectLst/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2000" b="0" i="1" dirty="0" smtClean="0">
                        <a:effectLst/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&gt;0?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Then explicitly found violated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1600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Otherwise?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and therefore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“Yes.”</a:t>
                </a:r>
              </a:p>
              <a:p>
                <a:endParaRPr lang="en-US" sz="20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:</m:t>
                    </m:r>
                  </m:oMath>
                </a14:m>
                <a:endParaRPr lang="en-US" sz="2000" b="1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w</m:t>
                            </m:r>
                          </m:e>
                        </m:acc>
                      </m:e>
                    </m:d>
                    <m:r>
                      <a:rPr lang="en-US" sz="1600" b="1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𝑎𝑟𝑔𝑚𝑎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output “yes.”</a:t>
                </a:r>
              </a:p>
              <a:p>
                <a:pPr lvl="2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Recap: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40976252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Theorem [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Grotschel-Lovasz-Schrijver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, Karp-</a:t>
                </a:r>
                <a:r>
                  <a:rPr lang="en-US" sz="2000" b="1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Papadamitriou</a:t>
                </a:r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 ‘81]: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Optimize linear functions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sz="2000" b="1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separation oracle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Proof: </a:t>
                </a:r>
                <a:r>
                  <a:rPr lang="en-US" sz="2000" dirty="0">
                    <a:latin typeface="Times New Roman"/>
                    <a:cs typeface="Times New Roman"/>
                  </a:rPr>
                  <a:t>W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rite a program to search for possible </a:t>
                </a:r>
                <a:r>
                  <a:rPr lang="en-US" sz="2000" dirty="0" err="1" smtClean="0">
                    <a:latin typeface="Times New Roman"/>
                    <a:cs typeface="Times New Roman"/>
                  </a:rPr>
                  <a:t>hyperplanes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 violated by input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Variables: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Constraints: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600" b="0" i="1" dirty="0" smtClean="0">
                        <a:effectLst/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600" dirty="0" smtClean="0">
                    <a:effectLst/>
                    <a:latin typeface="Times New Roman"/>
                    <a:cs typeface="Times New Roman"/>
                  </a:rPr>
                  <a:t>dimension)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16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= “yes.”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Maximizing: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𝑡</m:t>
                    </m:r>
                  </m:oMath>
                </a14:m>
                <a:endParaRPr lang="en-US" sz="1600" dirty="0" smtClean="0">
                  <a:effectLst/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effectLst/>
                    <a:latin typeface="Times New Roman"/>
                    <a:cs typeface="Times New Roman"/>
                  </a:rPr>
                  <a:t>Call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effectLst/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effectLst/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2000" b="0" i="1" dirty="0" smtClean="0">
                        <a:effectLst/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2000" i="1" dirty="0" smtClean="0">
                            <a:effectLst/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2000" b="0" i="1" dirty="0" smtClean="0">
                            <a:effectLst/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 smtClean="0">
                  <a:effectLst/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−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&gt;0?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Then explicitly found violated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endParaRPr lang="en-US" sz="1600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Otherwise?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and therefore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“Yes.”</a:t>
                </a:r>
              </a:p>
              <a:p>
                <a:endParaRPr lang="en-US" sz="20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:</m:t>
                    </m:r>
                  </m:oMath>
                </a14:m>
                <a:endParaRPr lang="en-US" sz="2000" b="1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w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𝑎𝑟𝑔𝑚𝑎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output “yes.”</a:t>
                </a:r>
              </a:p>
              <a:p>
                <a:pPr lvl="2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Recap: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8186743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2"/>
                <a:ext cx="9177129" cy="5912427"/>
              </a:xfrm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:</m:t>
                    </m:r>
                  </m:oMath>
                </a14:m>
                <a:endParaRPr lang="en-US" sz="2000" b="1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w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𝑎𝑟𝑔𝑚𝑎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output “yes.”</a:t>
                </a:r>
              </a:p>
              <a:p>
                <a:pPr lvl="2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2"/>
                <a:endParaRPr lang="en-US" sz="16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200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= </m:t>
                    </m:r>
                    <m:sSup>
                      <m:sSupPr>
                        <m:ctrlPr>
                          <a:rPr lang="en-US" sz="20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0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𝑧</m:t>
                        </m:r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1, 0</m:t>
                        </m:r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𝑤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≥0&gt;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𝑧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𝑧</m:t>
                        </m:r>
                      </m:e>
                    </m:d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0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1</m:t>
                        </m:r>
                      </m:e>
                    </m:d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𝑧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≥0&gt;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𝑤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𝑧</m:t>
                        </m:r>
                      </m:e>
                    </m:d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0,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 0</m:t>
                        </m:r>
                      </m:e>
                    </m:d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, 0&gt;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𝑤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𝑧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𝑧</m:t>
                        </m:r>
                      </m:e>
                    </m:d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1,1</m:t>
                        </m:r>
                      </m:e>
                    </m:d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𝑤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𝑧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≥0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𝑨</m:t>
                    </m:r>
                    <m:d>
                      <m:dPr>
                        <m:ctrlP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𝒘</m:t>
                        </m:r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𝒛</m:t>
                        </m:r>
                      </m:e>
                    </m:d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ctrlP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𝟎</m:t>
                        </m:r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1600" b="1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𝟏</m:t>
                        </m:r>
                      </m:e>
                    </m:d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𝒛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&gt;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𝒘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𝟎</m:t>
                    </m:r>
                  </m:oMath>
                </a14:m>
                <a:r>
                  <a:rPr lang="en-US" sz="16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600" b="1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𝑨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𝒘</m:t>
                        </m:r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𝒛</m:t>
                        </m:r>
                      </m:e>
                    </m:d>
                    <m:r>
                      <a:rPr lang="en-US" sz="1600" b="1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ctrlP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𝟏</m:t>
                        </m:r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1600" b="1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𝟎</m:t>
                        </m:r>
                      </m:e>
                    </m:d>
                    <m:r>
                      <a:rPr lang="en-US" sz="1600" b="1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𝒘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&gt;</m:t>
                    </m:r>
                    <m:r>
                      <a:rPr lang="en-US" sz="1600" b="1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𝒛</m:t>
                    </m:r>
                    <m:r>
                      <a:rPr lang="en-US" sz="1600" b="1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1600" b="1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𝟎</m:t>
                    </m:r>
                  </m:oMath>
                </a14:m>
                <a:r>
                  <a:rPr lang="en-US" sz="16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6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is a ½ -approximation. </a:t>
                </a:r>
                <a:endParaRPr lang="en-US" sz="16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1"/>
                <a:endParaRPr lang="en-US" sz="20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Weird behavior: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𝑆𝑂</m:t>
                        </m:r>
                      </m:e>
                    </m:acc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rejects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=3/4 ,1/2, 1/2)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800" i="1" dirty="0" smtClean="0">
                  <a:solidFill>
                    <a:srgbClr val="000000"/>
                  </a:solidFill>
                  <a:latin typeface="Cambria Math"/>
                  <a:cs typeface="Times New Roman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𝑆𝑂</m:t>
                        </m:r>
                      </m:e>
                    </m:acc>
                    <m:d>
                      <m:d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𝑡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=3/4,1/2+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𝜖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,1/2−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𝜖</m:t>
                        </m:r>
                      </m:e>
                    </m:d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“yes.” for all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𝜖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−1/4,0</m:t>
                        </m:r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∪(0,1/4)</m:t>
                    </m:r>
                  </m:oMath>
                </a14:m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“yes” region neither closed nor convex. </a:t>
                </a:r>
              </a:p>
              <a:p>
                <a:pPr lvl="1"/>
                <a:endParaRPr lang="en-US" sz="18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2"/>
                <a:ext cx="9177129" cy="5912427"/>
              </a:xfrm>
              <a:blipFill rotWithShape="1">
                <a:blip r:embed="rId2"/>
                <a:stretch>
                  <a:fillRect l="-531" t="-515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357301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1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:</m:t>
                    </m:r>
                  </m:oMath>
                </a14:m>
                <a:endParaRPr lang="en-US" sz="2000" b="1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w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𝑎𝑟𝑔𝑚𝑎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  <m:r>
                          <a:rPr lang="en-US" sz="16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60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output “yes.”</a:t>
                </a:r>
              </a:p>
              <a:p>
                <a:pPr lvl="2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2"/>
                <a:endParaRPr lang="en-US" sz="16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2"/>
                <a:endParaRPr lang="en-US" sz="16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2"/>
                <a:endParaRPr lang="en-US" sz="16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2"/>
                <a:endParaRPr lang="en-US" sz="16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2"/>
                <a:endParaRPr lang="en-US" sz="16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2"/>
                <a:endParaRPr lang="en-US" sz="16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2"/>
                <a:endParaRPr lang="en-US" sz="16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2"/>
                <a:endParaRPr lang="en-US" sz="16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20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Causes SO to have similar behavior.</a:t>
                </a:r>
              </a:p>
              <a:p>
                <a:r>
                  <a:rPr lang="en-US" sz="20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Call Weird Separation Oracle.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Still sometimes says “yes,” sometimes outputs </a:t>
                </a:r>
                <a:r>
                  <a:rPr lang="en-US" sz="1600" dirty="0" err="1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hyperplanes</a:t>
                </a:r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But “yes” region is no longer closed or convex.</a:t>
                </a:r>
              </a:p>
              <a:p>
                <a:pPr lvl="2"/>
                <a:endParaRPr lang="en-US" sz="16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lvl="1"/>
                <a:endParaRPr lang="en-US" sz="1800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624187" y="2261165"/>
            <a:ext cx="3300205" cy="2330978"/>
            <a:chOff x="2759023" y="2173671"/>
            <a:chExt cx="3926352" cy="2999791"/>
          </a:xfrm>
        </p:grpSpPr>
        <p:grpSp>
          <p:nvGrpSpPr>
            <p:cNvPr id="6" name="Group 104"/>
            <p:cNvGrpSpPr>
              <a:grpSpLocks/>
            </p:cNvGrpSpPr>
            <p:nvPr/>
          </p:nvGrpSpPr>
          <p:grpSpPr bwMode="auto">
            <a:xfrm rot="20680052">
              <a:off x="2768782" y="2173671"/>
              <a:ext cx="3916593" cy="2999791"/>
              <a:chOff x="17818" y="9648"/>
              <a:chExt cx="2440" cy="1920"/>
            </a:xfrm>
          </p:grpSpPr>
          <p:sp>
            <p:nvSpPr>
              <p:cNvPr id="9" name="Line 107"/>
              <p:cNvSpPr>
                <a:spLocks noChangeShapeType="1"/>
              </p:cNvSpPr>
              <p:nvPr/>
            </p:nvSpPr>
            <p:spPr bwMode="auto">
              <a:xfrm>
                <a:off x="18117" y="10856"/>
                <a:ext cx="1298" cy="6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" name="Freeform 105"/>
              <p:cNvSpPr>
                <a:spLocks/>
              </p:cNvSpPr>
              <p:nvPr/>
            </p:nvSpPr>
            <p:spPr bwMode="auto">
              <a:xfrm>
                <a:off x="17968" y="9684"/>
                <a:ext cx="1968" cy="1760"/>
              </a:xfrm>
              <a:custGeom>
                <a:avLst/>
                <a:gdLst>
                  <a:gd name="T0" fmla="*/ 84 w 1968"/>
                  <a:gd name="T1" fmla="*/ 392 h 1760"/>
                  <a:gd name="T2" fmla="*/ 0 w 1968"/>
                  <a:gd name="T3" fmla="*/ 876 h 1760"/>
                  <a:gd name="T4" fmla="*/ 316 w 1968"/>
                  <a:gd name="T5" fmla="*/ 1260 h 1760"/>
                  <a:gd name="T6" fmla="*/ 1312 w 1968"/>
                  <a:gd name="T7" fmla="*/ 1760 h 1760"/>
                  <a:gd name="T8" fmla="*/ 1760 w 1968"/>
                  <a:gd name="T9" fmla="*/ 1704 h 1760"/>
                  <a:gd name="T10" fmla="*/ 1872 w 1968"/>
                  <a:gd name="T11" fmla="*/ 1624 h 1760"/>
                  <a:gd name="T12" fmla="*/ 1960 w 1968"/>
                  <a:gd name="T13" fmla="*/ 1284 h 1760"/>
                  <a:gd name="T14" fmla="*/ 1968 w 1968"/>
                  <a:gd name="T15" fmla="*/ 904 h 1760"/>
                  <a:gd name="T16" fmla="*/ 1728 w 1968"/>
                  <a:gd name="T17" fmla="*/ 280 h 1760"/>
                  <a:gd name="T18" fmla="*/ 716 w 1968"/>
                  <a:gd name="T19" fmla="*/ 0 h 1760"/>
                  <a:gd name="T20" fmla="*/ 388 w 1968"/>
                  <a:gd name="T21" fmla="*/ 156 h 1760"/>
                  <a:gd name="T22" fmla="*/ 88 w 1968"/>
                  <a:gd name="T23" fmla="*/ 424 h 176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68"/>
                  <a:gd name="T37" fmla="*/ 0 h 1760"/>
                  <a:gd name="T38" fmla="*/ 1968 w 1968"/>
                  <a:gd name="T39" fmla="*/ 1760 h 176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68" h="1760">
                    <a:moveTo>
                      <a:pt x="84" y="392"/>
                    </a:moveTo>
                    <a:lnTo>
                      <a:pt x="0" y="876"/>
                    </a:lnTo>
                    <a:lnTo>
                      <a:pt x="316" y="1260"/>
                    </a:lnTo>
                    <a:lnTo>
                      <a:pt x="1312" y="1760"/>
                    </a:lnTo>
                    <a:lnTo>
                      <a:pt x="1760" y="1704"/>
                    </a:lnTo>
                    <a:lnTo>
                      <a:pt x="1872" y="1624"/>
                    </a:lnTo>
                    <a:lnTo>
                      <a:pt x="1960" y="1284"/>
                    </a:lnTo>
                    <a:lnTo>
                      <a:pt x="1968" y="904"/>
                    </a:lnTo>
                    <a:lnTo>
                      <a:pt x="1728" y="280"/>
                    </a:lnTo>
                    <a:lnTo>
                      <a:pt x="716" y="0"/>
                    </a:lnTo>
                    <a:lnTo>
                      <a:pt x="388" y="156"/>
                    </a:lnTo>
                    <a:lnTo>
                      <a:pt x="88" y="424"/>
                    </a:lnTo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" name="Line 106"/>
              <p:cNvSpPr>
                <a:spLocks noChangeShapeType="1"/>
              </p:cNvSpPr>
              <p:nvPr/>
            </p:nvSpPr>
            <p:spPr bwMode="auto">
              <a:xfrm>
                <a:off x="17818" y="10378"/>
                <a:ext cx="707" cy="8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" name="Line 108"/>
              <p:cNvSpPr>
                <a:spLocks noChangeShapeType="1"/>
              </p:cNvSpPr>
              <p:nvPr/>
            </p:nvSpPr>
            <p:spPr bwMode="auto">
              <a:xfrm flipV="1">
                <a:off x="18191" y="9648"/>
                <a:ext cx="577" cy="2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" name="Line 109"/>
              <p:cNvSpPr>
                <a:spLocks noChangeShapeType="1"/>
              </p:cNvSpPr>
              <p:nvPr/>
            </p:nvSpPr>
            <p:spPr bwMode="auto">
              <a:xfrm flipH="1">
                <a:off x="17944" y="9972"/>
                <a:ext cx="130" cy="67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>
                  <a:ln w="57150" cmpd="sng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" name="Line 110"/>
              <p:cNvSpPr>
                <a:spLocks noChangeShapeType="1"/>
              </p:cNvSpPr>
              <p:nvPr/>
            </p:nvSpPr>
            <p:spPr bwMode="auto">
              <a:xfrm>
                <a:off x="18599" y="9665"/>
                <a:ext cx="1236" cy="3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" name="Line 111"/>
              <p:cNvSpPr>
                <a:spLocks noChangeShapeType="1"/>
              </p:cNvSpPr>
              <p:nvPr/>
            </p:nvSpPr>
            <p:spPr bwMode="auto">
              <a:xfrm>
                <a:off x="19632" y="9792"/>
                <a:ext cx="432" cy="1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Line 112"/>
              <p:cNvSpPr>
                <a:spLocks noChangeShapeType="1"/>
              </p:cNvSpPr>
              <p:nvPr/>
            </p:nvSpPr>
            <p:spPr bwMode="auto">
              <a:xfrm flipH="1">
                <a:off x="19776" y="10464"/>
                <a:ext cx="288" cy="1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" name="Line 113"/>
              <p:cNvSpPr>
                <a:spLocks noChangeShapeType="1"/>
              </p:cNvSpPr>
              <p:nvPr/>
            </p:nvSpPr>
            <p:spPr bwMode="auto">
              <a:xfrm flipV="1">
                <a:off x="19055" y="11320"/>
                <a:ext cx="1203" cy="14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8" name="Line 114"/>
              <p:cNvSpPr>
                <a:spLocks noChangeShapeType="1"/>
              </p:cNvSpPr>
              <p:nvPr/>
            </p:nvSpPr>
            <p:spPr bwMode="auto">
              <a:xfrm flipH="1">
                <a:off x="19925" y="10348"/>
                <a:ext cx="28" cy="8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" name="Line 108"/>
            <p:cNvSpPr>
              <a:spLocks noChangeShapeType="1"/>
            </p:cNvSpPr>
            <p:nvPr/>
          </p:nvSpPr>
          <p:spPr bwMode="auto">
            <a:xfrm rot="20680052" flipV="1">
              <a:off x="2759023" y="2653086"/>
              <a:ext cx="937214" cy="8198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>
                <a:ln w="28575" cmpd="sng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Line 113"/>
            <p:cNvSpPr>
              <a:spLocks noChangeShapeType="1"/>
            </p:cNvSpPr>
            <p:nvPr/>
          </p:nvSpPr>
          <p:spPr bwMode="auto">
            <a:xfrm rot="20680052" flipV="1">
              <a:off x="5933345" y="4276495"/>
              <a:ext cx="461755" cy="2974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sp>
        <p:nvSpPr>
          <p:cNvPr id="19" name="Explosion 1 18"/>
          <p:cNvSpPr/>
          <p:nvPr/>
        </p:nvSpPr>
        <p:spPr>
          <a:xfrm>
            <a:off x="3159634" y="2540881"/>
            <a:ext cx="2343941" cy="1632573"/>
          </a:xfrm>
          <a:prstGeom prst="irregularSeal1">
            <a:avLst/>
          </a:prstGeom>
          <a:solidFill>
            <a:schemeClr val="bg1">
              <a:lumMod val="85000"/>
            </a:schemeClr>
          </a:solidFill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20" name="TextBox 19"/>
              <p:cNvSpPr txBox="1"/>
              <p:nvPr/>
            </p:nvSpPr>
            <p:spPr>
              <a:xfrm>
                <a:off x="3701081" y="3028727"/>
                <a:ext cx="11528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"</m:t>
                      </m:r>
                      <m:r>
                        <a:rPr lang="en-US" sz="2800" b="1" i="1" smtClean="0">
                          <a:latin typeface="Cambria Math"/>
                        </a:rPr>
                        <m:t>𝒀𝒆𝒔</m:t>
                      </m:r>
                      <m:r>
                        <a:rPr lang="en-US" sz="2800" b="1" i="1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81" y="3028727"/>
                <a:ext cx="115288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88798612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dirty="0" smtClean="0">
                    <a:latin typeface="Times New Roman"/>
                    <a:cs typeface="Times New Roman"/>
                  </a:rPr>
                  <a:t>Can we do anything interesting with weird separation oracles?</a:t>
                </a:r>
              </a:p>
              <a:p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[CDW ‘13a]: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Let WSO be obtained via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-approximation algorithm,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over the closed, convex region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. Then:</a:t>
                </a:r>
              </a:p>
              <a:p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2000" b="1" dirty="0" smtClean="0">
                    <a:latin typeface="Times New Roman"/>
                    <a:cs typeface="Times New Roman"/>
                  </a:rPr>
                  <a:t>(Optimality)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𝑄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be any other closed, convex region described via a standard separation oracle, and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be any linear objective function.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𝑂𝑃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</m:sub>
                    </m:sSub>
                    <m:r>
                      <a:rPr lang="en-US" sz="2000" b="0" i="0" smtClean="0">
                        <a:latin typeface="Cambria Math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cs typeface="Times New Roman"/>
                      </a:rPr>
                      <m:t>ma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  <a:cs typeface="Times New Roman"/>
                          </a:rPr>
                          <m:t>x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x</m:t>
                            </m:r>
                          </m:e>
                        </m:acc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/>
                            <a:cs typeface="Times New Roman"/>
                          </a:rPr>
                          <m:t>Q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∩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x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𝑐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be the output of the Ellipsoid algorithm using WSO instead of a real separation oracle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. </a:t>
                </a:r>
                <a:r>
                  <a:rPr lang="en-US" sz="2000" b="1" dirty="0" smtClean="0">
                    <a:latin typeface="Times New Roman"/>
                    <a:cs typeface="Times New Roman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1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/>
                            <a:cs typeface="Times New Roman"/>
                          </a:rPr>
                          <m:t>𝒛</m:t>
                        </m:r>
                      </m:e>
                    </m:acc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  <m:t>𝒄</m:t>
                        </m:r>
                      </m:e>
                    </m:acc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𝑶𝑷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  <m:t>𝑻</m:t>
                        </m:r>
                      </m:e>
                      <m:sub>
                        <m: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endParaRPr lang="en-US" sz="1600" b="1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2000" b="1" dirty="0" smtClean="0">
                    <a:latin typeface="Times New Roman"/>
                    <a:cs typeface="Times New Roman"/>
                  </a:rPr>
                  <a:t>(Feasibility)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𝑊𝑆𝑂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= 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“yes,” then the execution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𝑊𝑆𝑂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explicitly finds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+1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  <a:cs typeface="Times New Roman"/>
                      </a:rPr>
                      <m:t>,…,</m:t>
                    </m:r>
                    <m:sSub>
                      <m:sSubPr>
                        <m:ctrlPr>
                          <a:rPr lang="en-US" sz="2000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1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/>
                            <a:cs typeface="Times New Roman"/>
                          </a:rPr>
                          <m:t>𝒙</m:t>
                        </m:r>
                      </m:e>
                    </m:acc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𝑪𝒐𝒏𝒗</m:t>
                    </m:r>
                    <m:d>
                      <m:dPr>
                        <m:ctrlP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2000" b="1" i="1" dirty="0" smtClean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  <m:t>, …, </m:t>
                            </m:r>
                            <m: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2000" b="1" i="1" dirty="0" smtClean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𝒅</m:t>
                                    </m:r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+</m:t>
                                    </m:r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endParaRPr lang="en-US" sz="2000" b="1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2000" b="1" dirty="0" smtClean="0">
                    <a:latin typeface="Times New Roman"/>
                    <a:cs typeface="Times New Roman"/>
                  </a:rPr>
                  <a:t>Proof overview next.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10464143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1800" dirty="0" smtClean="0">
                    <a:latin typeface="Times New Roman"/>
                    <a:cs typeface="Times New Roman"/>
                  </a:rPr>
                  <a:t>Recall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  <a:cs typeface="Times New Roman"/>
                      </a:rPr>
                      <m:t>𝑾𝑺𝑶</m:t>
                    </m:r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:</a:t>
                </a:r>
              </a:p>
              <a:p>
                <a:pPr lvl="1"/>
                <a:r>
                  <a:rPr lang="en-US" sz="1400" b="1" dirty="0" smtClean="0">
                    <a:latin typeface="Times New Roman"/>
                    <a:cs typeface="Times New Roman"/>
                  </a:rPr>
                  <a:t>Variables</a:t>
                </a:r>
                <a:r>
                  <a:rPr lang="en-US" sz="1400" b="1" dirty="0">
                    <a:latin typeface="Times New Roman"/>
                    <a:cs typeface="Times New Roman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400" i="1">
                        <a:latin typeface="Cambria Math"/>
                        <a:cs typeface="Times New Roman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</m:oMath>
                </a14:m>
                <a:endParaRPr lang="en-US" sz="1400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400" b="1" dirty="0">
                    <a:latin typeface="Times New Roman"/>
                    <a:cs typeface="Times New Roman"/>
                  </a:rPr>
                  <a:t>Constraints: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400" dirty="0">
                    <a:latin typeface="Times New Roman"/>
                    <a:cs typeface="Times New Roman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400" i="1" dirty="0"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400" dirty="0">
                    <a:latin typeface="Times New Roman"/>
                    <a:cs typeface="Times New Roman"/>
                  </a:rPr>
                  <a:t>dimension)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1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b="1" i="1"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1400" b="1" i="1" dirty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400" b="1" i="1" dirty="0"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1400" b="1" i="1" dirty="0"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1400" b="1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b="1" i="1" dirty="0"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400" b="1" dirty="0">
                    <a:latin typeface="Times New Roman"/>
                    <a:cs typeface="Times New Roman"/>
                  </a:rPr>
                  <a:t>= “yes</a:t>
                </a:r>
                <a:r>
                  <a:rPr lang="en-US" sz="1400" b="1" dirty="0" smtClean="0">
                    <a:latin typeface="Times New Roman"/>
                    <a:cs typeface="Times New Roman"/>
                  </a:rPr>
                  <a:t>.”</a:t>
                </a:r>
              </a:p>
              <a:p>
                <a:pPr lvl="2"/>
                <a:r>
                  <a:rPr lang="en-US" sz="14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output “yes.”</a:t>
                </a:r>
              </a:p>
              <a:p>
                <a:pPr lvl="2"/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400" dirty="0" err="1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400" b="1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400" b="1" dirty="0">
                    <a:latin typeface="Times New Roman"/>
                    <a:cs typeface="Times New Roman"/>
                  </a:rPr>
                  <a:t>Maximizing: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−</m:t>
                    </m:r>
                    <m:r>
                      <a:rPr lang="en-US" sz="1400" i="1" dirty="0">
                        <a:latin typeface="Cambria Math"/>
                        <a:cs typeface="Times New Roman"/>
                      </a:rPr>
                      <m:t>𝑡</m:t>
                    </m:r>
                  </m:oMath>
                </a14:m>
                <a:endParaRPr lang="en-US" sz="1400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400" dirty="0">
                    <a:latin typeface="Times New Roman"/>
                    <a:cs typeface="Times New Roman"/>
                  </a:rPr>
                  <a:t>Call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 smtClean="0">
                    <a:latin typeface="Times New Roman"/>
                    <a:cs typeface="Times New Roman"/>
                  </a:rPr>
                  <a:t>.</a:t>
                </a:r>
                <a:endParaRPr lang="en-US" sz="1400" dirty="0">
                  <a:latin typeface="Times New Roman"/>
                  <a:cs typeface="Times New Roman"/>
                </a:endParaRPr>
              </a:p>
              <a:p>
                <a:pPr lvl="2"/>
                <a:r>
                  <a:rPr lang="en-US" sz="1400" dirty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−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&gt;0?</m:t>
                    </m:r>
                  </m:oMath>
                </a14:m>
                <a:r>
                  <a:rPr lang="en-US" sz="1400" dirty="0">
                    <a:latin typeface="Times New Roman"/>
                    <a:cs typeface="Times New Roman"/>
                  </a:rPr>
                  <a:t> Then explicitly found violated </a:t>
                </a:r>
                <a:r>
                  <a:rPr lang="en-US" sz="1400" dirty="0" err="1">
                    <a:latin typeface="Times New Roman"/>
                    <a:cs typeface="Times New Roman"/>
                  </a:rPr>
                  <a:t>hyperplane</a:t>
                </a:r>
                <a:r>
                  <a:rPr lang="en-US" sz="1400" dirty="0"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 smtClean="0">
                    <a:latin typeface="Times New Roman"/>
                    <a:cs typeface="Times New Roman"/>
                  </a:rPr>
                  <a:t>.</a:t>
                </a:r>
                <a:endParaRPr lang="en-US" sz="1400" dirty="0">
                  <a:latin typeface="Times New Roman"/>
                  <a:cs typeface="Times New Roman"/>
                </a:endParaRPr>
              </a:p>
              <a:p>
                <a:pPr lvl="2"/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Otherwise?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and therefore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“Yes</a:t>
                </a:r>
                <a:r>
                  <a:rPr lang="en-US" sz="14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.”</a:t>
                </a:r>
              </a:p>
              <a:p>
                <a:pPr lvl="2"/>
                <a:endParaRPr lang="en-US" sz="14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1800" dirty="0">
                    <a:latin typeface="Times New Roman"/>
                    <a:cs typeface="Times New Roman"/>
                  </a:rPr>
                  <a:t>Recall</a:t>
                </a:r>
                <a:r>
                  <a:rPr lang="en-US" sz="1800" b="1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𝐴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  <m:r>
                      <a:rPr lang="en-US" sz="1800" i="1"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1800" i="1">
                        <a:latin typeface="Cambria Math"/>
                        <a:cs typeface="Times New Roman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800" i="1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800" i="1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800" i="1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800" i="1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𝑤</m:t>
                        </m:r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,</m:t>
                        </m:r>
                      </m:e>
                    </m:acc>
                    <m:r>
                      <a:rPr lang="en-US" sz="1800" i="1"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800" i="1">
                        <a:latin typeface="Cambria Math"/>
                        <a:cs typeface="Times New Roman"/>
                      </a:rPr>
                      <m:t>}</m:t>
                    </m:r>
                  </m:oMath>
                </a14:m>
                <a:r>
                  <a:rPr lang="en-US" sz="1800" b="1" dirty="0">
                    <a:latin typeface="Times New Roman"/>
                    <a:cs typeface="Times New Roman"/>
                  </a:rPr>
                  <a:t>.</a:t>
                </a:r>
              </a:p>
              <a:p>
                <a:endParaRPr lang="en-US" sz="1600" dirty="0">
                  <a:latin typeface="Times New Roman"/>
                  <a:cs typeface="Times New Roman"/>
                </a:endParaRPr>
              </a:p>
              <a:p>
                <a:r>
                  <a:rPr lang="en-US" sz="1800" b="1" dirty="0" smtClean="0">
                    <a:latin typeface="Times New Roman"/>
                    <a:cs typeface="Times New Roman"/>
                  </a:rPr>
                  <a:t>Fact: “yes”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  <a:cs typeface="Times New Roman"/>
                      </a:rPr>
                      <m:t>⊇</m:t>
                    </m:r>
                    <m:sSubSup>
                      <m:sSubSupPr>
                        <m:ctrlPr>
                          <a:rPr lang="en-US" sz="1800" b="1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𝑨</m:t>
                        </m:r>
                      </m:sub>
                      <m:sup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. Furthermore, every </a:t>
                </a:r>
                <a:r>
                  <a:rPr lang="en-US" sz="1800" b="1" dirty="0" err="1" smtClean="0">
                    <a:latin typeface="Times New Roman"/>
                    <a:cs typeface="Times New Roman"/>
                  </a:rPr>
                  <a:t>halfspace</a:t>
                </a:r>
                <a:r>
                  <a:rPr lang="en-US" sz="1800" b="1" dirty="0" smtClean="0">
                    <a:latin typeface="Times New Roman"/>
                    <a:cs typeface="Times New Roman"/>
                  </a:rPr>
                  <a:t> output by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  <a:cs typeface="Times New Roman"/>
                      </a:rPr>
                      <m:t>𝑾𝑺𝑶</m:t>
                    </m:r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 contains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𝑨</m:t>
                        </m:r>
                      </m:sub>
                      <m:sup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Proof :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Any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output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𝑊𝑆𝑂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must be accepted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𝑆𝑂</m:t>
                        </m:r>
                      </m:e>
                    </m:acc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𝑆𝑂</m:t>
                        </m:r>
                      </m:e>
                    </m:acc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accepts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, </m:t>
                    </m:r>
                    <m:sSup>
                      <m:sSupPr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iff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≥</m:t>
                    </m:r>
                    <m:sSup>
                      <m:sSupPr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 smtClean="0"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60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  <m:sup>
                            <m:r>
                              <a:rPr lang="en-US" sz="1600" b="0" i="1" smtClean="0">
                                <a:latin typeface="Cambria Math"/>
                                <a:cs typeface="Times New Roman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 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So the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halfspace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𝑦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≤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contains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𝐴</m:t>
                        </m:r>
                      </m:sub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, because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𝑦</m:t>
                        </m:r>
                      </m:e>
                    </m:acc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≤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b="0" i="1" dirty="0" smtClean="0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b="0" i="1" dirty="0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1600" b="0" i="1" dirty="0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dirty="0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  <m:sup>
                            <m:r>
                              <a:rPr lang="en-US" sz="1600" b="0" i="1" dirty="0" smtClean="0">
                                <a:latin typeface="Cambria Math"/>
                                <a:cs typeface="Times New Roman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does as well.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398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1643322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dirty="0" smtClean="0">
                    <a:latin typeface="Times New Roman"/>
                    <a:cs typeface="Times New Roman"/>
                  </a:rPr>
                  <a:t>Recall</a:t>
                </a:r>
                <a:r>
                  <a:rPr lang="en-US" sz="2000" b="1" dirty="0" smtClean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𝐴</m:t>
                        </m:r>
                      </m:sub>
                      <m:sup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  <m:r>
                      <a:rPr lang="en-US" sz="2000" i="1"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000" i="1">
                        <a:latin typeface="Cambria Math"/>
                        <a:cs typeface="Times New Roman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2000" i="1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i="1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2000" i="1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𝑤</m:t>
                        </m:r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,</m:t>
                        </m:r>
                      </m:e>
                    </m:acc>
                    <m:r>
                      <a:rPr lang="en-US" sz="2000" i="1"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i="1">
                        <a:latin typeface="Cambria Math"/>
                        <a:cs typeface="Times New Roman"/>
                      </a:rPr>
                      <m:t>}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.</a:t>
                </a:r>
                <a:endParaRPr lang="en-US" sz="1600" b="1" dirty="0">
                  <a:latin typeface="Times New Roman"/>
                  <a:cs typeface="Times New Roman"/>
                </a:endParaRPr>
              </a:p>
              <a:p>
                <a:endParaRPr lang="en-US" sz="1600" dirty="0">
                  <a:latin typeface="Times New Roman"/>
                  <a:cs typeface="Times New Roman"/>
                </a:endParaRPr>
              </a:p>
              <a:p>
                <a:r>
                  <a:rPr lang="en-US" sz="1800" b="1" dirty="0" smtClean="0">
                    <a:latin typeface="Times New Roman"/>
                    <a:cs typeface="Times New Roman"/>
                  </a:rPr>
                  <a:t>Fact: “yes”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  <a:cs typeface="Times New Roman"/>
                      </a:rPr>
                      <m:t>⊇</m:t>
                    </m:r>
                    <m:sSubSup>
                      <m:sSubSupPr>
                        <m:ctrlPr>
                          <a:rPr lang="en-US" sz="1800" b="1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𝑨</m:t>
                        </m:r>
                      </m:sub>
                      <m:sup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. Furthermore, every </a:t>
                </a:r>
                <a:r>
                  <a:rPr lang="en-US" sz="1800" b="1" dirty="0" err="1" smtClean="0">
                    <a:latin typeface="Times New Roman"/>
                    <a:cs typeface="Times New Roman"/>
                  </a:rPr>
                  <a:t>halfspace</a:t>
                </a:r>
                <a:r>
                  <a:rPr lang="en-US" sz="1800" b="1" dirty="0" smtClean="0">
                    <a:latin typeface="Times New Roman"/>
                    <a:cs typeface="Times New Roman"/>
                  </a:rPr>
                  <a:t> output by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  <a:cs typeface="Times New Roman"/>
                      </a:rPr>
                      <m:t>𝑾𝑺𝑶</m:t>
                    </m:r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 contains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𝑨</m:t>
                        </m:r>
                      </m:sub>
                      <m:sup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endParaRPr lang="en-US" sz="1600" dirty="0">
                  <a:latin typeface="Times New Roman"/>
                  <a:cs typeface="Times New Roman"/>
                </a:endParaRPr>
              </a:p>
              <a:p>
                <a:r>
                  <a:rPr lang="en-US" sz="1800" b="1" dirty="0">
                    <a:latin typeface="Times New Roman"/>
                    <a:cs typeface="Times New Roman"/>
                  </a:rPr>
                  <a:t>Observation: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/>
                            <a:cs typeface="Times New Roman"/>
                          </a:rPr>
                          <m:t>𝑷</m:t>
                        </m:r>
                      </m:e>
                      <m:sub>
                        <m:r>
                          <a:rPr lang="en-US" sz="1800" b="1" i="1">
                            <a:latin typeface="Cambria Math"/>
                            <a:cs typeface="Times New Roman"/>
                          </a:rPr>
                          <m:t>𝑨</m:t>
                        </m:r>
                      </m:sub>
                      <m:sup>
                        <m:r>
                          <a:rPr lang="en-US" sz="1800" b="1" i="1">
                            <a:latin typeface="Cambria Math"/>
                            <a:cs typeface="Times New Roman"/>
                          </a:rPr>
                          <m:t>−</m:t>
                        </m:r>
                      </m:sup>
                    </m:sSubSup>
                    <m:r>
                      <a:rPr lang="en-US" sz="1800" b="1" i="1">
                        <a:latin typeface="Cambria Math"/>
                        <a:cs typeface="Times New Roman"/>
                      </a:rPr>
                      <m:t>⊇</m:t>
                    </m:r>
                    <m:r>
                      <a:rPr lang="en-US" sz="1800" b="1" i="1">
                        <a:latin typeface="Cambria Math"/>
                        <a:cs typeface="Times New Roman"/>
                      </a:rPr>
                      <m:t>𝜶</m:t>
                    </m:r>
                    <m:r>
                      <a:rPr lang="en-US" sz="1800" b="1" i="1">
                        <a:latin typeface="Cambria Math"/>
                        <a:cs typeface="Times New Roman"/>
                      </a:rPr>
                      <m:t>𝑷</m:t>
                    </m:r>
                  </m:oMath>
                </a14:m>
                <a:r>
                  <a:rPr lang="en-US" sz="1800" b="1" dirty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b="1" dirty="0">
                    <a:latin typeface="Times New Roman"/>
                    <a:cs typeface="Times New Roman"/>
                  </a:rPr>
                  <a:t>Proof: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𝑃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16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sz="16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i="1" dirty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 dirty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i="1" dirty="0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600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𝑃</m:t>
                        </m:r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 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 dirty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600" i="1" dirty="0">
                        <a:latin typeface="Cambria Math"/>
                        <a:cs typeface="Times New Roman"/>
                      </a:rPr>
                      <m:t> }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6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600" i="1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i="1"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600" i="1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2000" i="1" dirty="0"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2000" i="1" dirty="0">
                            <a:latin typeface="Cambria Math"/>
                            <a:cs typeface="Times New Roman"/>
                          </a:rPr>
                          <m:t>𝑃</m:t>
                        </m:r>
                        <m:r>
                          <a:rPr lang="en-US" sz="2000" i="1" dirty="0">
                            <a:latin typeface="Cambria Math"/>
                            <a:cs typeface="Times New Roman"/>
                          </a:rPr>
                          <m:t> 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600" i="1"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.</a:t>
                </a: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1800" b="1" dirty="0" smtClean="0">
                    <a:latin typeface="Times New Roman"/>
                    <a:cs typeface="Times New Roman"/>
                    <a:sym typeface="Wingdings" panose="05000000000000000000" pitchFamily="2" charset="2"/>
                  </a:rPr>
                  <a:t> </a:t>
                </a:r>
                <a:r>
                  <a:rPr lang="en-US" sz="1800" b="1" dirty="0" smtClean="0">
                    <a:latin typeface="Times New Roman"/>
                    <a:cs typeface="Times New Roman"/>
                  </a:rPr>
                  <a:t>(</a:t>
                </a:r>
                <a:r>
                  <a:rPr lang="en-US" sz="1800" b="1" dirty="0">
                    <a:latin typeface="Times New Roman"/>
                    <a:cs typeface="Times New Roman"/>
                  </a:rPr>
                  <a:t>Optimality) </a:t>
                </a:r>
                <a:r>
                  <a:rPr lang="en-US" sz="1800" dirty="0"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𝑄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be any other closed, convex region described via a standard separation oracle, and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be any linear objective function. 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𝑂𝑃</m:t>
                    </m:r>
                    <m:sSub>
                      <m:sSub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𝛼</m:t>
                        </m:r>
                      </m:sub>
                    </m:sSub>
                    <m:r>
                      <a:rPr lang="en-US" sz="1800">
                        <a:latin typeface="Cambria Math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sz="1800">
                        <a:latin typeface="Cambria Math"/>
                        <a:cs typeface="Times New Roman"/>
                      </a:rPr>
                      <m:t>ma</m:t>
                    </m:r>
                    <m:sSub>
                      <m:sSub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/>
                            <a:cs typeface="Times New Roman"/>
                          </a:rPr>
                          <m:t>x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/>
                                <a:cs typeface="Times New Roman"/>
                              </a:rPr>
                              <m:t>x</m:t>
                            </m:r>
                          </m:e>
                        </m:acc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1800" dirty="0">
                            <a:latin typeface="Cambria Math"/>
                            <a:cs typeface="Times New Roman"/>
                          </a:rPr>
                          <m:t>Q</m:t>
                        </m:r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∩</m:t>
                        </m:r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/>
                                <a:cs typeface="Times New Roman"/>
                              </a:rPr>
                              <m:t>x</m:t>
                            </m:r>
                          </m:e>
                        </m:acc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𝑐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be the output of the Ellipsoid algorithm using WSO instead of a real separation oracle for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. </a:t>
                </a:r>
                <a:r>
                  <a:rPr lang="en-US" sz="1800" b="1" dirty="0">
                    <a:latin typeface="Times New Roman"/>
                    <a:cs typeface="Times New Roman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1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1" i="1">
                            <a:latin typeface="Cambria Math"/>
                            <a:cs typeface="Times New Roman"/>
                          </a:rPr>
                          <m:t>𝒛</m:t>
                        </m:r>
                      </m:e>
                    </m:acc>
                    <m:r>
                      <a:rPr lang="en-US" sz="1800" b="1" i="1" dirty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800" b="1" i="1" dirty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1" i="1" dirty="0">
                            <a:latin typeface="Cambria Math"/>
                            <a:cs typeface="Times New Roman"/>
                          </a:rPr>
                          <m:t>𝒄</m:t>
                        </m:r>
                      </m:e>
                    </m:acc>
                    <m:r>
                      <a:rPr lang="en-US" sz="1800" b="1" i="1" dirty="0"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1800" b="1" i="1" dirty="0">
                        <a:latin typeface="Cambria Math"/>
                        <a:cs typeface="Times New Roman"/>
                      </a:rPr>
                      <m:t>𝑶𝑷</m:t>
                    </m:r>
                    <m:sSub>
                      <m:sSubPr>
                        <m:ctrlPr>
                          <a:rPr lang="en-US" sz="1800" b="1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800" b="1" i="1" dirty="0">
                            <a:latin typeface="Cambria Math"/>
                            <a:cs typeface="Times New Roman"/>
                          </a:rPr>
                          <m:t>𝑻</m:t>
                        </m:r>
                      </m:e>
                      <m:sub>
                        <m:r>
                          <a:rPr lang="en-US" sz="1800" b="1" i="1" dirty="0">
                            <a:latin typeface="Cambria Math"/>
                            <a:cs typeface="Times New Roman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en-US" sz="1800" b="1" dirty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Proof: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By Fact and Observation,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𝑊𝑆𝑂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acts as a valid separation oracle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, </a:t>
                </a:r>
                <a:r>
                  <a:rPr lang="en-US" sz="1600" b="1" dirty="0" smtClean="0">
                    <a:latin typeface="Times New Roman"/>
                    <a:cs typeface="Times New Roman"/>
                  </a:rPr>
                  <a:t>except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it might accept too much.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This may cause issues for feasibility, but guarantees “optimality.”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1187" r="-53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0903199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 lnSpcReduction="10000"/>
              </a:bodyPr>
              <a:lstStyle/>
              <a:p>
                <a:r>
                  <a:rPr lang="en-US" sz="1800" dirty="0" smtClean="0">
                    <a:latin typeface="Times New Roman"/>
                    <a:cs typeface="Times New Roman"/>
                  </a:rPr>
                  <a:t>Recall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  <a:cs typeface="Times New Roman"/>
                      </a:rPr>
                      <m:t>𝑾𝑺𝑶</m:t>
                    </m:r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:</a:t>
                </a:r>
              </a:p>
              <a:p>
                <a:pPr lvl="1"/>
                <a:r>
                  <a:rPr lang="en-US" sz="1400" b="1" dirty="0" smtClean="0">
                    <a:latin typeface="Times New Roman"/>
                    <a:cs typeface="Times New Roman"/>
                  </a:rPr>
                  <a:t>Variables</a:t>
                </a:r>
                <a:r>
                  <a:rPr lang="en-US" sz="1400" b="1" dirty="0">
                    <a:latin typeface="Times New Roman"/>
                    <a:cs typeface="Times New Roman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  <a:cs typeface="Times New Roman"/>
                      </a:rPr>
                      <m:t>𝑡</m:t>
                    </m:r>
                    <m:r>
                      <a:rPr lang="en-US" sz="1400" i="1">
                        <a:latin typeface="Cambria Math"/>
                        <a:cs typeface="Times New Roman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</m:oMath>
                </a14:m>
                <a:endParaRPr lang="en-US" sz="1400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400" b="1" dirty="0">
                    <a:latin typeface="Times New Roman"/>
                    <a:cs typeface="Times New Roman"/>
                  </a:rPr>
                  <a:t>Constraints: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400" dirty="0">
                    <a:latin typeface="Times New Roman"/>
                    <a:cs typeface="Times New Roman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400" i="1" dirty="0">
                        <a:latin typeface="Cambria Math"/>
                        <a:cs typeface="Times New Roman"/>
                      </a:rPr>
                      <m:t>=</m:t>
                    </m:r>
                  </m:oMath>
                </a14:m>
                <a:r>
                  <a:rPr lang="en-US" sz="1400" dirty="0">
                    <a:latin typeface="Times New Roman"/>
                    <a:cs typeface="Times New Roman"/>
                  </a:rPr>
                  <a:t>dimension)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1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b="1" i="1">
                            <a:latin typeface="Cambria Math"/>
                            <a:cs typeface="Times New Roman"/>
                          </a:rPr>
                          <m:t>𝑺𝑶</m:t>
                        </m:r>
                      </m:e>
                    </m:acc>
                    <m:d>
                      <m:dPr>
                        <m:ctrlPr>
                          <a:rPr lang="en-US" sz="1400" b="1" i="1" dirty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400" b="1" i="1" dirty="0">
                            <a:latin typeface="Cambria Math"/>
                            <a:cs typeface="Times New Roman"/>
                          </a:rPr>
                          <m:t>𝒕</m:t>
                        </m:r>
                        <m:r>
                          <a:rPr lang="en-US" sz="1400" b="1" i="1" dirty="0">
                            <a:latin typeface="Cambria Math"/>
                            <a:cs typeface="Times New Roman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1400" b="1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b="1" i="1" dirty="0"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400" b="1" dirty="0">
                    <a:latin typeface="Times New Roman"/>
                    <a:cs typeface="Times New Roman"/>
                  </a:rPr>
                  <a:t>= “yes</a:t>
                </a:r>
                <a:r>
                  <a:rPr lang="en-US" sz="1400" b="1" dirty="0" smtClean="0">
                    <a:latin typeface="Times New Roman"/>
                    <a:cs typeface="Times New Roman"/>
                  </a:rPr>
                  <a:t>.”</a:t>
                </a:r>
              </a:p>
              <a:p>
                <a:pPr lvl="2"/>
                <a:r>
                  <a:rPr lang="en-US" sz="14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t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≥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output “yes.”</a:t>
                </a:r>
              </a:p>
              <a:p>
                <a:pPr lvl="2"/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 not, found explicit violated </a:t>
                </a:r>
                <a:r>
                  <a:rPr lang="en-US" sz="1400" dirty="0" err="1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hyperplane</a:t>
                </a:r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  <a:endParaRPr lang="en-US" sz="1400" b="1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400" b="1" dirty="0">
                    <a:latin typeface="Times New Roman"/>
                    <a:cs typeface="Times New Roman"/>
                  </a:rPr>
                  <a:t>Maximizing: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−</m:t>
                    </m:r>
                    <m:r>
                      <a:rPr lang="en-US" sz="1400" i="1" dirty="0">
                        <a:latin typeface="Cambria Math"/>
                        <a:cs typeface="Times New Roman"/>
                      </a:rPr>
                      <m:t>𝑡</m:t>
                    </m:r>
                  </m:oMath>
                </a14:m>
                <a:endParaRPr lang="en-US" sz="1400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400" dirty="0">
                    <a:latin typeface="Times New Roman"/>
                    <a:cs typeface="Times New Roman"/>
                  </a:rPr>
                  <a:t>Call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 smtClean="0">
                    <a:latin typeface="Times New Roman"/>
                    <a:cs typeface="Times New Roman"/>
                  </a:rPr>
                  <a:t>.</a:t>
                </a:r>
                <a:endParaRPr lang="en-US" sz="1400" dirty="0">
                  <a:latin typeface="Times New Roman"/>
                  <a:cs typeface="Times New Roman"/>
                </a:endParaRPr>
              </a:p>
              <a:p>
                <a:pPr lvl="2"/>
                <a:r>
                  <a:rPr lang="en-US" sz="1400" dirty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latin typeface="Cambria Math"/>
                        <a:cs typeface="Times New Roman"/>
                      </a:rPr>
                      <m:t>⋅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−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&gt;0?</m:t>
                    </m:r>
                  </m:oMath>
                </a14:m>
                <a:r>
                  <a:rPr lang="en-US" sz="1400" dirty="0">
                    <a:latin typeface="Times New Roman"/>
                    <a:cs typeface="Times New Roman"/>
                  </a:rPr>
                  <a:t> Then explicitly found violated </a:t>
                </a:r>
                <a:r>
                  <a:rPr lang="en-US" sz="1400" dirty="0" err="1">
                    <a:latin typeface="Times New Roman"/>
                    <a:cs typeface="Times New Roman"/>
                  </a:rPr>
                  <a:t>hyperplane</a:t>
                </a:r>
                <a:r>
                  <a:rPr lang="en-US" sz="1400" dirty="0">
                    <a:latin typeface="Times New Roman"/>
                    <a:cs typeface="Times New Roman"/>
                  </a:rPr>
                  <a:t>.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4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400" i="1" dirty="0">
                        <a:latin typeface="Cambria Math"/>
                        <a:cs typeface="Times New Roman"/>
                      </a:rPr>
                      <m:t>,</m:t>
                    </m:r>
                    <m:sSup>
                      <m:sSupPr>
                        <m:ctrlPr>
                          <a:rPr lang="en-US" sz="1400" i="1" dirty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𝑡</m:t>
                        </m:r>
                      </m:e>
                      <m:sup>
                        <m:r>
                          <a:rPr lang="en-US" sz="1400" i="1" dirty="0"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 smtClean="0">
                    <a:latin typeface="Times New Roman"/>
                    <a:cs typeface="Times New Roman"/>
                  </a:rPr>
                  <a:t>.</a:t>
                </a:r>
                <a:endParaRPr lang="en-US" sz="1400" dirty="0">
                  <a:latin typeface="Times New Roman"/>
                  <a:cs typeface="Times New Roman"/>
                </a:endParaRPr>
              </a:p>
              <a:p>
                <a:pPr lvl="2"/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Otherwise?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𝑚𝑎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𝑦</m:t>
                            </m:r>
                          </m:e>
                        </m:acc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∀</m:t>
                    </m:r>
                    <m:acc>
                      <m:accPr>
                        <m:chr m:val="⃗"/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14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and therefore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40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 Output “Yes</a:t>
                </a:r>
                <a:r>
                  <a:rPr lang="en-US" sz="14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.”</a:t>
                </a:r>
              </a:p>
              <a:p>
                <a:pPr lvl="2"/>
                <a:endParaRPr lang="en-US" sz="14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1800" dirty="0">
                    <a:latin typeface="Times New Roman"/>
                    <a:cs typeface="Times New Roman"/>
                  </a:rPr>
                  <a:t>Recall</a:t>
                </a:r>
                <a:r>
                  <a:rPr lang="en-US" sz="1800" dirty="0" smtClean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𝐴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  <a:cs typeface="Times New Roman"/>
                          </a:rPr>
                          <m:t>+</m:t>
                        </m:r>
                      </m:sup>
                    </m:sSubSup>
                    <m:r>
                      <a:rPr lang="en-US" sz="1800" i="1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sz="1800" i="1">
                        <a:latin typeface="Cambria Math"/>
                        <a:cs typeface="Times New Roman"/>
                      </a:rPr>
                      <m:t>𝐶𝑜𝑛𝑣</m:t>
                    </m:r>
                    <m:d>
                      <m:d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1800" i="1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latin typeface="Cambria Math"/>
                                        <a:cs typeface="Times New Roman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d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en-US" sz="1800" i="1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/>
                                    <a:cs typeface="Times New Roman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/>
                                    <a:cs typeface="Times New Roman"/>
                                  </a:rPr>
                                  <m:t>𝑑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sz="1800" b="1" dirty="0">
                    <a:latin typeface="Times New Roman"/>
                    <a:cs typeface="Times New Roman"/>
                  </a:rPr>
                  <a:t>.</a:t>
                </a:r>
              </a:p>
              <a:p>
                <a:endParaRPr lang="en-US" sz="1600" dirty="0">
                  <a:latin typeface="Times New Roman"/>
                  <a:cs typeface="Times New Roman"/>
                </a:endParaRPr>
              </a:p>
              <a:p>
                <a:r>
                  <a:rPr lang="en-US" sz="1800" b="1" dirty="0" smtClean="0">
                    <a:latin typeface="Times New Roman"/>
                    <a:cs typeface="Times New Roman"/>
                  </a:rPr>
                  <a:t>Fact: “yes”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  <a:cs typeface="Times New Roman"/>
                      </a:rPr>
                      <m:t>⊆</m:t>
                    </m:r>
                    <m:sSubSup>
                      <m:sSubSupPr>
                        <m:ctrlPr>
                          <a:rPr lang="en-US" sz="1800" b="1" i="1" smtClean="0"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𝑨</m:t>
                        </m:r>
                      </m:sub>
                      <m:sup>
                        <m:r>
                          <a:rPr lang="en-US" sz="1800" b="1" i="1" smtClean="0">
                            <a:latin typeface="Cambria Math"/>
                            <a:cs typeface="Times New Roman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1800" b="1" dirty="0" smtClean="0">
                    <a:latin typeface="Times New Roman"/>
                    <a:cs typeface="Times New Roman"/>
                  </a:rPr>
                  <a:t>. </a:t>
                </a:r>
              </a:p>
              <a:p>
                <a:r>
                  <a:rPr lang="en-US" sz="1800" dirty="0" smtClean="0">
                    <a:latin typeface="Times New Roman"/>
                    <a:cs typeface="Times New Roman"/>
                  </a:rPr>
                  <a:t>Furthermore, if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𝑊𝑆𝑂</m:t>
                    </m:r>
                    <m:d>
                      <m:dPr>
                        <m:ctrlPr>
                          <a:rPr lang="en-US" sz="1800" i="1" dirty="0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800" dirty="0" smtClean="0">
                    <a:latin typeface="Times New Roman"/>
                    <a:cs typeface="Times New Roman"/>
                  </a:rPr>
                  <a:t> = “yes,”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𝐶𝑜𝑛𝑣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(</m:t>
                    </m:r>
                    <m:d>
                      <m:dPr>
                        <m:begChr m:val="{"/>
                        <m:endChr m:val="|"/>
                        <m:ctrlPr>
                          <a:rPr lang="en-US" sz="1800" i="1" dirty="0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/>
                            <a:cs typeface="Times New Roman"/>
                          </a:rPr>
                          <m:t>𝐴</m:t>
                        </m:r>
                        <m:d>
                          <m:dPr>
                            <m:ctrlPr>
                              <a:rPr lang="en-US" sz="1800" i="1" dirty="0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1800" i="1" dirty="0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dirty="0" smtClean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e>
                    </m:d>
                    <m:acc>
                      <m:accPr>
                        <m:chr m:val="̂"/>
                        <m:ctrlPr>
                          <a:rPr lang="en-US" sz="1800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latin typeface="Cambria Math"/>
                            <a:cs typeface="Times New Roman"/>
                          </a:rPr>
                          <m:t>𝑆𝑂</m:t>
                        </m:r>
                      </m:e>
                    </m:acc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𝑞𝑢𝑒𝑟𝑖𝑒𝑑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𝑖𝑛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𝑑𝑖𝑟𝑒𝑐𝑡𝑖𝑜𝑛</m:t>
                    </m:r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800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800" b="0" i="1" dirty="0" smtClean="0">
                        <a:latin typeface="Cambria Math"/>
                        <a:cs typeface="Times New Roman"/>
                      </a:rPr>
                      <m:t>})</m:t>
                    </m:r>
                  </m:oMath>
                </a14:m>
                <a:r>
                  <a:rPr lang="en-US" sz="18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Proof idea: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𝑊𝑆𝑂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= “yes,” then Ellipsoid deemed a certain feasible region to be empty.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This region can only be empty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600" i="1" dirty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𝐶𝑜𝑛𝑣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(</m:t>
                    </m:r>
                    <m:d>
                      <m:dPr>
                        <m:begChr m:val="{"/>
                        <m:endChr m:val="|"/>
                        <m:ctrlPr>
                          <a:rPr lang="en-US" sz="1600" i="1" dirty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𝐴</m:t>
                        </m:r>
                        <m:d>
                          <m:dPr>
                            <m:ctrlPr>
                              <a:rPr lang="en-US" sz="1600" i="1" dirty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1600" i="1" dirty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600" i="1" dirty="0"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</m:d>
                      </m:e>
                    </m:d>
                    <m:acc>
                      <m:accPr>
                        <m:chr m:val="̂"/>
                        <m:ctrlPr>
                          <a:rPr lang="en-US" sz="1600" i="1" dirty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𝑆𝑂</m:t>
                        </m:r>
                      </m:e>
                    </m:acc>
                    <m:r>
                      <a:rPr lang="en-US" sz="1600" i="1" dirty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𝑞𝑢𝑒𝑟𝑖𝑒𝑑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𝑖𝑛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𝑑𝑖𝑟𝑒𝑐𝑡𝑖𝑜𝑛</m:t>
                    </m:r>
                    <m:r>
                      <a:rPr lang="en-US" sz="1600" i="1" dirty="0">
                        <a:latin typeface="Cambria Math"/>
                        <a:cs typeface="Times New Roman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600" i="1" dirty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i="1" dirty="0">
                        <a:latin typeface="Cambria Math"/>
                        <a:cs typeface="Times New Roman"/>
                      </a:rPr>
                      <m:t>})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1800" b="1" dirty="0" smtClean="0">
                    <a:latin typeface="Times New Roman"/>
                    <a:cs typeface="Times New Roman"/>
                    <a:sym typeface="Wingdings" panose="05000000000000000000" pitchFamily="2" charset="2"/>
                  </a:rPr>
                  <a:t> </a:t>
                </a:r>
                <a:r>
                  <a:rPr lang="en-US" sz="1800" b="1" dirty="0" smtClean="0">
                    <a:latin typeface="Times New Roman"/>
                    <a:cs typeface="Times New Roman"/>
                  </a:rPr>
                  <a:t>(</a:t>
                </a:r>
                <a:r>
                  <a:rPr lang="en-US" sz="1800" b="1" dirty="0">
                    <a:latin typeface="Times New Roman"/>
                    <a:cs typeface="Times New Roman"/>
                  </a:rPr>
                  <a:t>Feasibility) </a:t>
                </a:r>
                <a:r>
                  <a:rPr lang="en-US" sz="1800" dirty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𝑊𝑆𝑂</m:t>
                    </m:r>
                    <m:d>
                      <m:d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1800" i="1">
                        <a:latin typeface="Cambria Math"/>
                        <a:cs typeface="Times New Roman"/>
                      </a:rPr>
                      <m:t>= 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“yes,” then the execution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𝑊𝑆𝑂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explicitly finds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800" i="1">
                        <a:latin typeface="Cambria Math"/>
                        <a:cs typeface="Times New Roman"/>
                      </a:rPr>
                      <m:t>+1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/>
                        <a:cs typeface="Times New Roman"/>
                      </a:rPr>
                      <m:t>,…,</m:t>
                    </m:r>
                    <m:sSub>
                      <m:sSubPr>
                        <m:ctrlPr>
                          <a:rPr lang="en-US" sz="1800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800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𝑑</m:t>
                        </m:r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1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1" i="1">
                            <a:latin typeface="Cambria Math"/>
                            <a:cs typeface="Times New Roman"/>
                          </a:rPr>
                          <m:t>𝒙</m:t>
                        </m:r>
                      </m:e>
                    </m:acc>
                    <m:r>
                      <a:rPr lang="en-US" sz="1800" b="1" i="1" dirty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800" b="1" i="1" dirty="0">
                        <a:latin typeface="Cambria Math"/>
                        <a:cs typeface="Times New Roman"/>
                      </a:rPr>
                      <m:t>𝑪𝒐𝒏𝒗</m:t>
                    </m:r>
                    <m:d>
                      <m:dPr>
                        <m:ctrlPr>
                          <a:rPr lang="en-US" sz="1800" b="1" i="1" dirty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1" i="1" dirty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800" b="1" i="1" dirty="0">
                                <a:latin typeface="Cambria Math"/>
                                <a:cs typeface="Times New Roman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1800" b="1" i="1" dirty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 dirty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800" b="1" i="1" dirty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1" i="1" dirty="0">
                                            <a:latin typeface="Cambria Math"/>
                                            <a:cs typeface="Times New Roman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1" i="1" dirty="0">
                                        <a:latin typeface="Cambria Math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b="1" i="1" dirty="0">
                                <a:latin typeface="Cambria Math"/>
                                <a:cs typeface="Times New Roman"/>
                              </a:rPr>
                              <m:t>, …, </m:t>
                            </m:r>
                            <m:r>
                              <a:rPr lang="en-US" sz="1800" b="1" i="1" dirty="0">
                                <a:latin typeface="Cambria Math"/>
                                <a:cs typeface="Times New Roman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1800" b="1" i="1" dirty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1" i="1" dirty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800" b="1" i="1" dirty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1" i="1" dirty="0">
                                            <a:latin typeface="Cambria Math"/>
                                            <a:cs typeface="Times New Roman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1" i="1" dirty="0">
                                        <a:latin typeface="Cambria Math"/>
                                        <a:cs typeface="Times New Roman"/>
                                      </a:rPr>
                                      <m:t>𝒅</m:t>
                                    </m:r>
                                    <m:r>
                                      <a:rPr lang="en-US" sz="1800" b="1" i="1" dirty="0">
                                        <a:latin typeface="Cambria Math"/>
                                        <a:cs typeface="Times New Roman"/>
                                      </a:rPr>
                                      <m:t>+</m:t>
                                    </m:r>
                                    <m:r>
                                      <a:rPr lang="en-US" sz="1800" b="1" i="1" dirty="0">
                                        <a:latin typeface="Cambria Math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1800" b="1" dirty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endParaRPr lang="en-US" sz="1600" dirty="0" smtClean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398" t="-97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91556543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905920" y="3814011"/>
            <a:ext cx="4848058" cy="2784216"/>
          </a:xfrm>
          <a:custGeom>
            <a:avLst/>
            <a:gdLst>
              <a:gd name="connsiteX0" fmla="*/ 282242 w 3489537"/>
              <a:gd name="connsiteY0" fmla="*/ 461796 h 2155050"/>
              <a:gd name="connsiteX1" fmla="*/ 769751 w 3489537"/>
              <a:gd name="connsiteY1" fmla="*/ 0 h 2155050"/>
              <a:gd name="connsiteX2" fmla="*/ 2835249 w 3489537"/>
              <a:gd name="connsiteY2" fmla="*/ 0 h 2155050"/>
              <a:gd name="connsiteX3" fmla="*/ 3489537 w 3489537"/>
              <a:gd name="connsiteY3" fmla="*/ 1411045 h 2155050"/>
              <a:gd name="connsiteX4" fmla="*/ 3271441 w 3489537"/>
              <a:gd name="connsiteY4" fmla="*/ 2155050 h 2155050"/>
              <a:gd name="connsiteX5" fmla="*/ 0 w 3489537"/>
              <a:gd name="connsiteY5" fmla="*/ 1667598 h 2155050"/>
              <a:gd name="connsiteX6" fmla="*/ 282242 w 3489537"/>
              <a:gd name="connsiteY6" fmla="*/ 461796 h 215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9537" h="2155050">
                <a:moveTo>
                  <a:pt x="282242" y="461796"/>
                </a:moveTo>
                <a:lnTo>
                  <a:pt x="769751" y="0"/>
                </a:lnTo>
                <a:lnTo>
                  <a:pt x="2835249" y="0"/>
                </a:lnTo>
                <a:lnTo>
                  <a:pt x="3489537" y="1411045"/>
                </a:lnTo>
                <a:lnTo>
                  <a:pt x="3271441" y="2155050"/>
                </a:lnTo>
                <a:lnTo>
                  <a:pt x="0" y="1667598"/>
                </a:lnTo>
                <a:lnTo>
                  <a:pt x="282242" y="46179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28575" cap="rnd" cmpd="sng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[CDW ‘13a]: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Let WSO be obtained via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-approximation algorithm,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over the closed, convex region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. Then:</a:t>
                </a:r>
              </a:p>
              <a:p>
                <a:pPr lvl="1"/>
                <a:r>
                  <a:rPr lang="en-US" sz="2000" b="1" dirty="0" smtClean="0">
                    <a:latin typeface="Times New Roman"/>
                    <a:cs typeface="Times New Roman"/>
                  </a:rPr>
                  <a:t>(Optimality)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𝑄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be any other closed, convex region described via a standard separation oracle, and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be any linear objective function.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𝑂𝑃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</m:sub>
                    </m:sSub>
                    <m:r>
                      <a:rPr lang="en-US" sz="2000" b="0" i="0" smtClean="0">
                        <a:latin typeface="Cambria Math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cs typeface="Times New Roman"/>
                      </a:rPr>
                      <m:t>ma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  <a:cs typeface="Times New Roman"/>
                          </a:rPr>
                          <m:t>x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x</m:t>
                            </m:r>
                          </m:e>
                        </m:acc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/>
                            <a:cs typeface="Times New Roman"/>
                          </a:rPr>
                          <m:t>Q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∩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𝑃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  <a:cs typeface="Times New Roman"/>
                              </a:rPr>
                              <m:t>x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𝑐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be the output of the Ellipsoid algorithm using WSO instead of a real separation oracle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. </a:t>
                </a:r>
                <a:r>
                  <a:rPr lang="en-US" sz="2000" b="1" dirty="0" smtClean="0">
                    <a:latin typeface="Times New Roman"/>
                    <a:cs typeface="Times New Roman"/>
                  </a:rPr>
                  <a:t>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1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/>
                            <a:cs typeface="Times New Roman"/>
                          </a:rPr>
                          <m:t>𝒛</m:t>
                        </m:r>
                      </m:e>
                    </m:acc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  <m:t>𝒄</m:t>
                        </m:r>
                      </m:e>
                    </m:acc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≥</m:t>
                    </m:r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𝑶𝑷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  <m:t>𝑻</m:t>
                        </m:r>
                      </m:e>
                      <m:sub>
                        <m: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  <m:t>𝜶</m:t>
                        </m:r>
                      </m:sub>
                    </m:sSub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.</a:t>
                </a:r>
                <a:endParaRPr lang="en-US" sz="1600" b="1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2000" b="1" dirty="0" smtClean="0">
                    <a:latin typeface="Times New Roman"/>
                    <a:cs typeface="Times New Roman"/>
                  </a:rPr>
                  <a:t>(Feasibility)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𝑊𝑆𝑂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= 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“yes,” then the execution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𝑊𝑆𝑂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explicitly finds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+1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  <a:cs typeface="Times New Roman"/>
                      </a:rPr>
                      <m:t>,…,</m:t>
                    </m:r>
                    <m:sSub>
                      <m:sSubPr>
                        <m:ctrlPr>
                          <a:rPr lang="en-US" sz="2000" i="1" dirty="0" smtClean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 dirty="0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/>
                            <a:cs typeface="Times New Roman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1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/>
                            <a:cs typeface="Times New Roman"/>
                          </a:rPr>
                          <m:t>𝒙</m:t>
                        </m:r>
                      </m:e>
                    </m:acc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𝑪𝒐𝒏𝒗</m:t>
                    </m:r>
                    <m:d>
                      <m:dPr>
                        <m:ctrlPr>
                          <a:rPr lang="en-US" sz="2000" b="1" i="1" dirty="0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2000" b="1" i="1" dirty="0" smtClean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  <m:t>, …, </m:t>
                            </m:r>
                            <m:r>
                              <a:rPr lang="en-US" sz="2000" b="1" i="1" dirty="0" smtClean="0">
                                <a:latin typeface="Cambria Math"/>
                                <a:cs typeface="Times New Roman"/>
                              </a:rPr>
                              <m:t>𝑨</m:t>
                            </m:r>
                            <m:d>
                              <m:dPr>
                                <m:ctrlPr>
                                  <a:rPr lang="en-US" sz="2000" b="1" i="1" dirty="0" smtClean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 dirty="0" smtClean="0">
                                            <a:latin typeface="Cambria Math"/>
                                            <a:cs typeface="Times New Roman"/>
                                          </a:rPr>
                                          <m:t>𝒘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𝒅</m:t>
                                    </m:r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+</m:t>
                                    </m:r>
                                    <m:r>
                                      <a:rPr lang="en-US" sz="2000" b="1" i="1" dirty="0" smtClean="0">
                                        <a:latin typeface="Cambria Math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endParaRPr lang="en-US" sz="2000" b="1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45573"/>
                <a:ext cx="9177129" cy="5652654"/>
              </a:xfrm>
              <a:blipFill rotWithShape="1">
                <a:blip r:embed="rId2"/>
                <a:stretch>
                  <a:fillRect l="-531" t="-53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Approximate Equivalence of Separation and Optimization</a:t>
            </a:r>
            <a:endParaRPr lang="en-US" dirty="0"/>
          </a:p>
        </p:txBody>
      </p:sp>
      <p:sp>
        <p:nvSpPr>
          <p:cNvPr id="4" name="Explosion 1 3"/>
          <p:cNvSpPr/>
          <p:nvPr/>
        </p:nvSpPr>
        <p:spPr>
          <a:xfrm>
            <a:off x="2658978" y="3814011"/>
            <a:ext cx="3693695" cy="2457615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3188368" y="4523874"/>
            <a:ext cx="2406315" cy="962526"/>
          </a:xfrm>
          <a:custGeom>
            <a:avLst/>
            <a:gdLst>
              <a:gd name="connsiteX0" fmla="*/ 725020 w 3370092"/>
              <a:gd name="connsiteY0" fmla="*/ 44999 h 1999963"/>
              <a:gd name="connsiteX1" fmla="*/ 0 w 3370092"/>
              <a:gd name="connsiteY1" fmla="*/ 1064980 h 1999963"/>
              <a:gd name="connsiteX2" fmla="*/ 1035028 w 3370092"/>
              <a:gd name="connsiteY2" fmla="*/ 1699969 h 1999963"/>
              <a:gd name="connsiteX3" fmla="*/ 2795076 w 3370092"/>
              <a:gd name="connsiteY3" fmla="*/ 1999963 h 1999963"/>
              <a:gd name="connsiteX4" fmla="*/ 3360092 w 3370092"/>
              <a:gd name="connsiteY4" fmla="*/ 1769968 h 1999963"/>
              <a:gd name="connsiteX5" fmla="*/ 3370092 w 3370092"/>
              <a:gd name="connsiteY5" fmla="*/ 564990 h 1999963"/>
              <a:gd name="connsiteX6" fmla="*/ 2905079 w 3370092"/>
              <a:gd name="connsiteY6" fmla="*/ 0 h 1999963"/>
              <a:gd name="connsiteX7" fmla="*/ 725020 w 3370092"/>
              <a:gd name="connsiteY7" fmla="*/ 44999 h 199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70092" h="1999963">
                <a:moveTo>
                  <a:pt x="725020" y="44999"/>
                </a:moveTo>
                <a:lnTo>
                  <a:pt x="0" y="1064980"/>
                </a:lnTo>
                <a:lnTo>
                  <a:pt x="1035028" y="1699969"/>
                </a:lnTo>
                <a:lnTo>
                  <a:pt x="2795076" y="1999963"/>
                </a:lnTo>
                <a:lnTo>
                  <a:pt x="3360092" y="1769968"/>
                </a:lnTo>
                <a:cubicBezTo>
                  <a:pt x="3363425" y="1368309"/>
                  <a:pt x="3366759" y="966649"/>
                  <a:pt x="3370092" y="564990"/>
                </a:cubicBezTo>
                <a:lnTo>
                  <a:pt x="2905079" y="0"/>
                </a:lnTo>
                <a:lnTo>
                  <a:pt x="725020" y="44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7206916" y="3798425"/>
            <a:ext cx="553453" cy="51735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206915" y="4863216"/>
            <a:ext cx="553453" cy="5173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7230977" y="5940758"/>
            <a:ext cx="553453" cy="517358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2" name="TextBox 11"/>
              <p:cNvSpPr txBox="1"/>
              <p:nvPr/>
            </p:nvSpPr>
            <p:spPr>
              <a:xfrm>
                <a:off x="7812505" y="3872438"/>
                <a:ext cx="7545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𝛼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505" y="3872438"/>
                <a:ext cx="75450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3" name="TextBox 12"/>
              <p:cNvSpPr txBox="1"/>
              <p:nvPr/>
            </p:nvSpPr>
            <p:spPr>
              <a:xfrm>
                <a:off x="7812505" y="4937229"/>
                <a:ext cx="906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 smtClean="0"/>
                  <a:t> “yes”</a:t>
                </a:r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505" y="4937229"/>
                <a:ext cx="90640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675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14" name="TextBox 13"/>
              <p:cNvSpPr txBox="1"/>
              <p:nvPr/>
            </p:nvSpPr>
            <p:spPr>
              <a:xfrm>
                <a:off x="7812505" y="6014771"/>
                <a:ext cx="7545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𝛼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505" y="6014771"/>
                <a:ext cx="754501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3073833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uiExpand="1" build="p"/>
      <p:bldP spid="4" grpId="0" animBg="1"/>
      <p:bldP spid="7" grpId="0" animBg="1"/>
      <p:bldP spid="2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Mechanism Design</a:t>
            </a:r>
            <a:endParaRPr lang="en-US" dirty="0"/>
          </a:p>
        </p:txBody>
      </p:sp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71" y="924790"/>
                <a:ext cx="9177129" cy="5933209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Ingredient One: </a:t>
                </a:r>
                <a:r>
                  <a:rPr lang="en-US" sz="2000" dirty="0">
                    <a:latin typeface="Times New Roman"/>
                    <a:cs typeface="Times New Roman"/>
                  </a:rPr>
                  <a:t>Succinct Linear Program using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implicit forms</a:t>
                </a:r>
                <a:r>
                  <a:rPr lang="en-US" sz="2000" dirty="0">
                    <a:latin typeface="Times New Roman"/>
                    <a:cs typeface="Times New Roman"/>
                  </a:rPr>
                  <a:t>. All we need is an algorithm determining which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implicit forms </a:t>
                </a:r>
                <a:r>
                  <a:rPr lang="en-US" sz="2000" dirty="0">
                    <a:latin typeface="Times New Roman"/>
                    <a:cs typeface="Times New Roman"/>
                  </a:rPr>
                  <a:t>are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feasible.</a:t>
                </a:r>
                <a:endParaRPr lang="en-US" sz="2000" dirty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600" b="1" dirty="0" smtClean="0">
                    <a:latin typeface="Times New Roman"/>
                    <a:cs typeface="Times New Roman"/>
                  </a:rPr>
                  <a:t>Observation: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replacing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b="1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𝑃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degrades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by exactly a factor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600" dirty="0" smtClean="0">
                    <a:latin typeface="Times New Roman"/>
                    <a:cs typeface="Times New Roman"/>
                  </a:rPr>
                  <a:t>Proof: The implicit form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𝛼</m:t>
                    </m:r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is truthful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iff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is truthful. </a:t>
                </a:r>
              </a:p>
              <a:p>
                <a:pPr lvl="1"/>
                <a:endParaRPr lang="en-US" sz="16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Ingredient </a:t>
                </a:r>
                <a:r>
                  <a:rPr lang="en-US" sz="2000" b="1" dirty="0">
                    <a:latin typeface="Times New Roman"/>
                    <a:cs typeface="Times New Roman"/>
                  </a:rPr>
                  <a:t>Two: </a:t>
                </a:r>
                <a:r>
                  <a:rPr lang="en-US" sz="2000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(approximate)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/>
                      </a:rPr>
                      <m:t>𝑆𝑒𝑝𝑎𝑟𝑎𝑡𝑖𝑜𝑛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↔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𝑂𝑝𝑡𝑖𝑚𝑖𝑧𝑎𝑡𝑖𝑜𝑛</m:t>
                    </m:r>
                  </m:oMath>
                </a14:m>
                <a:r>
                  <a:rPr lang="en-US" sz="2000" i="1" dirty="0">
                    <a:latin typeface="Times New Roman"/>
                    <a:cs typeface="Times New Roman"/>
                  </a:rPr>
                  <a:t>. </a:t>
                </a:r>
                <a:r>
                  <a:rPr lang="en-US" sz="2000" dirty="0">
                    <a:latin typeface="Times New Roman"/>
                    <a:cs typeface="Times New Roman"/>
                  </a:rPr>
                  <a:t>All we need is an algorithm optimizing linear functions over feasible reduced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forms.</a:t>
                </a: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Ingredient </a:t>
                </a:r>
                <a:r>
                  <a:rPr lang="en-US" sz="2000" b="1" dirty="0">
                    <a:latin typeface="Times New Roman"/>
                    <a:cs typeface="Times New Roman"/>
                  </a:rPr>
                  <a:t>Three: </a:t>
                </a:r>
                <a:r>
                  <a:rPr lang="en-US" sz="2000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(approximately)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Optimize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cs typeface="Times New Roman"/>
                      </a:rPr>
                      <m:t>O</m:t>
                    </m:r>
                    <m:r>
                      <a:rPr lang="en-US" sz="2000" b="0" i="0" smtClean="0">
                        <a:latin typeface="Cambria Math"/>
                        <a:cs typeface="Times New Roman"/>
                      </a:rPr>
                      <m:t>+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𝑣𝑖𝑟𝑡𝑢𝑎𝑙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𝑤𝑒𝑙𝑓𝑎𝑟𝑒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(approximately)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optimize </a:t>
                </a:r>
                <a:r>
                  <a:rPr lang="en-US" sz="2000" dirty="0">
                    <a:latin typeface="Times New Roman"/>
                    <a:cs typeface="Times New Roman"/>
                  </a:rPr>
                  <a:t>over feasible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implicit forms.</a:t>
                </a:r>
              </a:p>
              <a:p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r>
                  <a:rPr lang="en-US" sz="2000" b="1" dirty="0" smtClean="0">
                    <a:latin typeface="Times New Roman"/>
                    <a:cs typeface="Times New Roman"/>
                  </a:rPr>
                  <a:t>Ingredient </a:t>
                </a:r>
                <a:r>
                  <a:rPr lang="en-US" sz="2000" b="1" dirty="0">
                    <a:latin typeface="Times New Roman"/>
                    <a:cs typeface="Times New Roman"/>
                  </a:rPr>
                  <a:t>Four: </a:t>
                </a:r>
                <a:r>
                  <a:rPr lang="en-US" sz="2000" dirty="0">
                    <a:latin typeface="Times New Roman"/>
                    <a:cs typeface="Times New Roman"/>
                  </a:rPr>
                  <a:t>Implement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implicit form </a:t>
                </a:r>
                <a:r>
                  <a:rPr lang="en-US" sz="2000" dirty="0">
                    <a:latin typeface="Times New Roman"/>
                    <a:cs typeface="Times New Roman"/>
                  </a:rPr>
                  <a:t>by randomly sampling a </a:t>
                </a: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virtual transformation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, </a:t>
                </a:r>
                <a:r>
                  <a:rPr lang="en-US" sz="2000" dirty="0">
                    <a:latin typeface="Times New Roman"/>
                    <a:cs typeface="Times New Roman"/>
                  </a:rPr>
                  <a:t>then running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approximation algorithm </a:t>
                </a:r>
                <a:r>
                  <a:rPr lang="en-US" sz="2000" dirty="0">
                    <a:latin typeface="Times New Roman"/>
                    <a:cs typeface="Times New Roman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cs typeface="Times New Roman"/>
                      </a:rPr>
                      <m:t>O</m:t>
                    </m:r>
                    <m:r>
                      <a:rPr lang="en-US" sz="2000" b="0" i="0" smtClean="0">
                        <a:latin typeface="Cambria Math"/>
                        <a:cs typeface="Times New Roman"/>
                      </a:rPr>
                      <m:t>+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𝑣𝑖𝑟𝑡𝑢𝑎𝑙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𝑤𝑒𝑙𝑓𝑎𝑟𝑒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.</a:t>
                </a:r>
                <a:r>
                  <a:rPr lang="en-US" sz="2000" b="1" dirty="0">
                    <a:latin typeface="Times New Roman"/>
                    <a:cs typeface="Times New Roman"/>
                  </a:rPr>
                  <a:t> </a:t>
                </a:r>
                <a:endParaRPr lang="en-US" sz="2000" b="1" dirty="0" smtClean="0">
                  <a:latin typeface="Times New Roman"/>
                  <a:cs typeface="Times New Roman"/>
                </a:endParaRPr>
              </a:p>
              <a:p>
                <a:pPr lvl="1"/>
                <a:r>
                  <a:rPr lang="en-US" sz="18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Possible due to: </a:t>
                </a:r>
                <a:r>
                  <a:rPr lang="en-US" sz="1800" b="1" dirty="0" smtClean="0">
                    <a:latin typeface="Times New Roman"/>
                    <a:cs typeface="Times New Roman"/>
                  </a:rPr>
                  <a:t>(Feasibility</a:t>
                </a:r>
                <a:r>
                  <a:rPr lang="en-US" sz="1800" b="1" dirty="0">
                    <a:latin typeface="Times New Roman"/>
                    <a:cs typeface="Times New Roman"/>
                  </a:rPr>
                  <a:t>) </a:t>
                </a:r>
                <a:r>
                  <a:rPr lang="en-US" sz="1800" dirty="0"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𝑊𝑆𝑂</m:t>
                    </m:r>
                    <m:d>
                      <m:dPr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1800" i="1">
                        <a:latin typeface="Cambria Math"/>
                        <a:cs typeface="Times New Roman"/>
                      </a:rPr>
                      <m:t>= 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“yes,” then the execution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𝑊𝑆𝑂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explicitly finds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cs typeface="Times New Roman"/>
                      </a:rPr>
                      <m:t>𝑑</m:t>
                    </m:r>
                    <m:r>
                      <a:rPr lang="en-US" sz="1800" i="1">
                        <a:latin typeface="Cambria Math"/>
                        <a:cs typeface="Times New Roman"/>
                      </a:rPr>
                      <m:t>+1</m:t>
                    </m:r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800" i="1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/>
                        <a:cs typeface="Times New Roman"/>
                      </a:rPr>
                      <m:t>,…,</m:t>
                    </m:r>
                    <m:sSub>
                      <m:sSubPr>
                        <m:ctrlPr>
                          <a:rPr lang="en-US" sz="1800" i="1" dirty="0">
                            <a:latin typeface="Cambria Math"/>
                            <a:cs typeface="Times New Roman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1800" i="1" dirty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𝑑</m:t>
                        </m:r>
                        <m:r>
                          <a:rPr lang="en-US" sz="1800" i="1" dirty="0">
                            <a:latin typeface="Cambria Math"/>
                            <a:cs typeface="Times New Roman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 such that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800" b="0" i="1"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1800" b="0" i="1" dirty="0">
                        <a:latin typeface="Cambria Math"/>
                        <a:cs typeface="Times New Roman"/>
                      </a:rPr>
                      <m:t>∈</m:t>
                    </m:r>
                    <m:r>
                      <a:rPr lang="en-US" sz="1800" b="0" i="1" dirty="0">
                        <a:latin typeface="Cambria Math"/>
                        <a:cs typeface="Times New Roman"/>
                      </a:rPr>
                      <m:t>𝐶𝑜𝑛𝑣</m:t>
                    </m:r>
                    <m:d>
                      <m:dPr>
                        <m:ctrlPr>
                          <a:rPr lang="en-US" sz="1800" i="1" dirty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1800" b="0" i="1" dirty="0">
                                <a:latin typeface="Cambria Math"/>
                                <a:cs typeface="Times New Roman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1800" i="1" dirty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800" i="1" dirty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0" i="1" dirty="0">
                                            <a:latin typeface="Cambria Math"/>
                                            <a:cs typeface="Times New Roman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0" i="1" dirty="0">
                                        <a:latin typeface="Cambria Math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b="0" i="1" dirty="0">
                                <a:latin typeface="Cambria Math"/>
                                <a:cs typeface="Times New Roman"/>
                              </a:rPr>
                              <m:t>, …, </m:t>
                            </m:r>
                            <m:r>
                              <a:rPr lang="en-US" sz="1800" b="0" i="1" dirty="0">
                                <a:latin typeface="Cambria Math"/>
                                <a:cs typeface="Times New Roman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1800" i="1" dirty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1800" i="1" dirty="0"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0" i="1" dirty="0">
                                            <a:latin typeface="Cambria Math"/>
                                            <a:cs typeface="Times New Roman"/>
                                          </a:rPr>
                                          <m:t>𝑤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0" i="1" dirty="0">
                                        <a:latin typeface="Cambria Math"/>
                                        <a:cs typeface="Times New Roman"/>
                                      </a:rPr>
                                      <m:t>𝑑</m:t>
                                    </m:r>
                                    <m:r>
                                      <a:rPr lang="en-US" sz="1800" b="0" i="1" dirty="0">
                                        <a:latin typeface="Cambria Math"/>
                                        <a:cs typeface="Times New Roman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sz="1800" dirty="0"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71" y="924790"/>
                <a:ext cx="9177129" cy="5933209"/>
              </a:xfrm>
              <a:blipFill rotWithShape="1">
                <a:blip r:embed="rId2"/>
                <a:stretch>
                  <a:fillRect l="-531" t="-514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4809701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 smtClean="0">
                    <a:solidFill>
                      <a:srgbClr val="008000"/>
                    </a:solidFill>
                  </a:rPr>
                  <a:t>Theorem [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Cai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Daskalakis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-W. ‘13b]: </a:t>
                </a:r>
                <a:r>
                  <a:rPr lang="en-US" sz="2200" dirty="0" smtClean="0"/>
                  <a:t>Polynomial-time reduction from mechanism design for objective </a:t>
                </a:r>
                <a:r>
                  <a:rPr lang="en-US" sz="2200" i="1" dirty="0" smtClean="0"/>
                  <a:t>O </a:t>
                </a:r>
                <a:r>
                  <a:rPr lang="en-US" sz="2200" dirty="0" smtClean="0"/>
                  <a:t>to algorithm design for </a:t>
                </a:r>
                <a:r>
                  <a:rPr lang="en-US" sz="2200" b="1" dirty="0" smtClean="0"/>
                  <a:t>same objective </a:t>
                </a:r>
                <a:r>
                  <a:rPr lang="en-US" sz="2200" b="1" i="1" dirty="0" smtClean="0"/>
                  <a:t>O</a:t>
                </a:r>
                <a:r>
                  <a:rPr lang="en-US" sz="2200" b="1" dirty="0" smtClean="0"/>
                  <a:t> plus virtual welfare</a:t>
                </a:r>
                <a:r>
                  <a:rPr lang="en-US" sz="2200" dirty="0" smtClean="0"/>
                  <a:t>.</a:t>
                </a:r>
              </a:p>
              <a:p>
                <a:endParaRPr lang="en-US" sz="2200" dirty="0"/>
              </a:p>
              <a:p>
                <a:pPr lvl="1"/>
                <a:r>
                  <a:rPr lang="en-US" sz="1800" dirty="0" smtClean="0"/>
                  <a:t>Randomly assigns each agent a virtual type (computed by LP).</a:t>
                </a:r>
              </a:p>
              <a:p>
                <a:pPr lvl="1"/>
                <a:r>
                  <a:rPr lang="en-US" sz="1800" dirty="0" smtClean="0"/>
                  <a:t>Inputs all types and virtual types to algorithm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1800" dirty="0" smtClean="0"/>
                  <a:t> + welfare.</a:t>
                </a:r>
              </a:p>
              <a:p>
                <a:pPr lvl="1"/>
                <a:r>
                  <a:rPr lang="en-US" sz="1800" dirty="0" smtClean="0"/>
                  <a:t>Charges prices to ensure truthfulness (computed by LP). </a:t>
                </a:r>
              </a:p>
              <a:p>
                <a:endParaRPr lang="en-US" sz="2600" dirty="0" smtClean="0"/>
              </a:p>
              <a:p>
                <a:r>
                  <a:rPr lang="en-US" sz="2000" dirty="0" smtClean="0"/>
                  <a:t>Properties:</a:t>
                </a:r>
              </a:p>
              <a:p>
                <a:pPr lvl="1"/>
                <a:r>
                  <a:rPr lang="en-US" sz="1800" dirty="0" smtClean="0"/>
                  <a:t>Approximation-preserving: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with black-box access 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 smtClean="0"/>
                  <a:t>algorithm.</a:t>
                </a:r>
              </a:p>
              <a:p>
                <a:pPr lvl="1"/>
                <a:r>
                  <a:rPr lang="en-US" sz="1800" dirty="0" smtClean="0"/>
                  <a:t>For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to work on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/>
                  <a:t>, need </a:t>
                </a:r>
                <a:r>
                  <a:rPr lang="en-US" sz="1800" b="1" dirty="0"/>
                  <a:t>algorithm</a:t>
                </a:r>
                <a:r>
                  <a:rPr lang="en-US" sz="1800" dirty="0"/>
                  <a:t> for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 smtClean="0"/>
                  <a:t>, virtual types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 smtClean="0"/>
                  <a:t>.</a:t>
                </a:r>
                <a:endParaRPr lang="en-US" sz="1800" dirty="0"/>
              </a:p>
              <a:p>
                <a:pPr lvl="1"/>
                <a:r>
                  <a:rPr lang="en-US" sz="1800" b="1" dirty="0"/>
                  <a:t>Caveat: </a:t>
                </a:r>
                <a:r>
                  <a:rPr lang="en-US" sz="1800" dirty="0"/>
                  <a:t>mechanism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dirty="0"/>
                  <a:t>-BIC, loses additive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(same sampling error as Yang’s talk</a:t>
                </a:r>
                <a:r>
                  <a:rPr lang="en-US" sz="1800" dirty="0" smtClean="0"/>
                  <a:t>).</a:t>
                </a:r>
              </a:p>
              <a:p>
                <a:pPr lvl="1"/>
                <a:r>
                  <a:rPr lang="en-US" sz="1800" b="1" dirty="0" smtClean="0"/>
                  <a:t>(additional) Runtime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𝑝𝑜𝑙𝑦</m:t>
                    </m:r>
                    <m:r>
                      <a:rPr lang="en-US" sz="1800" i="1">
                        <a:latin typeface="Cambria Math"/>
                      </a:rPr>
                      <m:t>(#</m:t>
                    </m:r>
                    <m:r>
                      <a:rPr lang="en-US" sz="1800" i="1">
                        <a:latin typeface="Cambria Math"/>
                      </a:rPr>
                      <m:t>𝑎𝑔𝑒𝑛𝑡𝑠</m:t>
                    </m:r>
                    <m:r>
                      <a:rPr lang="en-US" sz="1800" i="1">
                        <a:latin typeface="Cambria Math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, 1/</m:t>
                    </m:r>
                    <m:r>
                      <a:rPr lang="en-US" sz="1800" i="1">
                        <a:latin typeface="Cambria Math"/>
                      </a:rPr>
                      <m:t>𝜖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lvl="1"/>
                <a:endParaRPr lang="en-US" sz="18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800" t="-564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Mechanism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2217430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79078" y="4623954"/>
            <a:ext cx="2886540" cy="1243445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Let’s </a:t>
            </a:r>
            <a:b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</a:br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Apply It?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365371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Arrow Connector 72"/>
          <p:cNvCxnSpPr/>
          <p:nvPr/>
        </p:nvCxnSpPr>
        <p:spPr>
          <a:xfrm flipV="1">
            <a:off x="2476820" y="1704954"/>
            <a:ext cx="3243260" cy="1065559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7724" y="3955036"/>
            <a:ext cx="82962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endParaRPr lang="en-US" sz="2000" dirty="0" smtClean="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Want to maximize revenue.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No slot should be given to more than one bidder.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No bidder</a:t>
            </a:r>
            <a:r>
              <a:rPr lang="en-US" sz="2000" i="1" dirty="0" smtClean="0">
                <a:latin typeface="Times New Roman"/>
                <a:cs typeface="Times New Roman"/>
              </a:rPr>
              <a:t> </a:t>
            </a:r>
            <a:r>
              <a:rPr lang="en-US" sz="2000" dirty="0" smtClean="0">
                <a:latin typeface="Times New Roman"/>
                <a:cs typeface="Times New Roman"/>
              </a:rPr>
              <a:t>should get more than one slot with the same doctor, or overlapping slots with different doctors.</a:t>
            </a:r>
          </a:p>
          <a:p>
            <a:pPr marL="342900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Feasibility constraints form a 3D-matching.</a:t>
            </a:r>
          </a:p>
          <a:p>
            <a:pPr marL="800100" lvl="1" indent="-3429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So greedy algorithm yields a 1/3-approximation for virtual welfare.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2454086" y="2892261"/>
            <a:ext cx="3265994" cy="0"/>
          </a:xfrm>
          <a:prstGeom prst="straightConnector1">
            <a:avLst/>
          </a:prstGeom>
          <a:ln>
            <a:prstDash val="solid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2448339" y="2892261"/>
            <a:ext cx="3342861" cy="1033266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ross 77"/>
          <p:cNvSpPr/>
          <p:nvPr/>
        </p:nvSpPr>
        <p:spPr>
          <a:xfrm rot="2579315">
            <a:off x="2958537" y="3494728"/>
            <a:ext cx="457200" cy="457200"/>
          </a:xfrm>
          <a:prstGeom prst="plus">
            <a:avLst>
              <a:gd name="adj" fmla="val 39876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36270" y="0"/>
            <a:ext cx="7810500" cy="8229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r>
              <a:rPr lang="en-US" sz="2400" i="1" dirty="0" smtClean="0">
                <a:latin typeface="Times New Roman"/>
                <a:cs typeface="Times New Roman"/>
              </a:rPr>
              <a:t>Example:</a:t>
            </a:r>
            <a:r>
              <a:rPr lang="en-US" sz="2800" dirty="0" smtClean="0">
                <a:latin typeface="Times New Roman"/>
                <a:cs typeface="Times New Roman"/>
              </a:rPr>
              <a:t> selling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doctor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appointments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256870" y="919232"/>
            <a:ext cx="6954493" cy="3268438"/>
            <a:chOff x="1256870" y="919232"/>
            <a:chExt cx="6954493" cy="3268438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692697" y="1307934"/>
              <a:ext cx="1555405" cy="1523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grpSp>
          <p:nvGrpSpPr>
            <p:cNvPr id="42" name="组合 42"/>
            <p:cNvGrpSpPr/>
            <p:nvPr/>
          </p:nvGrpSpPr>
          <p:grpSpPr>
            <a:xfrm>
              <a:off x="1256870" y="1544673"/>
              <a:ext cx="1001670" cy="2483238"/>
              <a:chOff x="555626" y="1647826"/>
              <a:chExt cx="1082451" cy="2691956"/>
            </a:xfrm>
          </p:grpSpPr>
          <p:grpSp>
            <p:nvGrpSpPr>
              <p:cNvPr id="43" name="组合 45"/>
              <p:cNvGrpSpPr/>
              <p:nvPr/>
            </p:nvGrpSpPr>
            <p:grpSpPr>
              <a:xfrm>
                <a:off x="555626" y="1647826"/>
                <a:ext cx="335521" cy="2691956"/>
                <a:chOff x="555626" y="1647826"/>
                <a:chExt cx="335521" cy="2691956"/>
              </a:xfrm>
            </p:grpSpPr>
            <p:sp>
              <p:nvSpPr>
                <p:cNvPr id="59" name="TextBox 58"/>
                <p:cNvSpPr txBox="1"/>
                <p:nvPr/>
              </p:nvSpPr>
              <p:spPr>
                <a:xfrm>
                  <a:off x="555626" y="1647826"/>
                  <a:ext cx="282347" cy="347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 dirty="0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  <a:endParaRPr lang="en-US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572882" y="2848065"/>
                  <a:ext cx="234083" cy="347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i="1" dirty="0" err="1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rPr>
                    <a:t>i</a:t>
                  </a:r>
                  <a:endParaRPr lang="en-US" sz="18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560535" y="3992277"/>
                  <a:ext cx="330612" cy="3475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i="1" dirty="0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rPr>
                    <a:t>m</a:t>
                  </a:r>
                  <a:endParaRPr lang="en-US" sz="18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44" name="组合 35"/>
              <p:cNvGrpSpPr/>
              <p:nvPr/>
            </p:nvGrpSpPr>
            <p:grpSpPr>
              <a:xfrm>
                <a:off x="1194734" y="2210605"/>
                <a:ext cx="443343" cy="1629019"/>
                <a:chOff x="917376" y="2329142"/>
                <a:chExt cx="471190" cy="1731341"/>
              </a:xfrm>
            </p:grpSpPr>
            <p:sp>
              <p:nvSpPr>
                <p:cNvPr id="46" name="TextBox 45"/>
                <p:cNvSpPr txBox="1"/>
                <p:nvPr/>
              </p:nvSpPr>
              <p:spPr>
                <a:xfrm rot="5400000">
                  <a:off x="939615" y="3611532"/>
                  <a:ext cx="4362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…</a:t>
                  </a:r>
                  <a:endParaRPr lang="en-US" dirty="0"/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 rot="5400000">
                  <a:off x="930090" y="2316428"/>
                  <a:ext cx="4362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smtClean="0"/>
                    <a:t>…</a:t>
                  </a:r>
                  <a:endParaRPr lang="en-US" dirty="0"/>
                </a:p>
              </p:txBody>
            </p:sp>
          </p:grpSp>
        </p:grpSp>
        <p:grpSp>
          <p:nvGrpSpPr>
            <p:cNvPr id="10" name="Group 9"/>
            <p:cNvGrpSpPr/>
            <p:nvPr/>
          </p:nvGrpSpPr>
          <p:grpSpPr>
            <a:xfrm>
              <a:off x="5918541" y="919232"/>
              <a:ext cx="2292822" cy="3268438"/>
              <a:chOff x="5918541" y="919232"/>
              <a:chExt cx="2292822" cy="3268438"/>
            </a:xfrm>
          </p:grpSpPr>
          <p:sp>
            <p:nvSpPr>
              <p:cNvPr id="54" name="TextBox 53"/>
              <p:cNvSpPr txBox="1"/>
              <p:nvPr/>
            </p:nvSpPr>
            <p:spPr>
              <a:xfrm rot="5400000">
                <a:off x="7123589" y="3106067"/>
                <a:ext cx="361110" cy="420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 rot="5400000">
                <a:off x="7123590" y="1983337"/>
                <a:ext cx="361110" cy="420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pic>
            <p:nvPicPr>
              <p:cNvPr id="30" name="Picture 29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8541" y="1295848"/>
                <a:ext cx="731520" cy="64008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</p:spPr>
          </p:pic>
          <p:pic>
            <p:nvPicPr>
              <p:cNvPr id="34" name="Picture 33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8386" y="2442450"/>
                <a:ext cx="731520" cy="64008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</p:spPr>
          </p:pic>
          <p:pic>
            <p:nvPicPr>
              <p:cNvPr id="52" name="Picture 51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38386" y="1295848"/>
                <a:ext cx="731520" cy="64008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</p:spPr>
          </p:pic>
          <p:pic>
            <p:nvPicPr>
              <p:cNvPr id="53" name="Picture 52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2946" y="3528212"/>
                <a:ext cx="731520" cy="64008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</p:spPr>
          </p:pic>
          <p:pic>
            <p:nvPicPr>
              <p:cNvPr id="55" name="Picture 54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8453" y="2442450"/>
                <a:ext cx="731520" cy="64008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</p:spPr>
          </p:pic>
          <p:pic>
            <p:nvPicPr>
              <p:cNvPr id="62" name="Picture 61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38386" y="3547590"/>
                <a:ext cx="731520" cy="64008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</p:spPr>
          </p:pic>
          <p:sp>
            <p:nvSpPr>
              <p:cNvPr id="64" name="TextBox 63"/>
              <p:cNvSpPr txBox="1"/>
              <p:nvPr/>
            </p:nvSpPr>
            <p:spPr>
              <a:xfrm rot="5400000">
                <a:off x="6523426" y="1516808"/>
                <a:ext cx="461665" cy="369332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r>
                  <a:rPr lang="en-US" altLang="zh-CN" dirty="0" smtClean="0"/>
                  <a:t>…</a:t>
                </a:r>
                <a:endParaRPr lang="en-US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780476" y="2442450"/>
                <a:ext cx="430887" cy="849784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sz="1600" i="1" dirty="0" smtClean="0">
                    <a:latin typeface="Times New Roman"/>
                    <a:cs typeface="Times New Roman"/>
                  </a:rPr>
                  <a:t>time</a:t>
                </a:r>
                <a:endParaRPr lang="en-US" sz="1600" i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 rot="5400000">
                <a:off x="6530632" y="2657948"/>
                <a:ext cx="461665" cy="369332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r>
                  <a:rPr lang="en-US" altLang="zh-CN" dirty="0" smtClean="0"/>
                  <a:t>…</a:t>
                </a:r>
                <a:endParaRPr lang="en-US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 rot="5400000">
                <a:off x="6518737" y="3770370"/>
                <a:ext cx="461665" cy="369332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r>
                  <a:rPr lang="en-US" altLang="zh-CN" dirty="0" smtClean="0"/>
                  <a:t>…</a:t>
                </a:r>
                <a:endParaRPr lang="en-US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513665" y="919232"/>
                <a:ext cx="5854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 smtClean="0">
                    <a:latin typeface="Times New Roman"/>
                    <a:cs typeface="Times New Roman"/>
                  </a:rPr>
                  <a:t>S</a:t>
                </a:r>
                <a:r>
                  <a:rPr lang="en-US" altLang="zh-CN" sz="1600" i="1" dirty="0" smtClean="0">
                    <a:latin typeface="Times New Roman"/>
                    <a:cs typeface="Times New Roman"/>
                  </a:rPr>
                  <a:t>lots</a:t>
                </a:r>
                <a:endParaRPr lang="en-US" sz="1600" i="1" dirty="0">
                  <a:latin typeface="Times New Roman"/>
                  <a:cs typeface="Times New Roman"/>
                </a:endParaRPr>
              </a:p>
            </p:txBody>
          </p:sp>
        </p:grpSp>
      </p:grpSp>
      <p:cxnSp>
        <p:nvCxnSpPr>
          <p:cNvPr id="69" name="Straight Arrow Connector 68"/>
          <p:cNvCxnSpPr/>
          <p:nvPr/>
        </p:nvCxnSpPr>
        <p:spPr>
          <a:xfrm flipV="1">
            <a:off x="2476820" y="2762490"/>
            <a:ext cx="4457416" cy="69376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ross 71"/>
          <p:cNvSpPr/>
          <p:nvPr/>
        </p:nvSpPr>
        <p:spPr>
          <a:xfrm rot="2579315">
            <a:off x="6403396" y="2551435"/>
            <a:ext cx="457200" cy="457200"/>
          </a:xfrm>
          <a:prstGeom prst="plus">
            <a:avLst>
              <a:gd name="adj" fmla="val 39876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Cross 73"/>
          <p:cNvSpPr/>
          <p:nvPr/>
        </p:nvSpPr>
        <p:spPr>
          <a:xfrm rot="2579315">
            <a:off x="2862069" y="2340571"/>
            <a:ext cx="457200" cy="457200"/>
          </a:xfrm>
          <a:prstGeom prst="plus">
            <a:avLst>
              <a:gd name="adj" fmla="val 39876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1469" t="8611" r="31984" b="41875"/>
          <a:stretch/>
        </p:blipFill>
        <p:spPr>
          <a:xfrm>
            <a:off x="1635665" y="1230551"/>
            <a:ext cx="767192" cy="767192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20871" t="9011" r="18601" b="28111"/>
          <a:stretch/>
        </p:blipFill>
        <p:spPr>
          <a:xfrm>
            <a:off x="1635665" y="3523307"/>
            <a:ext cx="767192" cy="767406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3" name="Picture 6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 l="12089" b="30727"/>
          <a:stretch/>
        </p:blipFill>
        <p:spPr>
          <a:xfrm rot="20915308">
            <a:off x="1635665" y="2352395"/>
            <a:ext cx="767192" cy="767192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644706" y="857989"/>
            <a:ext cx="1081179" cy="935635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838419" y="885276"/>
            <a:ext cx="693752" cy="69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60042679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8" grpId="0" animBg="1"/>
      <p:bldP spid="72" grpId="0" animBg="1"/>
      <p:bldP spid="7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Setting: </a:t>
                </a:r>
                <a:r>
                  <a:rPr lang="en-US" sz="2000" dirty="0" smtClean="0"/>
                  <a:t>k machines, m jobs. Each machine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 smtClean="0"/>
                  <a:t> processes job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 smtClean="0"/>
                  <a:t> in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 smtClean="0"/>
                  <a:t>. </a:t>
                </a:r>
              </a:p>
              <a:p>
                <a:pPr lvl="1"/>
                <a:r>
                  <a:rPr lang="en-US" sz="1800" dirty="0" smtClean="0"/>
                  <a:t>Original problem studied in </a:t>
                </a:r>
                <a:r>
                  <a:rPr lang="en-US" sz="1800" b="1" dirty="0" smtClean="0">
                    <a:solidFill>
                      <a:srgbClr val="FF6600"/>
                    </a:solidFill>
                  </a:rPr>
                  <a:t>[Nisan-Ronen ‘99]</a:t>
                </a:r>
                <a:r>
                  <a:rPr lang="en-US" sz="1800" dirty="0" smtClean="0"/>
                  <a:t>.</a:t>
                </a:r>
                <a:endParaRPr lang="en-US" sz="1800" dirty="0"/>
              </a:p>
              <a:p>
                <a:r>
                  <a:rPr lang="en-US" sz="2000" b="1" dirty="0" smtClean="0"/>
                  <a:t>Input (mechanism design): </a:t>
                </a:r>
                <a:r>
                  <a:rPr lang="en-US" sz="2000" dirty="0" smtClean="0"/>
                  <a:t>distributions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over possible processing times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b="1" dirty="0" smtClean="0"/>
                  <a:t>Goal (mechanism </a:t>
                </a:r>
                <a:r>
                  <a:rPr lang="en-US" sz="2000" b="1" dirty="0"/>
                  <a:t>design</a:t>
                </a:r>
                <a:r>
                  <a:rPr lang="en-US" sz="2000" b="1" dirty="0" smtClean="0"/>
                  <a:t>): </a:t>
                </a:r>
                <a:r>
                  <a:rPr lang="en-US" sz="2000" dirty="0" smtClean="0"/>
                  <a:t>Find BIC mechanism whose expected </a:t>
                </a:r>
                <a:r>
                  <a:rPr lang="en-US" sz="2000" dirty="0" err="1" smtClean="0"/>
                  <a:t>makespan</a:t>
                </a:r>
                <a:r>
                  <a:rPr lang="en-US" sz="2000" dirty="0" smtClean="0"/>
                  <a:t> is optimal with respect to all BIC mechanisms.</a:t>
                </a:r>
              </a:p>
              <a:p>
                <a:endParaRPr lang="en-US" sz="2000" dirty="0"/>
              </a:p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[This Talk]</a:t>
                </a:r>
                <a:r>
                  <a:rPr lang="en-US" sz="2000" b="1" dirty="0" smtClean="0"/>
                  <a:t>: </a:t>
                </a:r>
                <a:r>
                  <a:rPr lang="en-US" sz="2000" dirty="0" smtClean="0"/>
                  <a:t>Reduces to algorithm design for </a:t>
                </a:r>
                <a:r>
                  <a:rPr lang="en-US" sz="2000" b="1" dirty="0" err="1" smtClean="0"/>
                  <a:t>Makespan</a:t>
                </a:r>
                <a:r>
                  <a:rPr lang="en-US" sz="2000" b="1" dirty="0" smtClean="0"/>
                  <a:t> with Costs.</a:t>
                </a:r>
              </a:p>
              <a:p>
                <a:pPr lvl="1"/>
                <a:r>
                  <a:rPr lang="en-US" sz="1800" b="1" dirty="0" smtClean="0"/>
                  <a:t>Input (algorithm design): </a:t>
                </a:r>
                <a:r>
                  <a:rPr lang="en-US" sz="1800" dirty="0" smtClean="0"/>
                  <a:t>for each machine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 smtClean="0"/>
                  <a:t> and job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dirty="0" smtClean="0"/>
                  <a:t>, processing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 smtClean="0"/>
                  <a:t> and monetary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∈</m:t>
                    </m:r>
                    <m:r>
                      <a:rPr lang="en-US" sz="1800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z="1800" dirty="0" smtClean="0"/>
                  <a:t>.</a:t>
                </a:r>
              </a:p>
              <a:p>
                <a:pPr lvl="1"/>
                <a:r>
                  <a:rPr lang="en-US" sz="1800" dirty="0" smtClean="0"/>
                  <a:t>Interpretation: processing job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dirty="0" smtClean="0"/>
                  <a:t> on machine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 smtClean="0"/>
                  <a:t> takes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dirty="0" smtClean="0"/>
                  <a:t> and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dirty="0" smtClean="0"/>
                  <a:t> units of currency.</a:t>
                </a:r>
              </a:p>
              <a:p>
                <a:pPr lvl="1"/>
                <a:r>
                  <a:rPr lang="en-US" sz="1800" b="1" dirty="0" smtClean="0"/>
                  <a:t>Goal (algorithm design): </a:t>
                </a:r>
                <a:r>
                  <a:rPr lang="en-US" sz="1800" dirty="0" smtClean="0"/>
                  <a:t> find an assignment of jobs to machines minimizing </a:t>
                </a:r>
                <a:r>
                  <a:rPr lang="en-US" sz="1800" dirty="0" err="1" smtClean="0"/>
                  <a:t>makespan</a:t>
                </a:r>
                <a:r>
                  <a:rPr lang="en-US" sz="1800" dirty="0" smtClean="0"/>
                  <a:t> + cost.</a:t>
                </a:r>
              </a:p>
              <a:p>
                <a:pPr lvl="1"/>
                <a:r>
                  <a:rPr lang="en-US" sz="1800" b="1" dirty="0" smtClean="0"/>
                  <a:t>Formally: </a:t>
                </a:r>
                <a:r>
                  <a:rPr lang="en-US" sz="1800" dirty="0" smtClean="0"/>
                  <a:t>find assignment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𝑘𝑚</m:t>
                        </m:r>
                      </m:sup>
                    </m:sSup>
                  </m:oMath>
                </a14:m>
                <a:r>
                  <a:rPr lang="en-US" sz="1800" dirty="0" smtClean="0"/>
                  <a:t> minimizing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sz="1800" b="0" i="1" smtClean="0">
                            <a:latin typeface="Cambria Math"/>
                          </a:rPr>
                          <m:t>{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/>
                              </a:rPr>
                              <m:t>}+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800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800" b="0" i="1" smtClean="0">
                                        <a:latin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func>
                  </m:oMath>
                </a14:m>
                <a:r>
                  <a:rPr lang="en-US" sz="2200" dirty="0" smtClean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=1↔</m:t>
                    </m:r>
                  </m:oMath>
                </a14:m>
                <a:r>
                  <a:rPr lang="en-US" sz="1600" dirty="0" smtClean="0"/>
                  <a:t> machine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600" dirty="0" smtClean="0"/>
                  <a:t> processes job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1600" dirty="0" smtClean="0"/>
                  <a:t>.</a:t>
                </a:r>
              </a:p>
              <a:p>
                <a:pPr lvl="1"/>
                <a:r>
                  <a:rPr lang="en-US" sz="1800" dirty="0" smtClean="0"/>
                  <a:t>Bad news: NP-hard to approximate within any </a:t>
                </a:r>
                <a:r>
                  <a:rPr lang="en-US" sz="1800" b="1" dirty="0" smtClean="0"/>
                  <a:t>finite</a:t>
                </a:r>
                <a:r>
                  <a:rPr lang="en-US" sz="1800" b="1" i="1" dirty="0" smtClean="0"/>
                  <a:t> </a:t>
                </a:r>
                <a:r>
                  <a:rPr lang="en-US" sz="1800" dirty="0" smtClean="0"/>
                  <a:t>factor.</a:t>
                </a:r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600" t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Truthful Job Scheduling on Unrelated 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2023312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Setting: </a:t>
                </a:r>
                <a:r>
                  <a:rPr lang="en-US" sz="2000" dirty="0" smtClean="0"/>
                  <a:t>k machines, m jobs. Each machine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 smtClean="0"/>
                  <a:t> processes job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 smtClean="0"/>
                  <a:t> in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 smtClean="0"/>
                  <a:t>. </a:t>
                </a:r>
              </a:p>
              <a:p>
                <a:r>
                  <a:rPr lang="en-US" sz="2000" b="1" dirty="0" smtClean="0"/>
                  <a:t>Input (mechanism design): </a:t>
                </a:r>
                <a:r>
                  <a:rPr lang="en-US" sz="2000" dirty="0" smtClean="0"/>
                  <a:t>distributions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 over possible processing times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b="1" dirty="0" smtClean="0"/>
                  <a:t>Goal (mechanism </a:t>
                </a:r>
                <a:r>
                  <a:rPr lang="en-US" sz="2000" b="1" dirty="0"/>
                  <a:t>design</a:t>
                </a:r>
                <a:r>
                  <a:rPr lang="en-US" sz="2000" b="1" dirty="0" smtClean="0"/>
                  <a:t>): </a:t>
                </a:r>
                <a:r>
                  <a:rPr lang="en-US" sz="2000" dirty="0" smtClean="0"/>
                  <a:t>Find BIC mechanism whose expected fairness is optimal with respect to all BIC mechanisms.</a:t>
                </a:r>
              </a:p>
              <a:p>
                <a:endParaRPr lang="en-US" sz="2000" dirty="0"/>
              </a:p>
              <a:p>
                <a:r>
                  <a:rPr lang="en-US" sz="2000" b="1" dirty="0" smtClean="0">
                    <a:solidFill>
                      <a:srgbClr val="008000"/>
                    </a:solidFill>
                  </a:rPr>
                  <a:t>[This Talk]</a:t>
                </a:r>
                <a:r>
                  <a:rPr lang="en-US" sz="2000" b="1" dirty="0" smtClean="0"/>
                  <a:t>: </a:t>
                </a:r>
                <a:r>
                  <a:rPr lang="en-US" sz="2000" dirty="0" smtClean="0"/>
                  <a:t>Reduces to algorithm design for </a:t>
                </a:r>
                <a:r>
                  <a:rPr lang="en-US" sz="2000" b="1" dirty="0" smtClean="0"/>
                  <a:t>Fairness with Costs.</a:t>
                </a:r>
              </a:p>
              <a:p>
                <a:pPr lvl="1"/>
                <a:r>
                  <a:rPr lang="en-US" sz="1800" b="1" dirty="0" smtClean="0"/>
                  <a:t>Input (algorithm design): </a:t>
                </a:r>
                <a:r>
                  <a:rPr lang="en-US" sz="1800" dirty="0" smtClean="0"/>
                  <a:t>for each machine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 smtClean="0"/>
                  <a:t> and job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dirty="0" smtClean="0"/>
                  <a:t>, processing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800" dirty="0" smtClean="0"/>
                  <a:t> and monetary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∈</m:t>
                    </m:r>
                    <m:r>
                      <a:rPr lang="en-US" sz="1800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z="1800" dirty="0" smtClean="0"/>
                  <a:t>.</a:t>
                </a:r>
              </a:p>
              <a:p>
                <a:pPr lvl="1"/>
                <a:r>
                  <a:rPr lang="en-US" sz="1800" dirty="0" smtClean="0"/>
                  <a:t>Interpretation: processing job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1800" dirty="0" smtClean="0"/>
                  <a:t> on machine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dirty="0" smtClean="0"/>
                  <a:t> takes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dirty="0" smtClean="0"/>
                  <a:t> and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dirty="0" smtClean="0"/>
                  <a:t> units of currency.</a:t>
                </a:r>
              </a:p>
              <a:p>
                <a:pPr lvl="1"/>
                <a:r>
                  <a:rPr lang="en-US" sz="1800" b="1" dirty="0" smtClean="0"/>
                  <a:t>Goal (algorithm design): </a:t>
                </a:r>
                <a:r>
                  <a:rPr lang="en-US" sz="1800" dirty="0" smtClean="0"/>
                  <a:t> find an assignment of jobs to machines maximizing fairness- cost.</a:t>
                </a:r>
              </a:p>
              <a:p>
                <a:pPr lvl="1"/>
                <a:r>
                  <a:rPr lang="en-US" sz="1800" b="1" dirty="0" smtClean="0"/>
                  <a:t>Formally: </a:t>
                </a:r>
                <a:r>
                  <a:rPr lang="en-US" sz="1800" dirty="0" smtClean="0"/>
                  <a:t>find assignment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𝑘𝑚</m:t>
                        </m:r>
                      </m:sup>
                    </m:sSup>
                  </m:oMath>
                </a14:m>
                <a:r>
                  <a:rPr lang="en-US" sz="1800" dirty="0" smtClean="0"/>
                  <a:t> maximizing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sz="1800" b="0" i="1" smtClean="0">
                            <a:latin typeface="Cambria Math"/>
                          </a:rPr>
                          <m:t>{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/>
                              </a:rPr>
                              <m:t>}−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800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800" b="0" i="1" smtClean="0">
                                        <a:latin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func>
                  </m:oMath>
                </a14:m>
                <a:r>
                  <a:rPr lang="en-US" sz="2200" dirty="0" smtClean="0"/>
                  <a:t>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=1↔</m:t>
                    </m:r>
                  </m:oMath>
                </a14:m>
                <a:r>
                  <a:rPr lang="en-US" sz="1600" dirty="0" smtClean="0"/>
                  <a:t> machine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600" dirty="0" smtClean="0"/>
                  <a:t> processes job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1600" dirty="0" smtClean="0"/>
                  <a:t>.</a:t>
                </a:r>
              </a:p>
              <a:p>
                <a:pPr lvl="1"/>
                <a:r>
                  <a:rPr lang="en-US" sz="1800" dirty="0" smtClean="0"/>
                  <a:t>Bad news: NP-hard to approximate within any </a:t>
                </a:r>
                <a:r>
                  <a:rPr lang="en-US" sz="1800" b="1" dirty="0" smtClean="0"/>
                  <a:t>finite</a:t>
                </a:r>
                <a:r>
                  <a:rPr lang="en-US" sz="1800" b="1" i="1" dirty="0" smtClean="0"/>
                  <a:t> </a:t>
                </a:r>
                <a:r>
                  <a:rPr lang="en-US" sz="1800" dirty="0" smtClean="0"/>
                  <a:t>factor.</a:t>
                </a:r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600" t="-376" r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Truthful Fair Allocation of Indivisible Goods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19802082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506" y="946911"/>
            <a:ext cx="9144000" cy="6477000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Framework not (yet) general enough to accommodate </a:t>
            </a:r>
            <a:r>
              <a:rPr lang="en-US" sz="2000" b="1" dirty="0" err="1" smtClean="0"/>
              <a:t>makespan</a:t>
            </a:r>
            <a:r>
              <a:rPr lang="en-US" sz="2000" b="1" dirty="0" smtClean="0"/>
              <a:t> and fairness.</a:t>
            </a:r>
          </a:p>
          <a:p>
            <a:pPr lvl="1"/>
            <a:r>
              <a:rPr lang="en-US" sz="1600" dirty="0" smtClean="0"/>
              <a:t>Because NP-hard to approximately optimize O + virtual welfare.</a:t>
            </a:r>
          </a:p>
          <a:p>
            <a:pPr lvl="1"/>
            <a:r>
              <a:rPr lang="en-US" sz="1600" dirty="0" smtClean="0"/>
              <a:t>But these problems do admit some form of bi-criterion approximations.</a:t>
            </a:r>
          </a:p>
          <a:p>
            <a:pPr lvl="2"/>
            <a:r>
              <a:rPr lang="en-US" sz="1600" dirty="0" smtClean="0"/>
              <a:t>Defined shortly.</a:t>
            </a:r>
          </a:p>
          <a:p>
            <a:pPr lvl="1"/>
            <a:endParaRPr lang="en-US" sz="1600" dirty="0"/>
          </a:p>
          <a:p>
            <a:r>
              <a:rPr lang="en-US" sz="2000" b="1" dirty="0" smtClean="0"/>
              <a:t>Goal: </a:t>
            </a:r>
            <a:r>
              <a:rPr lang="en-US" sz="2000" dirty="0" smtClean="0"/>
              <a:t>Extend framework to accommodate specific notion of bi-criterion approximation as well.</a:t>
            </a:r>
            <a:endParaRPr lang="en-US" sz="2000" b="1" dirty="0" smtClean="0"/>
          </a:p>
          <a:p>
            <a:endParaRPr lang="en-US" sz="2200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Now?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511057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79078" y="4623954"/>
            <a:ext cx="4170638" cy="1243445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Bi-Criterion Approximations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31843015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effectLst/>
            </p:spPr>
            <p:txBody>
              <a:bodyPr>
                <a:normAutofit/>
              </a:bodyPr>
              <a:lstStyle/>
              <a:p>
                <a:pPr marL="400050" lvl="1" indent="-342900">
                  <a:buFont typeface="Arial"/>
                  <a:buChar char="•"/>
                </a:pP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Definition: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𝑨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is 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-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approximation algorithm if the output satisfies: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𝑉𝑖𝑟𝑡𝑢𝑎𝑙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𝑊𝑒𝑙𝑓𝑎𝑟𝑒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r>
                  <a:rPr lang="en-US" sz="2000" b="0" i="1" dirty="0" smtClean="0">
                    <a:latin typeface="Cambria Math"/>
                    <a:cs typeface="Times New Roman"/>
                  </a:rPr>
                  <a:t>.</a:t>
                </a:r>
              </a:p>
              <a:p>
                <a:pPr marL="800100" lvl="2" indent="-342900"/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=1→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standard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-approximation, cheating by a factor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in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objective.</a:t>
                </a:r>
                <a:endParaRPr lang="en-US" sz="1600" dirty="0">
                  <a:latin typeface="Times New Roman"/>
                  <a:cs typeface="Times New Roman"/>
                </a:endParaRPr>
              </a:p>
              <a:p>
                <a:pPr marL="800100" lvl="2" indent="-342900"/>
                <a:endParaRPr lang="en-US" sz="2200" dirty="0" smtClean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Example (</a:t>
                </a:r>
                <a:r>
                  <a:rPr lang="en-US" sz="20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). 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Times New Roman"/>
                    <a:cs typeface="Times New Roman"/>
                  </a:rPr>
                  <a:t>Say the optimal schedule has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10 and cost -10.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Times New Roman"/>
                    <a:cs typeface="Times New Roman"/>
                  </a:rPr>
                  <a:t>You find a schedule with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20 and cost -19.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Times New Roman"/>
                    <a:cs typeface="Times New Roman"/>
                  </a:rPr>
                  <a:t>This is not 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-approximation for any finite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Times New Roman"/>
                    <a:cs typeface="Times New Roman"/>
                  </a:rPr>
                  <a:t>But it is a (1, ½) –approximation.</a:t>
                </a:r>
                <a:endParaRPr lang="en-US" sz="16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blipFill rotWithShape="1">
                <a:blip r:embed="rId3"/>
                <a:stretch>
                  <a:fillRect t="-53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𝜶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</a:rPr>
                          <m:t>𝜷</m:t>
                        </m:r>
                      </m:e>
                    </m:d>
                  </m:oMath>
                </a14:m>
                <a:r>
                  <a:rPr lang="en-US" dirty="0" smtClean="0"/>
                  <a:t>-Approximations</a:t>
                </a:r>
                <a:endParaRPr lang="en-US" dirty="0"/>
              </a:p>
            </p:txBody>
          </p:sp>
        </mc:Choice>
        <mc:Fallback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4"/>
                <a:stretch>
                  <a:fillRect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8303492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effectLst/>
            </p:spPr>
            <p:txBody>
              <a:bodyPr>
                <a:normAutofit/>
              </a:bodyPr>
              <a:lstStyle/>
              <a:p>
                <a:pPr marL="400050" lvl="1" indent="-342900">
                  <a:buFont typeface="Arial"/>
                  <a:buChar char="•"/>
                </a:pP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Definition: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𝑨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is 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-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approximation algorithm if the output satisfies: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𝑉𝑖𝑟𝑡𝑢𝑎𝑙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𝑊𝑒𝑙𝑓𝑎𝑟𝑒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endParaRPr lang="en-US" sz="2000" dirty="0" smtClean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800100" lvl="2" indent="-342900"/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=1→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standard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-approximation, cheating by a factor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in objective</a:t>
                </a:r>
              </a:p>
              <a:p>
                <a:pPr marL="800100" lvl="2" indent="-342900"/>
                <a:endParaRPr lang="en-US" sz="1800" dirty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/>
                  <a:buChar char="•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Can we get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-approximation algorithm for optimizing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?</a:t>
                </a:r>
              </a:p>
              <a:p>
                <a:pPr marL="800100" lvl="2" indent="-342900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Sure! Run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to get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then cheat and multiply the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component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Call this algorithm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′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 Definition guarantees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𝐴</m:t>
                        </m:r>
                      </m:e>
                      <m:sub/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)⋅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  <a:endParaRPr lang="en-US" sz="1600" dirty="0">
                  <a:latin typeface="Times New Roman"/>
                  <a:cs typeface="Times New Roman"/>
                </a:endParaRPr>
              </a:p>
              <a:p>
                <a:pPr marL="800100" lvl="2" indent="-342900"/>
                <a:endParaRPr lang="en-US" sz="1600" dirty="0" smtClean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Example:</a:t>
                </a:r>
                <a:endParaRPr lang="en-US" sz="2000" dirty="0">
                  <a:latin typeface="Times New Roman"/>
                  <a:cs typeface="Times New Roman"/>
                </a:endParaRPr>
              </a:p>
              <a:p>
                <a:pPr marL="800100" lvl="2" indent="-342900"/>
                <a:r>
                  <a:rPr lang="en-US" sz="1600" dirty="0" smtClean="0">
                    <a:latin typeface="Times New Roman"/>
                    <a:cs typeface="Times New Roman"/>
                  </a:rPr>
                  <a:t>Say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is a (1, ½)-approximation for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with costs. </a:t>
                </a:r>
              </a:p>
              <a:p>
                <a:pPr marL="800100" lvl="2" indent="-342900"/>
                <a:r>
                  <a:rPr lang="en-US" sz="1600" dirty="0" smtClean="0">
                    <a:latin typeface="Times New Roman"/>
                    <a:cs typeface="Times New Roman"/>
                  </a:rPr>
                  <a:t>Running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 on every </a:t>
                </a: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profile with virtual types according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yields a mechanism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with expected </a:t>
                </a:r>
                <a:r>
                  <a:rPr lang="en-US" sz="1600" dirty="0" err="1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𝑂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and implicit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/>
                <a:r>
                  <a:rPr lang="en-US" sz="1600" dirty="0" smtClean="0">
                    <a:latin typeface="Times New Roman"/>
                    <a:cs typeface="Times New Roman"/>
                  </a:rPr>
                  <a:t>Now just pretend that the expected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𝑀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𝑂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  <a:cs typeface="Times New Roman"/>
                          </a:rPr>
                          <m:t>𝑀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  <a:cs typeface="Times New Roman"/>
                      </a:rPr>
                      <m:t>/2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/>
                <a:r>
                  <a:rPr lang="en-US" sz="1600" dirty="0" smtClean="0">
                    <a:latin typeface="Times New Roman"/>
                    <a:cs typeface="Times New Roman"/>
                  </a:rPr>
                  <a:t>Definition guarantees that this implicit form is a 1-approximation.</a:t>
                </a:r>
                <a:endParaRPr lang="en-US" sz="1600" dirty="0">
                  <a:latin typeface="Times New Roman"/>
                  <a:cs typeface="Times New Roman"/>
                </a:endParaRPr>
              </a:p>
              <a:p>
                <a:pPr marL="800100" lvl="2" indent="-342900"/>
                <a:endParaRPr lang="en-US" sz="1600" dirty="0" smtClean="0">
                  <a:latin typeface="Times New Roman"/>
                  <a:cs typeface="Times New Roman"/>
                </a:endParaRPr>
              </a:p>
              <a:p>
                <a:pPr marL="400050" lvl="1" indent="-342900"/>
                <a:endParaRPr lang="en-US" sz="2000" dirty="0" smtClean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blipFill rotWithShape="1">
                <a:blip r:embed="rId3"/>
                <a:stretch>
                  <a:fillRect t="-53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𝜶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</a:rPr>
                          <m:t>𝜷</m:t>
                        </m:r>
                      </m:e>
                    </m:d>
                  </m:oMath>
                </a14:m>
                <a:r>
                  <a:rPr lang="en-US" dirty="0" smtClean="0"/>
                  <a:t>-Approximations</a:t>
                </a:r>
                <a:endParaRPr lang="en-US" dirty="0"/>
              </a:p>
            </p:txBody>
          </p:sp>
        </mc:Choice>
        <mc:Fallback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4"/>
                <a:stretch>
                  <a:fillRect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04666113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90154"/>
                <a:ext cx="9177129" cy="5967846"/>
              </a:xfrm>
              <a:effectLst/>
            </p:spPr>
            <p:txBody>
              <a:bodyPr>
                <a:normAutofit/>
              </a:bodyPr>
              <a:lstStyle/>
              <a:p>
                <a:pPr marL="400050" lvl="1" indent="-342900">
                  <a:buFont typeface="Arial"/>
                  <a:buChar char="•"/>
                </a:pP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Definition: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𝑨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is 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-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approximation algorithm if the output satisfies: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𝑉𝑖𝑟𝑡𝑢𝑎𝑙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𝑊𝑒𝑙𝑓𝑎𝑟𝑒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endParaRPr lang="en-US" sz="2000" dirty="0" smtClean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800100" lvl="2" indent="-342900"/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=1→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standard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-approximation, cheating by a factor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in objective</a:t>
                </a:r>
              </a:p>
              <a:p>
                <a:pPr marL="800100" lvl="2" indent="-342900"/>
                <a:endParaRPr lang="en-US" sz="1800" dirty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/>
                  <a:buChar char="•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Can we get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-approximation algorithm for optimizing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?</a:t>
                </a:r>
              </a:p>
              <a:p>
                <a:pPr marL="800100" lvl="2" indent="-342900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Sure! Run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to get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then cheat and multiply the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component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Call this algorithm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′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 Definition guarantees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𝐴</m:t>
                        </m:r>
                      </m:e>
                      <m:sub/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)⋅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/>
                <a:endParaRPr lang="en-US" sz="1600" dirty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Something fishy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is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going on here…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Good news: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Solving the same LP using the above approach finds an implicit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that is within a factor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of optimal.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Good news: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can be written as a convex combination of vectors of the form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𝐴</m:t>
                        </m:r>
                      </m:e>
                      <m:sub/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Bad News: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𝑨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cheats! It’s not a “real” algorithm.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 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𝑨</m:t>
                        </m:r>
                      </m:e>
                      <m:sub/>
                      <m:sup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𝒘</m:t>
                        </m:r>
                      </m:e>
                    </m:acc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could be infeasible!</a:t>
                </a: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Example: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Say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is a (1,1/2)-approximation for </a:t>
                </a:r>
                <a:r>
                  <a:rPr lang="en-US" sz="1600" dirty="0" err="1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with costs, and on a fixed profile outputs a schedule with </a:t>
                </a:r>
                <a:r>
                  <a:rPr lang="en-US" sz="1600" dirty="0" err="1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20 and cost -19.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Times New Roman"/>
                    <a:cs typeface="Times New Roman"/>
                  </a:rPr>
                  <a:t>Then we know that a solution with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10 and cost -19 would be optimal.</a:t>
                </a:r>
              </a:p>
              <a:p>
                <a:pPr marL="1257300" lvl="3" indent="-342900">
                  <a:buFont typeface="Arial" panose="020B0604020202020204" pitchFamily="34" charset="0"/>
                  <a:buChar char="•"/>
                </a:pPr>
                <a:r>
                  <a: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But we have no idea how to find such a schedule. It might not even exist.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90154"/>
                <a:ext cx="9177129" cy="5967846"/>
              </a:xfrm>
              <a:blipFill rotWithShape="1">
                <a:blip r:embed="rId3"/>
                <a:stretch>
                  <a:fillRect t="-51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𝜶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</a:rPr>
                          <m:t>𝜷</m:t>
                        </m:r>
                      </m:e>
                    </m:d>
                  </m:oMath>
                </a14:m>
                <a:r>
                  <a:rPr lang="en-US" dirty="0" smtClean="0"/>
                  <a:t>-Approximations</a:t>
                </a:r>
                <a:endParaRPr lang="en-US" dirty="0"/>
              </a:p>
            </p:txBody>
          </p:sp>
        </mc:Choice>
        <mc:Fallback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4"/>
                <a:stretch>
                  <a:fillRect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730057460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effectLst/>
            </p:spPr>
            <p:txBody>
              <a:bodyPr>
                <a:normAutofit/>
              </a:bodyPr>
              <a:lstStyle/>
              <a:p>
                <a:pPr marL="400050" lvl="1" indent="-342900">
                  <a:buFont typeface="Arial"/>
                  <a:buChar char="•"/>
                </a:pP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Definition: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  <a:cs typeface="Times New Roman"/>
                      </a:rPr>
                      <m:t>𝑨</m:t>
                    </m:r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is 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000" b="1" dirty="0" smtClean="0">
                    <a:latin typeface="Times New Roman"/>
                    <a:cs typeface="Times New Roman"/>
                  </a:rPr>
                  <a:t>-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approximation algorithm if the output satisfies: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𝑉𝑖𝑟𝑡𝑢𝑎𝑙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𝑊𝑒𝑙𝑓𝑎𝑟𝑒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endParaRPr lang="en-US" sz="2000" dirty="0" smtClean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800100" lvl="2" indent="-342900"/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i="1">
                        <a:latin typeface="Cambria Math"/>
                        <a:cs typeface="Times New Roman"/>
                      </a:rPr>
                      <m:t>=1→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standard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-approximation, cheating by a factor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  <a:cs typeface="Times New Roman"/>
                      </a:rPr>
                      <m:t>𝛽</m:t>
                    </m:r>
                  </m:oMath>
                </a14:m>
                <a:r>
                  <a:rPr lang="en-US" sz="1600" dirty="0">
                    <a:latin typeface="Times New Roman"/>
                    <a:cs typeface="Times New Roman"/>
                  </a:rPr>
                  <a:t> in objective</a:t>
                </a:r>
              </a:p>
              <a:p>
                <a:pPr marL="800100" lvl="2" indent="-342900"/>
                <a:endParaRPr lang="en-US" sz="1800" dirty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/>
                  <a:buChar char="•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Can we get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-approximation algorithm for optimizing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?</a:t>
                </a:r>
              </a:p>
              <a:p>
                <a:pPr marL="800100" lvl="2" indent="-342900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Sure! Run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to get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then cheat and multiply the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component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 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Call this algorithm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′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 Definition guarantees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𝐴</m:t>
                        </m:r>
                      </m:e>
                      <m:sub/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𝑤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⋅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𝑂𝑃𝑇</m:t>
                    </m:r>
                  </m:oMath>
                </a14:m>
                <a:r>
                  <a:rPr lang="en-US" sz="16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/>
                <a:endParaRPr lang="en-US" sz="1600" dirty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Something fishy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is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going on here…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Good news: 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Solving the same LP using the above approach finds an implicit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that is within a factor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of optimal.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Good news: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can be written as a convex combination of vectors of the form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𝐴</m:t>
                        </m:r>
                      </m:e>
                      <m:sub/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Bad News: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𝑨</m:t>
                        </m:r>
                      </m:e>
                      <m:sup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cheats! It’s not a “real” algorithm.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 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𝑨</m:t>
                        </m:r>
                      </m:e>
                      <m:sub/>
                      <m:sup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𝒘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1600" b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could be infeasible!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endParaRPr lang="en-US" sz="1600" b="1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Times New Roman"/>
                    <a:cs typeface="Times New Roman"/>
                  </a:rPr>
                  <a:t>Even though our algorithm will find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-approximate implicit form, we don’t know how to implement it!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latin typeface="Times New Roman"/>
                    <a:cs typeface="Times New Roman"/>
                  </a:rPr>
                  <a:t>May even be impossible.</a:t>
                </a:r>
                <a:endParaRPr lang="en-US" sz="16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blipFill rotWithShape="1">
                <a:blip r:embed="rId3"/>
                <a:stretch>
                  <a:fillRect t="-53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𝜶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</a:rPr>
                          <m:t>𝜷</m:t>
                        </m:r>
                      </m:e>
                    </m:d>
                  </m:oMath>
                </a14:m>
                <a:r>
                  <a:rPr lang="en-US" dirty="0" smtClean="0"/>
                  <a:t>-Approximations</a:t>
                </a:r>
                <a:endParaRPr lang="en-US" dirty="0"/>
              </a:p>
            </p:txBody>
          </p:sp>
        </mc:Choice>
        <mc:Fallback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4"/>
                <a:stretch>
                  <a:fillRect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20171038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effectLst/>
            </p:spPr>
            <p:txBody>
              <a:bodyPr>
                <a:normAutofit/>
              </a:bodyPr>
              <a:lstStyle/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Idea</a:t>
                </a:r>
                <a:r>
                  <a:rPr lang="en-US" sz="20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:</a:t>
                </a:r>
                <a:r>
                  <a:rPr lang="en-US" sz="2000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 is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a valid algorithm</a:t>
                </a:r>
                <a:r>
                  <a:rPr lang="en-US" sz="2000" dirty="0">
                    <a:latin typeface="Times New Roman"/>
                    <a:cs typeface="Times New Roman"/>
                  </a:rPr>
                  <a:t>. What if we try to implement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 using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 instead?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i.e.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  </m:t>
                    </m:r>
                    <m:sSup>
                      <m:sSupPr>
                        <m:ctrlPr>
                          <a:rPr lang="en-US" sz="18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8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8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  <m:r>
                      <a:rPr lang="en-US" sz="1800" b="0" i="1" dirty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naryPr>
                      <m:sub>
                        <m:r>
                          <a:rPr lang="en-US" sz="1800" b="0" i="1" dirty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800" b="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sz="1800" b="0" i="1" dirty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𝐴</m:t>
                            </m:r>
                          </m:e>
                          <m:sub/>
                          <m:sup>
                            <m:r>
                              <a:rPr lang="en-US" sz="18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r>
                          <a:rPr lang="en-US" sz="18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800" b="0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dirty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might be infeasible.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8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8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∗∗</m:t>
                        </m:r>
                      </m:sup>
                    </m:sSup>
                    <m:r>
                      <a:rPr lang="en-US" sz="1800" b="0" i="1" dirty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naryPr>
                      <m:sub>
                        <m:r>
                          <a:rPr lang="en-US" sz="1800" b="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800" b="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𝐴</m:t>
                        </m:r>
                        <m:d>
                          <m:dPr>
                            <m:ctrlP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is </a:t>
                </a:r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feasible.</a:t>
                </a:r>
                <a:endParaRPr lang="en-US" sz="1800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How different are they</a:t>
                </a:r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?</a:t>
                </a:r>
              </a:p>
              <a:p>
                <a:pPr marL="8001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is the same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𝐴</m:t>
                        </m:r>
                      </m:e>
                      <m:sub/>
                      <m:sup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/>
                                  </a:rPr>
                                  <m:t>𝑤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in most coordinates, just the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component is different. And it’s only off by a factor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/>
                        <a:cs typeface="Times New Roman"/>
                      </a:rPr>
                      <m:t>𝛽</m:t>
                    </m:r>
                  </m:oMath>
                </a14:m>
                <a:r>
                  <a:rPr lang="en-US" sz="1800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1257300" lvl="3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Immediately implies that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is truthful, then so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1257300" lvl="3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Also implies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𝑂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∗∗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𝛽</m:t>
                        </m:r>
                      </m:den>
                    </m:f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𝑂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1257300" lvl="3" indent="-342900">
                  <a:buFont typeface="Arial" panose="020B0604020202020204" pitchFamily="34" charset="0"/>
                  <a:buChar char="•"/>
                </a:pPr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was 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-approximation,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16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∗∗</m:t>
                        </m:r>
                      </m:sup>
                    </m:sSup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is 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𝛼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-approximation.</a:t>
                </a: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endParaRPr lang="en-US" sz="2000" b="1" dirty="0" smtClean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Summary: </a:t>
                </a:r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Run the same LP as before, using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′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as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-approximation algorithm. When implementing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𝜋</m:t>
                            </m:r>
                          </m:e>
                        </m:acc>
                      </m:e>
                      <m:sup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, have to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instead. Lose an additional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Theorem [DW ‘14]: </a:t>
                </a:r>
                <a:r>
                  <a:rPr lang="en-US" sz="2000" dirty="0">
                    <a:latin typeface="Times New Roman"/>
                    <a:cs typeface="Times New Roman"/>
                  </a:rPr>
                  <a:t>poly-time</a:t>
                </a:r>
                <a:r>
                  <a:rPr lang="en-US" sz="2000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/>
                            <a:cs typeface="Times New Roman"/>
                          </a:rPr>
                          <m:t>𝛼</m:t>
                        </m:r>
                        <m:r>
                          <a:rPr lang="en-US" sz="2000" b="0" i="1">
                            <a:latin typeface="Cambria Math"/>
                            <a:cs typeface="Times New Roman"/>
                          </a:rPr>
                          <m:t>,</m:t>
                        </m:r>
                        <m:r>
                          <a:rPr lang="en-US" sz="2000" b="0" i="1">
                            <a:latin typeface="Cambria Math"/>
                            <a:cs typeface="Times New Roman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-approximation algorithm for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/>
                        <a:cs typeface="Times New Roman"/>
                      </a:rPr>
                      <m:t>𝑂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+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𝑉𝑖𝑟𝑡𝑢𝑎𝑙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 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𝑊𝑒𝑙𝑓𝑎𝑟𝑒</m:t>
                    </m:r>
                    <m:r>
                      <a:rPr lang="en-US" sz="2000" b="0" i="1">
                        <a:latin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poly-time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b="0" i="1">
                            <a:latin typeface="Cambria Math"/>
                            <a:cs typeface="Times New Roman"/>
                          </a:rPr>
                          <m:t>𝛼</m:t>
                        </m:r>
                      </m:num>
                      <m:den>
                        <m:r>
                          <a:rPr lang="en-US" sz="2000" b="0" i="1">
                            <a:latin typeface="Cambria Math"/>
                            <a:cs typeface="Times New Roman"/>
                          </a:rPr>
                          <m:t>𝛽</m:t>
                        </m:r>
                      </m:den>
                    </m:f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-approximate mechanism for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.</a:t>
                </a:r>
              </a:p>
              <a:p>
                <a:pPr marL="400050" lvl="1" indent="-342900">
                  <a:buFont typeface="Arial" panose="020B0604020202020204" pitchFamily="34" charset="0"/>
                  <a:buChar char="•"/>
                </a:pPr>
                <a:endParaRPr lang="en-US" sz="20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blipFill rotWithShape="1">
                <a:blip r:embed="rId3"/>
                <a:stretch>
                  <a:fillRect t="-86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𝜶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</a:rPr>
                          <m:t>𝜷</m:t>
                        </m:r>
                      </m:e>
                    </m:d>
                  </m:oMath>
                </a14:m>
                <a:r>
                  <a:rPr lang="en-US" dirty="0" smtClean="0"/>
                  <a:t>-Approximations</a:t>
                </a:r>
                <a:endParaRPr lang="en-US" dirty="0"/>
              </a:p>
            </p:txBody>
          </p:sp>
        </mc:Choice>
        <mc:Fallback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4"/>
                <a:stretch>
                  <a:fillRect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23752112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 smtClean="0">
                    <a:solidFill>
                      <a:srgbClr val="008000"/>
                    </a:solidFill>
                  </a:rPr>
                  <a:t>Theorem [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Cai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Daskalakis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-W. ‘13b]: </a:t>
                </a:r>
                <a:r>
                  <a:rPr lang="en-US" sz="2200" dirty="0" smtClean="0"/>
                  <a:t>Polynomial-time reduction from mechanism design for objective </a:t>
                </a:r>
                <a:r>
                  <a:rPr lang="en-US" sz="2200" i="1" dirty="0" smtClean="0"/>
                  <a:t>O </a:t>
                </a:r>
                <a:r>
                  <a:rPr lang="en-US" sz="2200" dirty="0" smtClean="0"/>
                  <a:t>to algorithm design for </a:t>
                </a:r>
                <a:r>
                  <a:rPr lang="en-US" sz="2200" b="1" dirty="0" smtClean="0"/>
                  <a:t>same objective </a:t>
                </a:r>
                <a:r>
                  <a:rPr lang="en-US" sz="2200" b="1" i="1" dirty="0" smtClean="0"/>
                  <a:t>O</a:t>
                </a:r>
                <a:r>
                  <a:rPr lang="en-US" sz="2200" b="1" dirty="0" smtClean="0"/>
                  <a:t> plus virtual welfare</a:t>
                </a:r>
                <a:r>
                  <a:rPr lang="en-US" sz="2200" dirty="0" smtClean="0"/>
                  <a:t>.</a:t>
                </a:r>
                <a:endParaRPr lang="en-US" sz="2200" dirty="0"/>
              </a:p>
              <a:p>
                <a:pPr lvl="1"/>
                <a:r>
                  <a:rPr lang="en-US" sz="1800" dirty="0" smtClean="0"/>
                  <a:t>Randomly assigns each agent a virtual type (computed by LP).</a:t>
                </a:r>
              </a:p>
              <a:p>
                <a:pPr lvl="1"/>
                <a:r>
                  <a:rPr lang="en-US" sz="1800" dirty="0" smtClean="0"/>
                  <a:t>Inputs all types and virtual types to algorithm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1800" dirty="0" smtClean="0"/>
                  <a:t> + welfare.</a:t>
                </a:r>
              </a:p>
              <a:p>
                <a:pPr lvl="1"/>
                <a:r>
                  <a:rPr lang="en-US" sz="1800" dirty="0" smtClean="0"/>
                  <a:t>Charges prices to ensure truthfulness (computed by LP). </a:t>
                </a:r>
              </a:p>
              <a:p>
                <a:endParaRPr lang="en-US" sz="2600" dirty="0" smtClean="0"/>
              </a:p>
              <a:p>
                <a:r>
                  <a:rPr lang="en-US" sz="2000" dirty="0" smtClean="0"/>
                  <a:t>Properties:</a:t>
                </a:r>
              </a:p>
              <a:p>
                <a:pPr lvl="1"/>
                <a:r>
                  <a:rPr lang="en-US" sz="1800" dirty="0" smtClean="0"/>
                  <a:t>Approximation-preserving: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with black-box access 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 smtClean="0"/>
                  <a:t>algorithm.</a:t>
                </a:r>
              </a:p>
              <a:p>
                <a:pPr lvl="1"/>
                <a:r>
                  <a:rPr lang="en-US" sz="1800" b="1" dirty="0" smtClean="0">
                    <a:solidFill>
                      <a:srgbClr val="008000"/>
                    </a:solidFill>
                  </a:rPr>
                  <a:t>Also: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/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𝛽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-approximate </a:t>
                </a:r>
                <a:r>
                  <a:rPr lang="en-US" sz="1800" b="1" dirty="0" smtClean="0">
                    <a:solidFill>
                      <a:schemeClr val="tx1"/>
                    </a:solidFill>
                  </a:rPr>
                  <a:t>mechanism</a:t>
                </a:r>
                <a:r>
                  <a:rPr lang="en-US" sz="1800" dirty="0" smtClean="0">
                    <a:solidFill>
                      <a:schemeClr val="tx1"/>
                    </a:solidFill>
                  </a:rPr>
                  <a:t> with  black-box access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𝛽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-approximation </a:t>
                </a:r>
                <a:r>
                  <a:rPr lang="en-US" sz="1800" b="1" dirty="0" smtClean="0">
                    <a:solidFill>
                      <a:schemeClr val="tx1"/>
                    </a:solidFill>
                  </a:rPr>
                  <a:t>algorithm</a:t>
                </a:r>
                <a:r>
                  <a:rPr lang="en-US" sz="18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r>
                  <a:rPr lang="en-US" sz="1800" dirty="0" smtClean="0"/>
                  <a:t>For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to work on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/>
                  <a:t>, need </a:t>
                </a:r>
                <a:r>
                  <a:rPr lang="en-US" sz="1800" b="1" dirty="0"/>
                  <a:t>algorithm</a:t>
                </a:r>
                <a:r>
                  <a:rPr lang="en-US" sz="1800" dirty="0"/>
                  <a:t> for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 smtClean="0"/>
                  <a:t>, virtual types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 smtClean="0"/>
                  <a:t>.</a:t>
                </a:r>
                <a:endParaRPr lang="en-US" sz="1800" dirty="0"/>
              </a:p>
              <a:p>
                <a:pPr lvl="1"/>
                <a:r>
                  <a:rPr lang="en-US" sz="1800" b="1" dirty="0"/>
                  <a:t>Caveat: </a:t>
                </a:r>
                <a:r>
                  <a:rPr lang="en-US" sz="1800" dirty="0"/>
                  <a:t>mechanism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dirty="0"/>
                  <a:t>-BIC, loses additive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(same sampling error as Yang’s talk</a:t>
                </a:r>
                <a:r>
                  <a:rPr lang="en-US" sz="1800" dirty="0" smtClean="0"/>
                  <a:t>).</a:t>
                </a:r>
              </a:p>
              <a:p>
                <a:pPr lvl="1"/>
                <a:r>
                  <a:rPr lang="en-US" sz="1800" b="1" dirty="0" smtClean="0"/>
                  <a:t>(additional) Runtime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𝑝𝑜𝑙𝑦</m:t>
                    </m:r>
                    <m:r>
                      <a:rPr lang="en-US" sz="1800" i="1">
                        <a:latin typeface="Cambria Math"/>
                      </a:rPr>
                      <m:t>(#</m:t>
                    </m:r>
                    <m:r>
                      <a:rPr lang="en-US" sz="1800" i="1">
                        <a:latin typeface="Cambria Math"/>
                      </a:rPr>
                      <m:t>𝑎𝑔𝑒𝑛𝑡𝑠</m:t>
                    </m:r>
                    <m:r>
                      <a:rPr lang="en-US" sz="1800" i="1">
                        <a:latin typeface="Cambria Math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, 1/</m:t>
                    </m:r>
                    <m:r>
                      <a:rPr lang="en-US" sz="1800" i="1">
                        <a:latin typeface="Cambria Math"/>
                      </a:rPr>
                      <m:t>𝜖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lvl="1"/>
                <a:endParaRPr lang="en-US" sz="18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800" t="-564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Result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68809319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79078" y="4623954"/>
            <a:ext cx="2886540" cy="1243445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Let’s </a:t>
            </a:r>
            <a:b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</a:br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Apply It!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0757839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US" sz="2000" b="1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Theorem </a:t>
                </a:r>
                <a:r>
                  <a:rPr lang="en-US" sz="2000" b="1" dirty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[</a:t>
                </a:r>
                <a:r>
                  <a:rPr lang="en-US" sz="2000" b="1" dirty="0" err="1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Shmoys-Tardos</a:t>
                </a:r>
                <a:r>
                  <a:rPr lang="en-US" sz="2000" b="1" dirty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 ‘93]:</a:t>
                </a:r>
                <a:r>
                  <a:rPr lang="en-US" sz="20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poly-time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1,</m:t>
                        </m:r>
                        <m:f>
                          <m:fPr>
                            <m:ctrlPr>
                              <a:rPr lang="en-US" sz="2000" i="1">
                                <a:latin typeface="Cambria Math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cs typeface="Times New Roman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-approximation algorithm for </a:t>
                </a:r>
                <a:r>
                  <a:rPr lang="en-US" sz="2000" dirty="0" err="1">
                    <a:latin typeface="Times New Roman"/>
                    <a:cs typeface="Times New Roman"/>
                  </a:rPr>
                  <a:t>makespan</a:t>
                </a:r>
                <a:r>
                  <a:rPr lang="en-US" sz="2000" dirty="0">
                    <a:latin typeface="Times New Roman"/>
                    <a:cs typeface="Times New Roman"/>
                  </a:rPr>
                  <a:t> with costs.</a:t>
                </a:r>
              </a:p>
              <a:p>
                <a:endParaRPr lang="en-US" sz="2000" dirty="0">
                  <a:latin typeface="Times New Roman"/>
                  <a:cs typeface="Times New Roman"/>
                </a:endParaRPr>
              </a:p>
              <a:p>
                <a:r>
                  <a:rPr lang="en-US" sz="20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Theorem [DW ‘14]: </a:t>
                </a:r>
                <a:r>
                  <a:rPr lang="en-US" sz="2000" dirty="0">
                    <a:latin typeface="Times New Roman"/>
                    <a:cs typeface="Times New Roman"/>
                  </a:rPr>
                  <a:t>poly-time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1,</m:t>
                        </m:r>
                        <m:func>
                          <m:func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/>
                                      </a:rPr>
                                      <m:t>𝑂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2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cs typeface="Times New Roman"/>
                                          </a:rPr>
                                          <m:t>𝑚</m:t>
                                        </m:r>
                                      </m:e>
                                    </m:rad>
                                  </m:e>
                                </m:d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000" b="1" dirty="0">
                    <a:latin typeface="Times New Roman"/>
                    <a:cs typeface="Times New Roman"/>
                  </a:rPr>
                  <a:t>-</a:t>
                </a:r>
                <a:r>
                  <a:rPr lang="en-US" sz="2000" dirty="0">
                    <a:latin typeface="Times New Roman"/>
                    <a:cs typeface="Times New Roman"/>
                  </a:rPr>
                  <a:t>approximation algorithm for fairness with costs.</a:t>
                </a:r>
              </a:p>
              <a:p>
                <a:pPr lvl="1"/>
                <a:r>
                  <a:rPr lang="en-US" sz="1600" dirty="0">
                    <a:latin typeface="Times New Roman"/>
                    <a:cs typeface="Times New Roman"/>
                  </a:rPr>
                  <a:t>Based on algorithms of </a:t>
                </a:r>
                <a:r>
                  <a:rPr lang="en-US" sz="1600" dirty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[</a:t>
                </a:r>
                <a:r>
                  <a:rPr lang="en-US" sz="1600" dirty="0" err="1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Asadpour-Saberi</a:t>
                </a:r>
                <a:r>
                  <a:rPr lang="en-US" sz="1600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600" dirty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‘07] </a:t>
                </a:r>
                <a:r>
                  <a:rPr lang="en-US" sz="1600" dirty="0">
                    <a:latin typeface="Times New Roman"/>
                    <a:cs typeface="Times New Roman"/>
                  </a:rPr>
                  <a:t>and </a:t>
                </a:r>
                <a:r>
                  <a:rPr lang="en-US" sz="1600" dirty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[</a:t>
                </a:r>
                <a:r>
                  <a:rPr lang="en-US" sz="1600" dirty="0" err="1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Bezakova-Dani</a:t>
                </a:r>
                <a:r>
                  <a:rPr lang="en-US" sz="1600" dirty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 ’05</a:t>
                </a:r>
                <a:r>
                  <a:rPr lang="en-US" sz="1600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].</a:t>
                </a:r>
              </a:p>
              <a:p>
                <a:pPr lvl="1"/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Plus technique for converting certain kinds of LP-rounding based algorithms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𝛼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𝛽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-approximation algorithms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/>
                        <a:cs typeface="Times New Roman"/>
                      </a:rPr>
                      <m:t>𝑂</m:t>
                    </m:r>
                  </m:oMath>
                </a14:m>
                <a:r>
                  <a:rPr lang="en-US" sz="16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 + virtual welfare.</a:t>
                </a:r>
                <a:endParaRPr lang="en-US" sz="16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endParaRPr lang="en-US" sz="2000" b="1" dirty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20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Corollary</a:t>
                </a:r>
                <a:r>
                  <a:rPr lang="en-US" sz="2000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: </a:t>
                </a:r>
                <a:r>
                  <a:rPr lang="en-US" sz="2000" dirty="0">
                    <a:latin typeface="Times New Roman"/>
                    <a:cs typeface="Times New Roman"/>
                  </a:rPr>
                  <a:t>poly-time truthful mechanisms that give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cs typeface="Times New Roman"/>
                      </a:rPr>
                      <m:t>2</m:t>
                    </m:r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-approximation for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job scheduling on </a:t>
                </a:r>
                <a:r>
                  <a:rPr lang="en-US" sz="2000" dirty="0">
                    <a:latin typeface="Times New Roman"/>
                    <a:cs typeface="Times New Roman"/>
                  </a:rPr>
                  <a:t>unrelated machines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  <a:cs typeface="Times New Roman"/>
                          </a:rPr>
                          <m:t>min</m:t>
                        </m:r>
                      </m:fName>
                      <m:e>
                        <m:r>
                          <a:rPr lang="en-US" sz="2000" i="1">
                            <a:latin typeface="Cambria Math"/>
                            <a:cs typeface="Times New Roman"/>
                          </a:rPr>
                          <m:t>{</m:t>
                        </m:r>
                        <m:acc>
                          <m:accPr>
                            <m:chr m:val="̃"/>
                            <m:ctrlP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  <m:t>𝑂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/>
                            <a:cs typeface="Times New Roman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/>
                                <a:cs typeface="Times New Roman"/>
                              </a:rPr>
                              <m:t>𝑚</m:t>
                            </m:r>
                          </m:e>
                        </m:rad>
                      </m:e>
                    </m:func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)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,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𝑛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−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𝑚</m:t>
                    </m:r>
                    <m:r>
                      <a:rPr lang="en-US" sz="2000" i="1">
                        <a:latin typeface="Cambria Math"/>
                        <a:cs typeface="Times New Roman"/>
                      </a:rPr>
                      <m:t>+1}</m:t>
                    </m:r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-approximation for fair allocation of indivisible goods in Bayesian settings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1"/>
                <a:r>
                  <a:rPr lang="en-US" sz="18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1800" dirty="0" smtClean="0">
                    <a:latin typeface="Times New Roman"/>
                    <a:cs typeface="Times New Roman"/>
                  </a:rPr>
                  <a:t>: matches guarantee of best-known </a:t>
                </a:r>
                <a:r>
                  <a:rPr lang="en-US" sz="1800" b="1" dirty="0" smtClean="0">
                    <a:latin typeface="Times New Roman"/>
                    <a:cs typeface="Times New Roman"/>
                  </a:rPr>
                  <a:t>algorithm</a:t>
                </a:r>
                <a:r>
                  <a:rPr lang="en-US" sz="18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2"/>
                <a:r>
                  <a:rPr lang="en-US" sz="1400" dirty="0" smtClean="0">
                    <a:latin typeface="Times New Roman"/>
                    <a:cs typeface="Times New Roman"/>
                  </a:rPr>
                  <a:t>First constant-factor approximation at all in unrestricted Bayesian settings.</a:t>
                </a:r>
              </a:p>
              <a:p>
                <a:pPr lvl="2"/>
                <a:r>
                  <a:rPr lang="en-US" sz="1400" dirty="0" smtClean="0">
                    <a:solidFill>
                      <a:srgbClr val="FF6600"/>
                    </a:solidFill>
                    <a:latin typeface="Times New Roman"/>
                    <a:cs typeface="Times New Roman"/>
                  </a:rPr>
                  <a:t>[CHMS ‘13] 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gets constant-factor approximation under technical assumptions.</a:t>
                </a:r>
              </a:p>
              <a:p>
                <a:pPr lvl="1"/>
                <a:r>
                  <a:rPr lang="en-US" sz="1800" dirty="0" smtClean="0">
                    <a:latin typeface="Times New Roman"/>
                    <a:cs typeface="Times New Roman"/>
                  </a:rPr>
                  <a:t>Fairness: for some ranges of k, m, matches guarantee of best-known </a:t>
                </a:r>
                <a:r>
                  <a:rPr lang="en-US" sz="1800" b="1" dirty="0" smtClean="0">
                    <a:latin typeface="Times New Roman"/>
                    <a:cs typeface="Times New Roman"/>
                  </a:rPr>
                  <a:t>algorithm</a:t>
                </a:r>
                <a:r>
                  <a:rPr lang="en-US" sz="1800" dirty="0" smtClean="0">
                    <a:latin typeface="Times New Roman"/>
                    <a:cs typeface="Times New Roman"/>
                  </a:rPr>
                  <a:t>.</a:t>
                </a:r>
              </a:p>
              <a:p>
                <a:pPr lvl="2"/>
                <a:r>
                  <a:rPr lang="en-US" sz="1400" dirty="0" smtClean="0">
                    <a:latin typeface="Times New Roman"/>
                    <a:cs typeface="Times New Roman"/>
                  </a:rPr>
                  <a:t>First non-trivial approximation in virtually any setting.</a:t>
                </a:r>
                <a:endParaRPr lang="en-US" sz="1400" dirty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/>
                  <a:buChar char="•"/>
                </a:pPr>
                <a:endParaRPr lang="en-US" sz="2000" dirty="0" smtClean="0">
                  <a:latin typeface="Times New Roman"/>
                  <a:cs typeface="Times New Roman"/>
                </a:endParaRPr>
              </a:p>
              <a:p>
                <a:pPr marL="400050" lvl="1" indent="-342900">
                  <a:buFont typeface="Arial"/>
                  <a:buChar char="•"/>
                </a:pPr>
                <a:endParaRPr lang="en-US" sz="2000" dirty="0">
                  <a:latin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90154"/>
                <a:ext cx="9177129" cy="5667829"/>
              </a:xfrm>
              <a:blipFill rotWithShape="1">
                <a:blip r:embed="rId3"/>
                <a:stretch>
                  <a:fillRect l="-532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</a:rPr>
                          <m:t>𝜶</m:t>
                        </m:r>
                        <m:r>
                          <a:rPr lang="en-US" b="1" i="1" smtClean="0">
                            <a:latin typeface="Cambria Math"/>
                          </a:rPr>
                          <m:t>,</m:t>
                        </m:r>
                        <m:r>
                          <a:rPr lang="en-US" b="1" i="1" smtClean="0">
                            <a:latin typeface="Cambria Math"/>
                          </a:rPr>
                          <m:t>𝜷</m:t>
                        </m:r>
                      </m:e>
                    </m:d>
                  </m:oMath>
                </a14:m>
                <a:r>
                  <a:rPr lang="en-US" dirty="0" smtClean="0"/>
                  <a:t>-Approximations</a:t>
                </a:r>
                <a:endParaRPr lang="en-US" dirty="0"/>
              </a:p>
            </p:txBody>
          </p:sp>
        </mc:Choice>
        <mc:Fallback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4"/>
                <a:stretch>
                  <a:fillRect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71765795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79077" y="5269831"/>
            <a:ext cx="3232175" cy="729915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Conclusions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97206128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24263"/>
            <a:ext cx="2141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[Myerson ’81]:</a:t>
            </a:r>
            <a:endParaRPr lang="en-US" sz="2400" b="1" dirty="0">
              <a:solidFill>
                <a:srgbClr val="FF6600"/>
              </a:solidFill>
              <a:latin typeface="Times New Roman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1546501"/>
            <a:ext cx="746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Times New Roman"/>
                <a:cs typeface="Times New Roman"/>
              </a:rPr>
              <a:t>In single-dimensional settings, the revenue-optimal auction is a </a:t>
            </a:r>
            <a:r>
              <a:rPr lang="en-US" sz="2400" i="1" dirty="0" smtClean="0">
                <a:latin typeface="Times New Roman"/>
                <a:cs typeface="Times New Roman"/>
              </a:rPr>
              <a:t>virtual welfare-maximizer.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3051629"/>
            <a:ext cx="7470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/>
                <a:cs typeface="Times New Roman"/>
              </a:rPr>
              <a:t>What does the revenue-optimal auction look like beyond single-dimensional settings?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89964"/>
            <a:ext cx="3170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/>
                <a:cs typeface="Times New Roman"/>
              </a:rPr>
              <a:t>Major </a:t>
            </a:r>
            <a:r>
              <a:rPr lang="en-US" sz="2400" b="1" dirty="0">
                <a:latin typeface="Times New Roman"/>
                <a:cs typeface="Times New Roman"/>
              </a:rPr>
              <a:t>O</a:t>
            </a:r>
            <a:r>
              <a:rPr lang="en-US" sz="2400" b="1" dirty="0" smtClean="0">
                <a:latin typeface="Times New Roman"/>
                <a:cs typeface="Times New Roman"/>
              </a:rPr>
              <a:t>pen Question: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799" y="5259939"/>
            <a:ext cx="81565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[</a:t>
            </a:r>
            <a:r>
              <a:rPr lang="en-US" sz="2200" b="1" dirty="0" err="1" smtClean="0">
                <a:solidFill>
                  <a:srgbClr val="008000"/>
                </a:solidFill>
                <a:latin typeface="Times New Roman"/>
                <a:cs typeface="Times New Roman"/>
              </a:rPr>
              <a:t>Costis</a:t>
            </a:r>
            <a:r>
              <a:rPr lang="en-US" sz="22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 + Yang]:</a:t>
            </a:r>
            <a:r>
              <a:rPr lang="en-US" sz="2200" dirty="0" smtClean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smtClean="0">
                <a:latin typeface="Times New Roman"/>
                <a:cs typeface="Times New Roman"/>
              </a:rPr>
              <a:t>No matter what the bidders’ types, the revenue-optimal auction is a distribution over virtual welfare-maximizers.</a:t>
            </a:r>
            <a:endParaRPr lang="en-US" sz="2400" i="1" dirty="0">
              <a:latin typeface="Times New Roman"/>
              <a:cs typeface="Times New Roman"/>
            </a:endParaRPr>
          </a:p>
          <a:p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Conclusions: Revenue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55218578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4" grpId="0"/>
      <p:bldP spid="1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Conclusions: Revenue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70" y="903409"/>
            <a:ext cx="8229600" cy="57883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008000"/>
                </a:solidFill>
              </a:rPr>
              <a:t>Costis</a:t>
            </a:r>
            <a:r>
              <a:rPr lang="en-US" sz="2400" b="1" dirty="0" smtClean="0">
                <a:solidFill>
                  <a:srgbClr val="008000"/>
                </a:solidFill>
              </a:rPr>
              <a:t>’ Talk: </a:t>
            </a:r>
          </a:p>
          <a:p>
            <a:pPr>
              <a:buFontTx/>
              <a:buChar char="-"/>
            </a:pPr>
            <a:r>
              <a:rPr lang="en-US" sz="1800" dirty="0" smtClean="0"/>
              <a:t>Optimal multi-dimensional mechanism: additive bidders, no constraints.</a:t>
            </a:r>
            <a:endParaRPr lang="en-US" sz="1800" dirty="0"/>
          </a:p>
          <a:p>
            <a:pPr lvl="1">
              <a:buFontTx/>
              <a:buChar char="-"/>
            </a:pPr>
            <a:r>
              <a:rPr lang="en-US" sz="1600" dirty="0" smtClean="0"/>
              <a:t>(randomly) Assigns virtual values to each agent for each item (computed by LP).</a:t>
            </a:r>
          </a:p>
          <a:p>
            <a:pPr lvl="1">
              <a:buFontTx/>
              <a:buChar char="-"/>
            </a:pPr>
            <a:r>
              <a:rPr lang="en-US" sz="1600" dirty="0" smtClean="0"/>
              <a:t>Awards  each item to highest virtual bidder.</a:t>
            </a:r>
          </a:p>
          <a:p>
            <a:pPr lvl="1">
              <a:buFontTx/>
              <a:buChar char="-"/>
            </a:pPr>
            <a:r>
              <a:rPr lang="en-US" sz="1600" dirty="0" smtClean="0"/>
              <a:t>Charges prices to ensure truthfulness (computed by LP).</a:t>
            </a:r>
          </a:p>
          <a:p>
            <a:pPr marL="457200" lvl="1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8000"/>
                </a:solidFill>
              </a:rPr>
              <a:t>Yang’s Talk:</a:t>
            </a:r>
          </a:p>
          <a:p>
            <a:pPr>
              <a:buFontTx/>
              <a:buChar char="-"/>
            </a:pPr>
            <a:r>
              <a:rPr lang="en-US" sz="1800" dirty="0" smtClean="0"/>
              <a:t>Optimal multi-dimensional mechanism: arbitrary bidders &amp; constraints.</a:t>
            </a:r>
          </a:p>
          <a:p>
            <a:pPr lvl="1">
              <a:buFontTx/>
              <a:buChar char="-"/>
            </a:pPr>
            <a:r>
              <a:rPr lang="en-US" sz="1600" dirty="0" smtClean="0"/>
              <a:t>(randomly) Assigns each agent a virtual type (computed by LP).</a:t>
            </a:r>
          </a:p>
          <a:p>
            <a:pPr lvl="1">
              <a:buFontTx/>
              <a:buChar char="-"/>
            </a:pPr>
            <a:r>
              <a:rPr lang="en-US" sz="1600" dirty="0" smtClean="0"/>
              <a:t>Virtual types will be linear combinations of possible types.</a:t>
            </a:r>
          </a:p>
          <a:p>
            <a:pPr lvl="1">
              <a:buFontTx/>
              <a:buChar char="-"/>
            </a:pPr>
            <a:r>
              <a:rPr lang="en-US" sz="1600" dirty="0" smtClean="0"/>
              <a:t>Selects outcome that optimizes virtual welfare.</a:t>
            </a:r>
          </a:p>
          <a:p>
            <a:pPr lvl="1">
              <a:buFontTx/>
              <a:buChar char="-"/>
            </a:pPr>
            <a:r>
              <a:rPr lang="en-US" sz="1600" dirty="0" smtClean="0"/>
              <a:t>Charges prices to ensure truthfulness (computed by LP).</a:t>
            </a:r>
            <a:endParaRPr lang="en-US" sz="1600" dirty="0">
              <a:sym typeface="Wingdings" pitchFamily="2" charset="2"/>
            </a:endParaRPr>
          </a:p>
          <a:p>
            <a:pPr lvl="1">
              <a:buFontTx/>
              <a:buChar char="-"/>
            </a:pPr>
            <a:endParaRPr lang="en-US" sz="20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56784657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24263"/>
            <a:ext cx="2691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[Nisan-Ronen ’99]:</a:t>
            </a:r>
            <a:endParaRPr lang="en-US" sz="2400" b="1" dirty="0">
              <a:solidFill>
                <a:srgbClr val="FF6600"/>
              </a:solidFill>
              <a:latin typeface="Times New Roman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1546501"/>
            <a:ext cx="746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Times New Roman"/>
                <a:cs typeface="Times New Roman"/>
              </a:rPr>
              <a:t>How much more difficult are optimization problems on “strategic” input compared to “honest” input?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3051629"/>
            <a:ext cx="647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latin typeface="Times New Roman"/>
                <a:cs typeface="Times New Roman"/>
              </a:rPr>
              <a:t>For what (if any) optimization problems is there a reduction from mechanism- to algorithm-design?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109826" y="3889827"/>
            <a:ext cx="1967205" cy="781110"/>
            <a:chOff x="457200" y="4572000"/>
            <a:chExt cx="1967205" cy="781110"/>
          </a:xfrm>
        </p:grpSpPr>
        <p:cxnSp>
          <p:nvCxnSpPr>
            <p:cNvPr id="7" name="Straight Arrow Connector 6"/>
            <p:cNvCxnSpPr/>
            <p:nvPr/>
          </p:nvCxnSpPr>
          <p:spPr bwMode="auto">
            <a:xfrm flipV="1">
              <a:off x="1828800" y="4572000"/>
              <a:ext cx="304800" cy="381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" name="TextBox 7"/>
            <p:cNvSpPr txBox="1"/>
            <p:nvPr/>
          </p:nvSpPr>
          <p:spPr>
            <a:xfrm>
              <a:off x="457200" y="4953000"/>
              <a:ext cx="19672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Times New Roman"/>
                  <a:cs typeface="Times New Roman"/>
                </a:rPr>
                <a:t>“strategic inputs”</a:t>
              </a:r>
              <a:endParaRPr lang="en-US" sz="20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62600" y="3889829"/>
            <a:ext cx="2057400" cy="781108"/>
            <a:chOff x="3962400" y="4572001"/>
            <a:chExt cx="2057400" cy="781108"/>
          </a:xfrm>
        </p:grpSpPr>
        <p:cxnSp>
          <p:nvCxnSpPr>
            <p:cNvPr id="9" name="Straight Arrow Connector 8"/>
            <p:cNvCxnSpPr/>
            <p:nvPr/>
          </p:nvCxnSpPr>
          <p:spPr bwMode="auto">
            <a:xfrm flipH="1" flipV="1">
              <a:off x="4114800" y="4572001"/>
              <a:ext cx="360947" cy="38099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3962400" y="4952999"/>
              <a:ext cx="2057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Times New Roman"/>
                  <a:cs typeface="Times New Roman"/>
                </a:rPr>
                <a:t>“honest inputs”</a:t>
              </a:r>
              <a:endParaRPr lang="en-US" sz="2000" dirty="0">
                <a:latin typeface="Times New Roman"/>
                <a:cs typeface="Times New Roman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85800" y="2589964"/>
            <a:ext cx="3170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/>
                <a:cs typeface="Times New Roman"/>
              </a:rPr>
              <a:t>Major </a:t>
            </a:r>
            <a:r>
              <a:rPr lang="en-US" sz="2400" b="1" dirty="0">
                <a:latin typeface="Times New Roman"/>
                <a:cs typeface="Times New Roman"/>
              </a:rPr>
              <a:t>O</a:t>
            </a:r>
            <a:r>
              <a:rPr lang="en-US" sz="2400" b="1" dirty="0" smtClean="0">
                <a:latin typeface="Times New Roman"/>
                <a:cs typeface="Times New Roman"/>
              </a:rPr>
              <a:t>pen Question: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4795897"/>
            <a:ext cx="81565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[This Talk]:</a:t>
            </a:r>
            <a:r>
              <a:rPr lang="en-US" sz="2200" dirty="0" smtClean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smtClean="0">
                <a:latin typeface="Times New Roman"/>
                <a:cs typeface="Times New Roman"/>
              </a:rPr>
              <a:t>For all objectives in a Bayesian setting, reduction exists (with perturbed objective).</a:t>
            </a:r>
          </a:p>
          <a:p>
            <a:endParaRPr lang="en-US" sz="2200" dirty="0" smtClean="0">
              <a:latin typeface="Times New Roman"/>
              <a:cs typeface="Times New Roman"/>
            </a:endParaRPr>
          </a:p>
          <a:p>
            <a:r>
              <a:rPr lang="en-US" sz="2000" dirty="0" smtClean="0">
                <a:latin typeface="Times New Roman"/>
                <a:cs typeface="Times New Roman"/>
              </a:rPr>
              <a:t>“</a:t>
            </a:r>
            <a:r>
              <a:rPr lang="en-US" sz="2000" dirty="0">
                <a:latin typeface="Times New Roman"/>
                <a:cs typeface="Times New Roman"/>
              </a:rPr>
              <a:t>Transitioning from honest to strategic input is no more computationally difficult than adding </a:t>
            </a:r>
            <a:r>
              <a:rPr lang="en-US" sz="2000" dirty="0" smtClean="0">
                <a:latin typeface="Times New Roman"/>
                <a:cs typeface="Times New Roman"/>
              </a:rPr>
              <a:t>welfare </a:t>
            </a:r>
            <a:r>
              <a:rPr lang="en-US" sz="2000" dirty="0">
                <a:latin typeface="Times New Roman"/>
                <a:cs typeface="Times New Roman"/>
              </a:rPr>
              <a:t>to objective.”</a:t>
            </a:r>
          </a:p>
          <a:p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Conclusions: Non-Linear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05741841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4" grpId="0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 smtClean="0">
                    <a:solidFill>
                      <a:srgbClr val="008000"/>
                    </a:solidFill>
                  </a:rPr>
                  <a:t>Theorem [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Cai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</a:t>
                </a:r>
                <a:r>
                  <a:rPr lang="en-US" sz="2200" b="1" dirty="0" err="1" smtClean="0">
                    <a:solidFill>
                      <a:srgbClr val="008000"/>
                    </a:solidFill>
                  </a:rPr>
                  <a:t>Daskalakis</a:t>
                </a:r>
                <a:r>
                  <a:rPr lang="en-US" sz="2200" b="1" dirty="0" smtClean="0">
                    <a:solidFill>
                      <a:srgbClr val="008000"/>
                    </a:solidFill>
                  </a:rPr>
                  <a:t>-W. ‘13b]: </a:t>
                </a:r>
                <a:r>
                  <a:rPr lang="en-US" sz="2200" dirty="0" smtClean="0"/>
                  <a:t>Polynomial-time reduction from mechanism design for objective </a:t>
                </a:r>
                <a:r>
                  <a:rPr lang="en-US" sz="2200" i="1" dirty="0" smtClean="0"/>
                  <a:t>O </a:t>
                </a:r>
                <a:r>
                  <a:rPr lang="en-US" sz="2200" dirty="0" smtClean="0"/>
                  <a:t>to algorithm design for </a:t>
                </a:r>
                <a:r>
                  <a:rPr lang="en-US" sz="2200" b="1" dirty="0" smtClean="0"/>
                  <a:t>same objective </a:t>
                </a:r>
                <a:r>
                  <a:rPr lang="en-US" sz="2200" b="1" i="1" dirty="0" smtClean="0"/>
                  <a:t>O</a:t>
                </a:r>
                <a:r>
                  <a:rPr lang="en-US" sz="2200" b="1" dirty="0" smtClean="0"/>
                  <a:t> plus virtual welfare</a:t>
                </a:r>
                <a:r>
                  <a:rPr lang="en-US" sz="2200" dirty="0" smtClean="0"/>
                  <a:t>.</a:t>
                </a:r>
                <a:endParaRPr lang="en-US" sz="2200" dirty="0"/>
              </a:p>
              <a:p>
                <a:pPr lvl="1"/>
                <a:r>
                  <a:rPr lang="en-US" sz="1800" dirty="0" smtClean="0"/>
                  <a:t>Randomly assigns each agent a virtual type (computed by LP).</a:t>
                </a:r>
              </a:p>
              <a:p>
                <a:pPr lvl="1"/>
                <a:r>
                  <a:rPr lang="en-US" sz="1800" dirty="0" smtClean="0"/>
                  <a:t>Inputs all types and virtual types to algorithm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1800" dirty="0" smtClean="0"/>
                  <a:t> + welfare.</a:t>
                </a:r>
              </a:p>
              <a:p>
                <a:pPr lvl="1"/>
                <a:r>
                  <a:rPr lang="en-US" sz="1800" dirty="0" smtClean="0"/>
                  <a:t>Charges prices to ensure truthfulness (computed by LP). </a:t>
                </a:r>
              </a:p>
              <a:p>
                <a:endParaRPr lang="en-US" sz="2600" dirty="0" smtClean="0"/>
              </a:p>
              <a:p>
                <a:r>
                  <a:rPr lang="en-US" sz="2000" dirty="0" smtClean="0"/>
                  <a:t>Properties:</a:t>
                </a:r>
              </a:p>
              <a:p>
                <a:pPr lvl="1"/>
                <a:r>
                  <a:rPr lang="en-US" sz="1800" dirty="0" smtClean="0"/>
                  <a:t>Approximation-preserving: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with black-box access 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-approximate </a:t>
                </a:r>
                <a:r>
                  <a:rPr lang="en-US" sz="1800" b="1" dirty="0" smtClean="0"/>
                  <a:t>algorithm.</a:t>
                </a:r>
              </a:p>
              <a:p>
                <a:pPr lvl="1"/>
                <a:r>
                  <a:rPr lang="en-US" sz="1800" b="1" dirty="0" smtClean="0">
                    <a:solidFill>
                      <a:srgbClr val="008000"/>
                    </a:solidFill>
                  </a:rPr>
                  <a:t>Also: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/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𝛽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-approximate </a:t>
                </a:r>
                <a:r>
                  <a:rPr lang="en-US" sz="1800" b="1" dirty="0" smtClean="0">
                    <a:solidFill>
                      <a:schemeClr val="tx1"/>
                    </a:solidFill>
                  </a:rPr>
                  <a:t>mechanism</a:t>
                </a:r>
                <a:r>
                  <a:rPr lang="en-US" sz="1800" dirty="0" smtClean="0">
                    <a:solidFill>
                      <a:schemeClr val="tx1"/>
                    </a:solidFill>
                  </a:rPr>
                  <a:t> with  black-box access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𝛽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-approximation </a:t>
                </a:r>
                <a:r>
                  <a:rPr lang="en-US" sz="1800" b="1" dirty="0" smtClean="0">
                    <a:solidFill>
                      <a:schemeClr val="tx1"/>
                    </a:solidFill>
                  </a:rPr>
                  <a:t>algorithm</a:t>
                </a:r>
                <a:r>
                  <a:rPr lang="en-US" sz="18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r>
                  <a:rPr lang="en-US" sz="1800" dirty="0" smtClean="0"/>
                  <a:t>For </a:t>
                </a:r>
                <a:r>
                  <a:rPr lang="en-US" sz="1800" b="1" dirty="0"/>
                  <a:t>mechanism</a:t>
                </a:r>
                <a:r>
                  <a:rPr lang="en-US" sz="1800" dirty="0"/>
                  <a:t> to work on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/>
                  <a:t>, need </a:t>
                </a:r>
                <a:r>
                  <a:rPr lang="en-US" sz="1800" b="1" dirty="0"/>
                  <a:t>algorithm</a:t>
                </a:r>
                <a:r>
                  <a:rPr lang="en-US" sz="1800" dirty="0"/>
                  <a:t> for all types 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1800" dirty="0" smtClean="0"/>
                  <a:t>, virtual types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 smtClean="0"/>
                  <a:t>.</a:t>
                </a:r>
                <a:endParaRPr lang="en-US" sz="1800" dirty="0"/>
              </a:p>
              <a:p>
                <a:pPr lvl="1"/>
                <a:r>
                  <a:rPr lang="en-US" sz="1800" b="1" dirty="0"/>
                  <a:t>Caveat: </a:t>
                </a:r>
                <a:r>
                  <a:rPr lang="en-US" sz="1800" dirty="0"/>
                  <a:t>mechanism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dirty="0"/>
                  <a:t>-BIC, loses additive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𝜖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(same sampling error as Yang’s talk</a:t>
                </a:r>
                <a:r>
                  <a:rPr lang="en-US" sz="1800" dirty="0" smtClean="0"/>
                  <a:t>).</a:t>
                </a:r>
              </a:p>
              <a:p>
                <a:pPr lvl="1"/>
                <a:r>
                  <a:rPr lang="en-US" sz="1800" b="1" dirty="0" smtClean="0"/>
                  <a:t>(additional) Runtime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𝑝𝑜𝑙𝑦</m:t>
                    </m:r>
                    <m:r>
                      <a:rPr lang="en-US" sz="1800" i="1">
                        <a:latin typeface="Cambria Math"/>
                      </a:rPr>
                      <m:t>(#</m:t>
                    </m:r>
                    <m:r>
                      <a:rPr lang="en-US" sz="1800" i="1">
                        <a:latin typeface="Cambria Math"/>
                      </a:rPr>
                      <m:t>𝑎𝑔𝑒𝑛𝑡𝑠</m:t>
                    </m:r>
                    <m:r>
                      <a:rPr lang="en-US" sz="1800" i="1">
                        <a:latin typeface="Cambria Math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, 1/</m:t>
                    </m:r>
                    <m:r>
                      <a:rPr lang="en-US" sz="1800" i="1">
                        <a:latin typeface="Cambria Math"/>
                      </a:rPr>
                      <m:t>𝜖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lvl="1"/>
                <a:endParaRPr lang="en-US" sz="18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800" t="-564" r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Conclusions: Non-Linear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25990536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62726" y="900545"/>
                <a:ext cx="6597838" cy="5667829"/>
              </a:xfrm>
              <a:effectLst/>
            </p:spPr>
            <p:txBody>
              <a:bodyPr>
                <a:normAutofit/>
              </a:bodyPr>
              <a:lstStyle/>
              <a:p>
                <a:pPr marL="400050"/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[This Talk]</a:t>
                </a:r>
                <a:r>
                  <a:rPr lang="en-US" sz="2000" dirty="0">
                    <a:latin typeface="Times New Roman"/>
                    <a:cs typeface="Times New Roman"/>
                  </a:rPr>
                  <a:t>: Extend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“separation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 optimization” framework.</a:t>
                </a:r>
              </a:p>
              <a:p>
                <a:pPr marL="800100" lvl="1"/>
                <a:r>
                  <a:rPr lang="en-US" sz="1600" dirty="0" smtClean="0">
                    <a:latin typeface="Times New Roman"/>
                    <a:cs typeface="Times New Roman"/>
                  </a:rPr>
                  <a:t>Sampling error, traditional approximation and </a:t>
                </a:r>
                <a:r>
                  <a:rPr lang="en-US" sz="1600" dirty="0" err="1" smtClean="0">
                    <a:latin typeface="Times New Roman"/>
                    <a:cs typeface="Times New Roman"/>
                  </a:rPr>
                  <a:t>bicriterion</a:t>
                </a:r>
                <a:r>
                  <a:rPr lang="en-US" sz="1600" dirty="0" smtClean="0">
                    <a:latin typeface="Times New Roman"/>
                    <a:cs typeface="Times New Roman"/>
                  </a:rPr>
                  <a:t> approximations.</a:t>
                </a:r>
              </a:p>
              <a:p>
                <a:pPr marL="57150" indent="0">
                  <a:buNone/>
                </a:pPr>
                <a:endParaRPr lang="en-US" sz="2000" b="1" dirty="0" smtClean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400050"/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[</a:t>
                </a:r>
                <a:r>
                  <a:rPr lang="en-US" sz="20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This Talk]</a:t>
                </a:r>
                <a:r>
                  <a:rPr lang="en-US" sz="2000" dirty="0">
                    <a:latin typeface="Times New Roman"/>
                    <a:cs typeface="Times New Roman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  <a:cs typeface="Times New Roman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𝑂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</m:rad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/>
                                    <a:cs typeface="Times New Roman"/>
                                  </a:rPr>
                                  <m:t>+1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000" dirty="0" smtClean="0">
                    <a:latin typeface="Times New Roman"/>
                    <a:cs typeface="Times New Roman"/>
                  </a:rPr>
                  <a:t>-approximation for truthful fairness maximization.</a:t>
                </a:r>
                <a:endParaRPr lang="en-US" sz="2000" dirty="0">
                  <a:latin typeface="Times New Roman"/>
                  <a:cs typeface="Times New Roman"/>
                </a:endParaRPr>
              </a:p>
              <a:p>
                <a:pPr marL="800100" lvl="1"/>
                <a:r>
                  <a:rPr lang="en-US" sz="1600" dirty="0" smtClean="0">
                    <a:latin typeface="Times New Roman"/>
                    <a:cs typeface="Times New Roman"/>
                  </a:rPr>
                  <a:t>For some ranges of k, m, matches guarantee of best known algorithm.</a:t>
                </a:r>
              </a:p>
              <a:p>
                <a:pPr marL="800100" lvl="1"/>
                <a:endParaRPr lang="en-US" sz="1600" b="1" dirty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800100" lvl="1"/>
                <a:endParaRPr lang="en-US" sz="1600" b="1" dirty="0" smtClean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800100" lvl="1"/>
                <a:endParaRPr lang="en-US" sz="2000" b="1" dirty="0" smtClean="0">
                  <a:solidFill>
                    <a:srgbClr val="008000"/>
                  </a:solidFill>
                  <a:latin typeface="Times New Roman"/>
                  <a:cs typeface="Times New Roman"/>
                </a:endParaRPr>
              </a:p>
              <a:p>
                <a:pPr marL="400050"/>
                <a:r>
                  <a:rPr lang="en-US" sz="20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[</a:t>
                </a:r>
                <a:r>
                  <a:rPr lang="en-US" sz="2000" b="1" dirty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This Talk]</a:t>
                </a:r>
                <a:r>
                  <a:rPr lang="en-US" sz="2000" dirty="0">
                    <a:latin typeface="Times New Roman"/>
                    <a:cs typeface="Times New Roman"/>
                  </a:rPr>
                  <a:t>: 2-approximation 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for truthful </a:t>
                </a:r>
                <a:r>
                  <a:rPr lang="en-US" sz="2000" dirty="0" err="1" smtClean="0">
                    <a:latin typeface="Times New Roman"/>
                    <a:cs typeface="Times New Roman"/>
                  </a:rPr>
                  <a:t>makespan</a:t>
                </a:r>
                <a:r>
                  <a:rPr lang="en-US" sz="2000" dirty="0" smtClean="0">
                    <a:latin typeface="Times New Roman"/>
                    <a:cs typeface="Times New Roman"/>
                  </a:rPr>
                  <a:t> minimization.</a:t>
                </a:r>
              </a:p>
              <a:p>
                <a:pPr marL="800100" lvl="1"/>
                <a:r>
                  <a:rPr lang="en-US" sz="1800" dirty="0" smtClean="0">
                    <a:latin typeface="Times New Roman"/>
                    <a:cs typeface="Times New Roman"/>
                  </a:rPr>
                  <a:t>Matches guarantee of best known algorithm.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2726" y="900545"/>
                <a:ext cx="6597838" cy="5667829"/>
              </a:xfrm>
              <a:blipFill rotWithShape="1">
                <a:blip r:embed="rId3"/>
                <a:stretch>
                  <a:fillRect t="-53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Conclusions: Contributions</a:t>
            </a:r>
            <a:endParaRPr lang="en-US" dirty="0"/>
          </a:p>
        </p:txBody>
      </p:sp>
      <p:sp>
        <p:nvSpPr>
          <p:cNvPr id="5" name="Explosion 1 4"/>
          <p:cNvSpPr/>
          <p:nvPr/>
        </p:nvSpPr>
        <p:spPr>
          <a:xfrm>
            <a:off x="183118" y="967663"/>
            <a:ext cx="1988283" cy="1146064"/>
          </a:xfrm>
          <a:prstGeom prst="irregularSeal1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 w="28575" cmpd="sng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2207" y="1286288"/>
            <a:ext cx="89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“Yes”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822390" y="1125846"/>
            <a:ext cx="90438" cy="11231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954742" y="1210229"/>
            <a:ext cx="90438" cy="112315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080963" y="1322544"/>
            <a:ext cx="90438" cy="11231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366076" y="937092"/>
            <a:ext cx="1237889" cy="114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546387" y="4753815"/>
            <a:ext cx="1181763" cy="115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354026" y="4398378"/>
            <a:ext cx="821456" cy="710875"/>
          </a:xfrm>
          <a:prstGeom prst="rect">
            <a:avLst/>
          </a:prstGeom>
        </p:spPr>
      </p:pic>
      <p:pic>
        <p:nvPicPr>
          <p:cNvPr id="15" name="Picture 2" descr="C:\Program Files (x86)\Microsoft Office\MEDIA\CAGCAT10\j0234131.wm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75248" y="4474199"/>
            <a:ext cx="379012" cy="40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546904" y="2818140"/>
            <a:ext cx="1181763" cy="115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354543" y="2462703"/>
            <a:ext cx="821456" cy="7108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1551380" y="2551424"/>
            <a:ext cx="418107" cy="36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673853434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7" grpId="0" animBg="1"/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 smtClean="0">
                    <a:solidFill>
                      <a:srgbClr val="008000"/>
                    </a:solidFill>
                  </a:rPr>
                  <a:t>[This Talk]: </a:t>
                </a:r>
                <a:r>
                  <a:rPr lang="en-US" sz="2200" dirty="0" smtClean="0"/>
                  <a:t>Mechanism design framework for arbitrary objectives and agent types.</a:t>
                </a:r>
              </a:p>
              <a:p>
                <a:pPr lvl="1"/>
                <a:r>
                  <a:rPr lang="en-US" sz="1800" dirty="0" smtClean="0"/>
                  <a:t>Positive results for important non-linear objectives.</a:t>
                </a:r>
              </a:p>
              <a:p>
                <a:pPr lvl="1"/>
                <a:endParaRPr lang="en-US" sz="1400" dirty="0"/>
              </a:p>
              <a:p>
                <a:r>
                  <a:rPr lang="en-US" sz="2200" b="1" dirty="0" smtClean="0"/>
                  <a:t>Future Direction: </a:t>
                </a:r>
                <a:r>
                  <a:rPr lang="en-US" sz="2200" dirty="0" smtClean="0"/>
                  <a:t>What about truthful mechanisms for other non-linear objectives?</a:t>
                </a:r>
              </a:p>
              <a:p>
                <a:pPr lvl="1"/>
                <a:r>
                  <a:rPr lang="en-US" sz="1800" dirty="0" smtClean="0"/>
                  <a:t>Specifically: design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𝛼</m:t>
                        </m:r>
                        <m:r>
                          <a:rPr lang="en-US" sz="1800" b="0" i="1" smtClean="0">
                            <a:latin typeface="Cambria Math"/>
                          </a:rPr>
                          <m:t>, 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1800" dirty="0" smtClean="0"/>
                  <a:t>-approximation algorithms for other objectives + virtual welfare.</a:t>
                </a:r>
              </a:p>
              <a:p>
                <a:pPr lvl="1"/>
                <a:endParaRPr lang="en-US" sz="1800" dirty="0"/>
              </a:p>
              <a:p>
                <a:r>
                  <a:rPr lang="en-US" sz="2200" b="1" dirty="0" smtClean="0"/>
                  <a:t>Future Direction: </a:t>
                </a:r>
                <a:r>
                  <a:rPr lang="en-US" sz="2200" dirty="0" smtClean="0"/>
                  <a:t>Use framework to prove hardness of approximation as well.</a:t>
                </a:r>
              </a:p>
              <a:p>
                <a:pPr lvl="1"/>
                <a:r>
                  <a:rPr lang="en-US" sz="1800" dirty="0" smtClean="0"/>
                  <a:t>Successful for revenue by providing approximation-sensitive reduction from </a:t>
                </a:r>
                <a:r>
                  <a:rPr lang="en-US" sz="1800" b="1" dirty="0" smtClean="0"/>
                  <a:t>algorithm </a:t>
                </a:r>
                <a:r>
                  <a:rPr lang="en-US" sz="1800" dirty="0" smtClean="0"/>
                  <a:t>design for virtual welfare to </a:t>
                </a:r>
                <a:r>
                  <a:rPr lang="en-US" sz="1800" b="1" dirty="0" smtClean="0"/>
                  <a:t>mechanism</a:t>
                </a:r>
                <a:r>
                  <a:rPr lang="en-US" sz="1800" dirty="0" smtClean="0"/>
                  <a:t> design for revenue </a:t>
                </a:r>
                <a:r>
                  <a:rPr lang="en-US" sz="1800" dirty="0" smtClean="0">
                    <a:solidFill>
                      <a:srgbClr val="008000"/>
                    </a:solidFill>
                  </a:rPr>
                  <a:t>[CDW ‘13b].</a:t>
                </a:r>
              </a:p>
              <a:p>
                <a:pPr lvl="2"/>
                <a:r>
                  <a:rPr lang="en-US" sz="1600" dirty="0" smtClean="0">
                    <a:solidFill>
                      <a:schemeClr val="tx1"/>
                    </a:solidFill>
                  </a:rPr>
                  <a:t>Technical, very different  techniques from rest of talks. </a:t>
                </a:r>
              </a:p>
              <a:p>
                <a:pPr lvl="1"/>
                <a:r>
                  <a:rPr lang="en-US" sz="1800" dirty="0" smtClean="0">
                    <a:solidFill>
                      <a:schemeClr val="tx1"/>
                    </a:solidFill>
                  </a:rPr>
                  <a:t>Likely even more challenging for other objectives due to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𝛼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𝛽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-approximations.</a:t>
                </a:r>
              </a:p>
              <a:p>
                <a:pPr lvl="2"/>
                <a:r>
                  <a:rPr lang="en-US" sz="1600" dirty="0" smtClean="0">
                    <a:solidFill>
                      <a:schemeClr val="tx1"/>
                    </a:solidFill>
                  </a:rPr>
                  <a:t>i.e. no finite approximation algorithm for </a:t>
                </a:r>
                <a:r>
                  <a:rPr lang="en-US" sz="1600" dirty="0" err="1" smtClean="0">
                    <a:solidFill>
                      <a:schemeClr val="tx1"/>
                    </a:solidFill>
                  </a:rPr>
                  <a:t>makespan</a:t>
                </a:r>
                <a:r>
                  <a:rPr lang="en-US" sz="1600" dirty="0" smtClean="0">
                    <a:solidFill>
                      <a:schemeClr val="tx1"/>
                    </a:solidFill>
                  </a:rPr>
                  <a:t> with costs exists, but a 2-approximate mechanism for </a:t>
                </a:r>
                <a:r>
                  <a:rPr lang="en-US" sz="1600" dirty="0" err="1" smtClean="0">
                    <a:solidFill>
                      <a:schemeClr val="tx1"/>
                    </a:solidFill>
                  </a:rPr>
                  <a:t>makespan</a:t>
                </a:r>
                <a:r>
                  <a:rPr lang="en-US" sz="1600" dirty="0" smtClean="0">
                    <a:solidFill>
                      <a:schemeClr val="tx1"/>
                    </a:solidFill>
                  </a:rPr>
                  <a:t> exists. Reduction must somehow accommodate this.</a:t>
                </a:r>
                <a:endParaRPr lang="en-US" sz="1600" dirty="0">
                  <a:solidFill>
                    <a:schemeClr val="tx1"/>
                  </a:solidFill>
                </a:endParaRPr>
              </a:p>
              <a:p>
                <a:pPr lvl="1"/>
                <a:endParaRPr lang="en-US" sz="18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  <a:p>
                <a:endParaRPr lang="en-US" sz="2200" dirty="0"/>
              </a:p>
              <a:p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506" y="946911"/>
                <a:ext cx="9144000" cy="6477000"/>
              </a:xfrm>
              <a:blipFill rotWithShape="1">
                <a:blip r:embed="rId3"/>
                <a:stretch>
                  <a:fillRect l="-800" t="-564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Conclusions: Future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7209588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506" y="946911"/>
            <a:ext cx="9144000" cy="6477000"/>
          </a:xfrm>
        </p:spPr>
        <p:txBody>
          <a:bodyPr>
            <a:normAutofit/>
          </a:bodyPr>
          <a:lstStyle/>
          <a:p>
            <a:r>
              <a:rPr lang="en-US" sz="2200" dirty="0" smtClean="0"/>
              <a:t>Many interesting comparisons of mechanisms to algorithms:</a:t>
            </a:r>
          </a:p>
          <a:p>
            <a:endParaRPr lang="en-US" sz="2200" dirty="0" smtClean="0"/>
          </a:p>
          <a:p>
            <a:r>
              <a:rPr lang="en-US" sz="2200" b="1" dirty="0" smtClean="0">
                <a:solidFill>
                  <a:srgbClr val="008000"/>
                </a:solidFill>
              </a:rPr>
              <a:t>[This Talk]: </a:t>
            </a:r>
            <a:r>
              <a:rPr lang="en-US" sz="2200" dirty="0" smtClean="0"/>
              <a:t>Framework for designing computationally efficient BIC mechanisms that are competitive with the optimal BIC mechanism.</a:t>
            </a:r>
          </a:p>
          <a:p>
            <a:endParaRPr lang="en-US" sz="2200" dirty="0"/>
          </a:p>
          <a:p>
            <a:r>
              <a:rPr lang="en-US" sz="2200" dirty="0" smtClean="0"/>
              <a:t>Another direction </a:t>
            </a:r>
            <a:r>
              <a:rPr lang="en-US" sz="2200" dirty="0" smtClean="0">
                <a:solidFill>
                  <a:srgbClr val="FF6600"/>
                </a:solidFill>
              </a:rPr>
              <a:t>[Nisan-Ronen ’99]</a:t>
            </a:r>
            <a:r>
              <a:rPr lang="en-US" sz="2200" dirty="0" smtClean="0"/>
              <a:t>: Quantify the gap between the performance of the optimal BIC mechanism and that of the optimal algorithm.</a:t>
            </a:r>
          </a:p>
          <a:p>
            <a:endParaRPr lang="en-US" sz="2200" dirty="0"/>
          </a:p>
          <a:p>
            <a:r>
              <a:rPr lang="en-US" sz="2200" dirty="0" smtClean="0"/>
              <a:t>Our framework provides a useful computational tool.</a:t>
            </a:r>
            <a:endParaRPr lang="en-US" sz="2200" dirty="0"/>
          </a:p>
          <a:p>
            <a:endParaRPr lang="en-US" sz="2200" dirty="0" smtClean="0"/>
          </a:p>
          <a:p>
            <a:endParaRPr lang="en-US" sz="2200" dirty="0"/>
          </a:p>
          <a:p>
            <a:endParaRPr lang="en-US" sz="2200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Conclusions: Future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29933961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79078" y="4623954"/>
            <a:ext cx="2886540" cy="1243445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ln w="1905">
                  <a:solidFill>
                    <a:srgbClr val="92D050"/>
                  </a:solidFill>
                </a:ln>
                <a:gradFill flip="none" rotWithShape="1">
                  <a:gsLst>
                    <a:gs pos="0">
                      <a:srgbClr val="92D050">
                        <a:shade val="30000"/>
                        <a:satMod val="115000"/>
                      </a:srgbClr>
                    </a:gs>
                    <a:gs pos="50000">
                      <a:srgbClr val="92D050">
                        <a:shade val="67500"/>
                        <a:satMod val="115000"/>
                      </a:srgbClr>
                    </a:gs>
                    <a:gs pos="100000">
                      <a:srgbClr val="92D050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>
                  <a:reflection blurRad="6350" stA="55000" endA="300" endPos="45500" dir="5400000" sy="-100000" algn="bl" rotWithShape="0"/>
                </a:effectLst>
              </a:rPr>
              <a:t>Thanks for listening!</a:t>
            </a:r>
            <a:endParaRPr lang="en-US" dirty="0">
              <a:ln w="1905">
                <a:solidFill>
                  <a:srgbClr val="92D050"/>
                </a:solidFill>
              </a:ln>
              <a:gradFill flip="none" rotWithShape="1">
                <a:gsLst>
                  <a:gs pos="0">
                    <a:srgbClr val="92D050">
                      <a:shade val="30000"/>
                      <a:satMod val="115000"/>
                    </a:srgbClr>
                  </a:gs>
                  <a:gs pos="50000">
                    <a:srgbClr val="92D050">
                      <a:shade val="67500"/>
                      <a:satMod val="115000"/>
                    </a:srgbClr>
                  </a:gs>
                  <a:gs pos="100000">
                    <a:srgbClr val="92D05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79538039"/>
      </p:ext>
    </p:extLst>
  </p:cSld>
  <p:clrMapOvr>
    <a:masterClrMapping/>
  </p:clrMapOvr>
  <mc:AlternateContent>
    <mc:Choice xmlns:mc="http://schemas.openxmlformats.org/markup-compatibility/2006"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37680</TotalTime>
  <Words>1598</Words>
  <Application>Microsoft Macintosh PowerPoint</Application>
  <PresentationFormat>On-screen Show (4:3)</PresentationFormat>
  <Paragraphs>445</Paragraphs>
  <Slides>70</Slides>
  <Notes>44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Beyond Revenue: Optimal Mechanisms for Non-Linear Objectives</vt:lpstr>
      <vt:lpstr>Recap</vt:lpstr>
      <vt:lpstr>Recap</vt:lpstr>
      <vt:lpstr>Algorithm vs. Mechanism Design</vt:lpstr>
      <vt:lpstr>Algorithm vs. Mechanism Design</vt:lpstr>
      <vt:lpstr>Example 1: building schools</vt:lpstr>
      <vt:lpstr>Slide 7</vt:lpstr>
      <vt:lpstr>Slide 8</vt:lpstr>
      <vt:lpstr>Algorithmic Mechanism Design</vt:lpstr>
      <vt:lpstr>Algorithmic Mechanism Design</vt:lpstr>
      <vt:lpstr>Why Black-Box Reductions?</vt:lpstr>
      <vt:lpstr>Reductions in Mechanism Design</vt:lpstr>
      <vt:lpstr>Reducing Mechanism to Algorithm Design: Welfare</vt:lpstr>
      <vt:lpstr>Reducing Mechanism to Algorithm Design: Welfare</vt:lpstr>
      <vt:lpstr>Reducing Mechanism to Algorithm Design: Welfare</vt:lpstr>
      <vt:lpstr>Reducing Mechanism to Algorithm Design: Makespan</vt:lpstr>
      <vt:lpstr>Reducing Mechanism to Algorithm Design</vt:lpstr>
      <vt:lpstr>Reducing Mechanism to Algorithm Design</vt:lpstr>
      <vt:lpstr>Main Result</vt:lpstr>
      <vt:lpstr>Main Result</vt:lpstr>
      <vt:lpstr>Implicit Forms</vt:lpstr>
      <vt:lpstr>LP Using Implicit Form: Welfare</vt:lpstr>
      <vt:lpstr>LP Using Implicit Form: Makespan</vt:lpstr>
      <vt:lpstr>Implicit Forms &amp; Makespan: Example</vt:lpstr>
      <vt:lpstr>LP Using Implicit Form: Makespan</vt:lpstr>
      <vt:lpstr>Feasibility of (new) Implicit Forms</vt:lpstr>
      <vt:lpstr>Feasibility of (new) Implicit Forms</vt:lpstr>
      <vt:lpstr>LP Using Implicit Form: Makespan</vt:lpstr>
      <vt:lpstr>Recap</vt:lpstr>
      <vt:lpstr>Approximate Equivalence of Separation and Optimization</vt:lpstr>
      <vt:lpstr>Approximate Equivalence of Separation and Optimization</vt:lpstr>
      <vt:lpstr>Approximate Equivalence of Separation and Optimization</vt:lpstr>
      <vt:lpstr>Approximate Equivalence of Separation and Optimization</vt:lpstr>
      <vt:lpstr>Approximate Equivalence of Separation and Optimization</vt:lpstr>
      <vt:lpstr>Recap: Equivalence of Separation and Optimization</vt:lpstr>
      <vt:lpstr>Recap: Equivalence of Separation and Optimization</vt:lpstr>
      <vt:lpstr>Recap: Equivalence of Separation and Optimization</vt:lpstr>
      <vt:lpstr>Recap: Equivalence of Separation and Optimization</vt:lpstr>
      <vt:lpstr>Approximate Equivalence of Separation and Optimization</vt:lpstr>
      <vt:lpstr>Approximate Equivalence of Separation and Optimization</vt:lpstr>
      <vt:lpstr>Approximate Equivalence of Separation and Optimization</vt:lpstr>
      <vt:lpstr>Approximate Equivalence of Separation and Optimization</vt:lpstr>
      <vt:lpstr>Approximate Equivalence of Separation and Optimization</vt:lpstr>
      <vt:lpstr>Approximate Equivalence of Separation and Optimization</vt:lpstr>
      <vt:lpstr>Approximate Equivalence of Separation and Optimization</vt:lpstr>
      <vt:lpstr>Back to Mechanism Design</vt:lpstr>
      <vt:lpstr>Back to Mechanism Design</vt:lpstr>
      <vt:lpstr>Let’s  Apply It?</vt:lpstr>
      <vt:lpstr>Slide 49</vt:lpstr>
      <vt:lpstr>Truthful Job Scheduling on Unrelated Machines</vt:lpstr>
      <vt:lpstr>Truthful Fair Allocation of Indivisible Goods</vt:lpstr>
      <vt:lpstr>What Now?</vt:lpstr>
      <vt:lpstr>Bi-Criterion Approximations</vt:lpstr>
      <vt:lpstr> </vt:lpstr>
      <vt:lpstr> </vt:lpstr>
      <vt:lpstr> </vt:lpstr>
      <vt:lpstr> </vt:lpstr>
      <vt:lpstr> </vt:lpstr>
      <vt:lpstr>Main Result</vt:lpstr>
      <vt:lpstr>Let’s  Apply It!</vt:lpstr>
      <vt:lpstr> </vt:lpstr>
      <vt:lpstr>Conclusions</vt:lpstr>
      <vt:lpstr>Conclusions: Revenue</vt:lpstr>
      <vt:lpstr>Conclusions: Revenue</vt:lpstr>
      <vt:lpstr>Conclusions: Non-Linear Objectives</vt:lpstr>
      <vt:lpstr>Conclusions: Non-Linear Objectives</vt:lpstr>
      <vt:lpstr>Conclusions: Contributions</vt:lpstr>
      <vt:lpstr>Conclusions: Future Work</vt:lpstr>
      <vt:lpstr>Conclusions: Future Work</vt:lpstr>
      <vt:lpstr>Thanks for listening!</vt:lpstr>
    </vt:vector>
  </TitlesOfParts>
  <Company>MIT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Algorithmic Characterization of Multi-Dimensional Mechanisms</dc:title>
  <dc:creator>Yang Cai</dc:creator>
  <cp:lastModifiedBy>Constantinos Daskalakis</cp:lastModifiedBy>
  <cp:revision>1928</cp:revision>
  <cp:lastPrinted>2012-10-19T18:07:33Z</cp:lastPrinted>
  <dcterms:created xsi:type="dcterms:W3CDTF">2014-06-09T21:20:33Z</dcterms:created>
  <dcterms:modified xsi:type="dcterms:W3CDTF">2014-06-09T21:23:53Z</dcterms:modified>
</cp:coreProperties>
</file>