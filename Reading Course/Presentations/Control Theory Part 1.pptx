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9" r:id="rId3"/>
    <p:sldId id="277" r:id="rId4"/>
    <p:sldId id="278" r:id="rId5"/>
    <p:sldId id="286" r:id="rId6"/>
    <p:sldId id="287" r:id="rId7"/>
    <p:sldId id="288" r:id="rId8"/>
    <p:sldId id="290" r:id="rId9"/>
  </p:sldIdLst>
  <p:sldSz cx="12192000" cy="6858000"/>
  <p:notesSz cx="6858000" cy="88915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359C8-AACA-2EA8-D24E-0AAD455781CC}" name="Jacob Wyngaard" initials="JW" userId="6181fcd471e9845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4EA1"/>
    <a:srgbClr val="CDE6EF"/>
    <a:srgbClr val="FFFFFF"/>
    <a:srgbClr val="14A7D8"/>
    <a:srgbClr val="CDE6F0"/>
    <a:srgbClr val="FBDB0E"/>
    <a:srgbClr val="D5D6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224A444-5B55-4FC2-A312-96105A7C531D}" v="1" dt="2026-02-11T00:26:35.3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51" autoAdjust="0"/>
    <p:restoredTop sz="94660"/>
  </p:normalViewPr>
  <p:slideViewPr>
    <p:cSldViewPr snapToGrid="0">
      <p:cViewPr varScale="1">
        <p:scale>
          <a:sx n="78" d="100"/>
          <a:sy n="78" d="100"/>
        </p:scale>
        <p:origin x="103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17" Type="http://schemas.microsoft.com/office/2018/10/relationships/authors" Target="author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Wyngaard" userId="6181fcd471e98458" providerId="LiveId" clId="{788BA123-62C9-4DDC-86E5-A6BCA4600216}"/>
    <pc:docChg chg="custSel addSld delSld modSld">
      <pc:chgData name="Jacob Wyngaard" userId="6181fcd471e98458" providerId="LiveId" clId="{788BA123-62C9-4DDC-86E5-A6BCA4600216}" dt="2026-02-11T00:27:19.823" v="253" actId="47"/>
      <pc:docMkLst>
        <pc:docMk/>
      </pc:docMkLst>
      <pc:sldChg chg="delSp modSp mod">
        <pc:chgData name="Jacob Wyngaard" userId="6181fcd471e98458" providerId="LiveId" clId="{788BA123-62C9-4DDC-86E5-A6BCA4600216}" dt="2026-02-11T00:25:10.559" v="7" actId="478"/>
        <pc:sldMkLst>
          <pc:docMk/>
          <pc:sldMk cId="1116112418" sldId="256"/>
        </pc:sldMkLst>
        <pc:spChg chg="mod">
          <ac:chgData name="Jacob Wyngaard" userId="6181fcd471e98458" providerId="LiveId" clId="{788BA123-62C9-4DDC-86E5-A6BCA4600216}" dt="2026-02-11T00:25:08.893" v="6" actId="20577"/>
          <ac:spMkLst>
            <pc:docMk/>
            <pc:sldMk cId="1116112418" sldId="256"/>
            <ac:spMk id="9" creationId="{E041FF28-576E-AE9D-45ED-6C6260407807}"/>
          </ac:spMkLst>
        </pc:spChg>
        <pc:picChg chg="del">
          <ac:chgData name="Jacob Wyngaard" userId="6181fcd471e98458" providerId="LiveId" clId="{788BA123-62C9-4DDC-86E5-A6BCA4600216}" dt="2026-02-11T00:25:10.559" v="7" actId="478"/>
          <ac:picMkLst>
            <pc:docMk/>
            <pc:sldMk cId="1116112418" sldId="256"/>
            <ac:picMk id="7" creationId="{3C0CB8C4-F67E-E067-FDBF-CEA87028536D}"/>
          </ac:picMkLst>
        </pc:picChg>
      </pc:sldChg>
      <pc:sldChg chg="delSp modSp mod">
        <pc:chgData name="Jacob Wyngaard" userId="6181fcd471e98458" providerId="LiveId" clId="{788BA123-62C9-4DDC-86E5-A6BCA4600216}" dt="2026-02-11T00:26:42.361" v="246" actId="20577"/>
        <pc:sldMkLst>
          <pc:docMk/>
          <pc:sldMk cId="1388335378" sldId="259"/>
        </pc:sldMkLst>
        <pc:spChg chg="mod">
          <ac:chgData name="Jacob Wyngaard" userId="6181fcd471e98458" providerId="LiveId" clId="{788BA123-62C9-4DDC-86E5-A6BCA4600216}" dt="2026-02-11T00:25:27.850" v="58" actId="20577"/>
          <ac:spMkLst>
            <pc:docMk/>
            <pc:sldMk cId="1388335378" sldId="259"/>
            <ac:spMk id="9" creationId="{C643209B-C381-F683-2264-D243348F0B95}"/>
          </ac:spMkLst>
        </pc:spChg>
        <pc:spChg chg="mod">
          <ac:chgData name="Jacob Wyngaard" userId="6181fcd471e98458" providerId="LiveId" clId="{788BA123-62C9-4DDC-86E5-A6BCA4600216}" dt="2026-02-11T00:26:42.361" v="246" actId="20577"/>
          <ac:spMkLst>
            <pc:docMk/>
            <pc:sldMk cId="1388335378" sldId="259"/>
            <ac:spMk id="13" creationId="{2C6C1EFB-D866-FF81-E86C-FA8BE2FC4F46}"/>
          </ac:spMkLst>
        </pc:spChg>
        <pc:picChg chg="del">
          <ac:chgData name="Jacob Wyngaard" userId="6181fcd471e98458" providerId="LiveId" clId="{788BA123-62C9-4DDC-86E5-A6BCA4600216}" dt="2026-02-11T00:25:29.505" v="59" actId="478"/>
          <ac:picMkLst>
            <pc:docMk/>
            <pc:sldMk cId="1388335378" sldId="259"/>
            <ac:picMk id="3" creationId="{F1691408-4538-A337-C257-CD956451E345}"/>
          </ac:picMkLst>
        </pc:picChg>
      </pc:sldChg>
      <pc:sldChg chg="del">
        <pc:chgData name="Jacob Wyngaard" userId="6181fcd471e98458" providerId="LiveId" clId="{788BA123-62C9-4DDC-86E5-A6BCA4600216}" dt="2026-02-11T00:27:02.244" v="247" actId="47"/>
        <pc:sldMkLst>
          <pc:docMk/>
          <pc:sldMk cId="4108950933" sldId="260"/>
        </pc:sldMkLst>
      </pc:sldChg>
      <pc:sldChg chg="del">
        <pc:chgData name="Jacob Wyngaard" userId="6181fcd471e98458" providerId="LiveId" clId="{788BA123-62C9-4DDC-86E5-A6BCA4600216}" dt="2026-02-11T00:27:02.244" v="247" actId="47"/>
        <pc:sldMkLst>
          <pc:docMk/>
          <pc:sldMk cId="777443482" sldId="261"/>
        </pc:sldMkLst>
      </pc:sldChg>
      <pc:sldChg chg="del">
        <pc:chgData name="Jacob Wyngaard" userId="6181fcd471e98458" providerId="LiveId" clId="{788BA123-62C9-4DDC-86E5-A6BCA4600216}" dt="2026-02-11T00:27:02.244" v="247" actId="47"/>
        <pc:sldMkLst>
          <pc:docMk/>
          <pc:sldMk cId="2344648309" sldId="262"/>
        </pc:sldMkLst>
      </pc:sldChg>
      <pc:sldChg chg="del">
        <pc:chgData name="Jacob Wyngaard" userId="6181fcd471e98458" providerId="LiveId" clId="{788BA123-62C9-4DDC-86E5-A6BCA4600216}" dt="2026-02-11T00:27:02.244" v="247" actId="47"/>
        <pc:sldMkLst>
          <pc:docMk/>
          <pc:sldMk cId="1806092353" sldId="263"/>
        </pc:sldMkLst>
      </pc:sldChg>
      <pc:sldChg chg="del">
        <pc:chgData name="Jacob Wyngaard" userId="6181fcd471e98458" providerId="LiveId" clId="{788BA123-62C9-4DDC-86E5-A6BCA4600216}" dt="2026-02-11T00:27:02.244" v="247" actId="47"/>
        <pc:sldMkLst>
          <pc:docMk/>
          <pc:sldMk cId="367513741" sldId="264"/>
        </pc:sldMkLst>
      </pc:sldChg>
      <pc:sldChg chg="del">
        <pc:chgData name="Jacob Wyngaard" userId="6181fcd471e98458" providerId="LiveId" clId="{788BA123-62C9-4DDC-86E5-A6BCA4600216}" dt="2026-02-11T00:27:02.244" v="247" actId="47"/>
        <pc:sldMkLst>
          <pc:docMk/>
          <pc:sldMk cId="1691758535" sldId="265"/>
        </pc:sldMkLst>
      </pc:sldChg>
      <pc:sldChg chg="del">
        <pc:chgData name="Jacob Wyngaard" userId="6181fcd471e98458" providerId="LiveId" clId="{788BA123-62C9-4DDC-86E5-A6BCA4600216}" dt="2026-02-11T00:27:02.244" v="247" actId="47"/>
        <pc:sldMkLst>
          <pc:docMk/>
          <pc:sldMk cId="3419068576" sldId="266"/>
        </pc:sldMkLst>
      </pc:sldChg>
      <pc:sldChg chg="del">
        <pc:chgData name="Jacob Wyngaard" userId="6181fcd471e98458" providerId="LiveId" clId="{788BA123-62C9-4DDC-86E5-A6BCA4600216}" dt="2026-02-11T00:27:02.244" v="247" actId="47"/>
        <pc:sldMkLst>
          <pc:docMk/>
          <pc:sldMk cId="534362439" sldId="267"/>
        </pc:sldMkLst>
      </pc:sldChg>
      <pc:sldChg chg="del">
        <pc:chgData name="Jacob Wyngaard" userId="6181fcd471e98458" providerId="LiveId" clId="{788BA123-62C9-4DDC-86E5-A6BCA4600216}" dt="2026-02-11T00:27:02.244" v="247" actId="47"/>
        <pc:sldMkLst>
          <pc:docMk/>
          <pc:sldMk cId="3934084433" sldId="268"/>
        </pc:sldMkLst>
      </pc:sldChg>
      <pc:sldChg chg="del">
        <pc:chgData name="Jacob Wyngaard" userId="6181fcd471e98458" providerId="LiveId" clId="{788BA123-62C9-4DDC-86E5-A6BCA4600216}" dt="2026-02-11T00:27:02.244" v="247" actId="47"/>
        <pc:sldMkLst>
          <pc:docMk/>
          <pc:sldMk cId="1377634056" sldId="269"/>
        </pc:sldMkLst>
      </pc:sldChg>
      <pc:sldChg chg="del">
        <pc:chgData name="Jacob Wyngaard" userId="6181fcd471e98458" providerId="LiveId" clId="{788BA123-62C9-4DDC-86E5-A6BCA4600216}" dt="2026-02-11T00:27:02.244" v="247" actId="47"/>
        <pc:sldMkLst>
          <pc:docMk/>
          <pc:sldMk cId="3250037894" sldId="270"/>
        </pc:sldMkLst>
      </pc:sldChg>
      <pc:sldChg chg="del">
        <pc:chgData name="Jacob Wyngaard" userId="6181fcd471e98458" providerId="LiveId" clId="{788BA123-62C9-4DDC-86E5-A6BCA4600216}" dt="2026-02-11T00:27:02.244" v="247" actId="47"/>
        <pc:sldMkLst>
          <pc:docMk/>
          <pc:sldMk cId="309097339" sldId="271"/>
        </pc:sldMkLst>
      </pc:sldChg>
      <pc:sldChg chg="del">
        <pc:chgData name="Jacob Wyngaard" userId="6181fcd471e98458" providerId="LiveId" clId="{788BA123-62C9-4DDC-86E5-A6BCA4600216}" dt="2026-02-11T00:27:02.244" v="247" actId="47"/>
        <pc:sldMkLst>
          <pc:docMk/>
          <pc:sldMk cId="2254087618" sldId="273"/>
        </pc:sldMkLst>
      </pc:sldChg>
      <pc:sldChg chg="del">
        <pc:chgData name="Jacob Wyngaard" userId="6181fcd471e98458" providerId="LiveId" clId="{788BA123-62C9-4DDC-86E5-A6BCA4600216}" dt="2026-02-11T00:27:02.244" v="247" actId="47"/>
        <pc:sldMkLst>
          <pc:docMk/>
          <pc:sldMk cId="2982520489" sldId="274"/>
        </pc:sldMkLst>
      </pc:sldChg>
      <pc:sldChg chg="del">
        <pc:chgData name="Jacob Wyngaard" userId="6181fcd471e98458" providerId="LiveId" clId="{788BA123-62C9-4DDC-86E5-A6BCA4600216}" dt="2026-02-11T00:27:02.244" v="247" actId="47"/>
        <pc:sldMkLst>
          <pc:docMk/>
          <pc:sldMk cId="3378430970" sldId="275"/>
        </pc:sldMkLst>
      </pc:sldChg>
      <pc:sldChg chg="del">
        <pc:chgData name="Jacob Wyngaard" userId="6181fcd471e98458" providerId="LiveId" clId="{788BA123-62C9-4DDC-86E5-A6BCA4600216}" dt="2026-02-11T00:27:02.244" v="247" actId="47"/>
        <pc:sldMkLst>
          <pc:docMk/>
          <pc:sldMk cId="3378212398" sldId="276"/>
        </pc:sldMkLst>
      </pc:sldChg>
      <pc:sldChg chg="del">
        <pc:chgData name="Jacob Wyngaard" userId="6181fcd471e98458" providerId="LiveId" clId="{788BA123-62C9-4DDC-86E5-A6BCA4600216}" dt="2026-02-11T00:27:10.553" v="248" actId="47"/>
        <pc:sldMkLst>
          <pc:docMk/>
          <pc:sldMk cId="345838912" sldId="279"/>
        </pc:sldMkLst>
      </pc:sldChg>
      <pc:sldChg chg="del">
        <pc:chgData name="Jacob Wyngaard" userId="6181fcd471e98458" providerId="LiveId" clId="{788BA123-62C9-4DDC-86E5-A6BCA4600216}" dt="2026-02-11T00:27:10.553" v="248" actId="47"/>
        <pc:sldMkLst>
          <pc:docMk/>
          <pc:sldMk cId="2863477779" sldId="280"/>
        </pc:sldMkLst>
      </pc:sldChg>
      <pc:sldChg chg="del">
        <pc:chgData name="Jacob Wyngaard" userId="6181fcd471e98458" providerId="LiveId" clId="{788BA123-62C9-4DDC-86E5-A6BCA4600216}" dt="2026-02-11T00:27:10.553" v="248" actId="47"/>
        <pc:sldMkLst>
          <pc:docMk/>
          <pc:sldMk cId="298294153" sldId="281"/>
        </pc:sldMkLst>
      </pc:sldChg>
      <pc:sldChg chg="del">
        <pc:chgData name="Jacob Wyngaard" userId="6181fcd471e98458" providerId="LiveId" clId="{788BA123-62C9-4DDC-86E5-A6BCA4600216}" dt="2026-02-11T00:27:12.704" v="249" actId="47"/>
        <pc:sldMkLst>
          <pc:docMk/>
          <pc:sldMk cId="3636846638" sldId="282"/>
        </pc:sldMkLst>
      </pc:sldChg>
      <pc:sldChg chg="del">
        <pc:chgData name="Jacob Wyngaard" userId="6181fcd471e98458" providerId="LiveId" clId="{788BA123-62C9-4DDC-86E5-A6BCA4600216}" dt="2026-02-11T00:27:13.563" v="250" actId="47"/>
        <pc:sldMkLst>
          <pc:docMk/>
          <pc:sldMk cId="2340853221" sldId="283"/>
        </pc:sldMkLst>
      </pc:sldChg>
      <pc:sldChg chg="del">
        <pc:chgData name="Jacob Wyngaard" userId="6181fcd471e98458" providerId="LiveId" clId="{788BA123-62C9-4DDC-86E5-A6BCA4600216}" dt="2026-02-11T00:27:14.537" v="251" actId="47"/>
        <pc:sldMkLst>
          <pc:docMk/>
          <pc:sldMk cId="2322287913" sldId="284"/>
        </pc:sldMkLst>
      </pc:sldChg>
      <pc:sldChg chg="del">
        <pc:chgData name="Jacob Wyngaard" userId="6181fcd471e98458" providerId="LiveId" clId="{788BA123-62C9-4DDC-86E5-A6BCA4600216}" dt="2026-02-11T00:27:15.920" v="252" actId="47"/>
        <pc:sldMkLst>
          <pc:docMk/>
          <pc:sldMk cId="285127923" sldId="285"/>
        </pc:sldMkLst>
      </pc:sldChg>
      <pc:sldChg chg="del">
        <pc:chgData name="Jacob Wyngaard" userId="6181fcd471e98458" providerId="LiveId" clId="{788BA123-62C9-4DDC-86E5-A6BCA4600216}" dt="2026-02-11T00:27:19.823" v="253" actId="47"/>
        <pc:sldMkLst>
          <pc:docMk/>
          <pc:sldMk cId="2516232367" sldId="289"/>
        </pc:sldMkLst>
      </pc:sldChg>
      <pc:sldChg chg="add del">
        <pc:chgData name="Jacob Wyngaard" userId="6181fcd471e98458" providerId="LiveId" clId="{788BA123-62C9-4DDC-86E5-A6BCA4600216}" dt="2026-02-11T00:27:02.244" v="247" actId="47"/>
        <pc:sldMkLst>
          <pc:docMk/>
          <pc:sldMk cId="3476693222" sldId="29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1EB116-73EE-4936-876D-CA6054346043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1111250"/>
            <a:ext cx="5334000" cy="3000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278313"/>
            <a:ext cx="5486400" cy="35020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C46F5-682E-4C43-810E-48CF7D15B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8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8230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87E91-9664-BDA5-AE6A-7E9F1545B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6CFE4F-2CAC-BD89-E921-D73551D47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05D460-C988-88CF-2071-95F254F223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BCDBAC-336F-85E1-422A-689018CA95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107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DFF55-10FF-E029-E4F5-115460B04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0DEA7C-0BD2-D5A2-B0F5-46C1584C1F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8C96F6-81F3-0239-5952-218B21E5BC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7B8DF0-1FD7-F5A7-35B1-65B7796F11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9617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7B146-31DE-CA22-D26E-FEBC7A5D6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EAA43B-74A7-4B72-D749-2911914602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7936E1-34DC-9112-FB85-10B893AEDA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55C86-1C57-9491-EA67-8CA060BF21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2897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4C038-D651-8B85-8260-C26D5EAAA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B9B73A-403E-6BBC-A9D7-B1EA7FEEE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B1AE01-8BC7-8564-3618-55DD1F9898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0B4232-47E6-3A8A-9504-C16A1604AA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3042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D5AEB-03AD-89E8-4951-30D620777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59DFC0-619C-A8A4-AAD3-A139ED13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EF6487-6696-1D91-D5FD-02C9FBA653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8BE72B-A24B-9301-0FF6-B14C99050F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1778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99EA2-D033-3BB0-CDAD-8B826670C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BD3B56-E1D2-2947-1D21-A57583598C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C30C6C-D3DD-5174-BDCC-C3B2790E4D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563EB8-B470-ABAE-EE08-DDBC6ACBB5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312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F67DA-EF88-764F-4BB2-90DD369EC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CB49-A6FF-5490-06FF-C691E6E10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6D7E6-71BD-58F2-CBF4-E78503AEC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D95E3-7A82-5D3E-BFDC-1AE7B474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9A11E-99A9-F23F-4238-A31D781DA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7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F64B2-129B-23A1-2674-8563348AE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7FD9C-0A2E-B601-59FC-3A526EBBC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6DEFB-358E-B6E9-602E-E50D1A5B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837DC-70E9-4BCE-762A-A3016527F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871CA-989F-854F-0506-DBC06C39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93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4B9F-5339-2DC7-EF1C-7ADE66AAF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F5A0D-A60D-B108-1000-8AB1BEDDE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A1A79-101A-F9D5-2D58-008D93940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96FEA-451C-9BD7-FE85-ABE7721E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68E22-35AC-C4A7-7DF0-25148A4FD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8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8D99-A43C-243B-C4C8-DD6A377ED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4F5C7-3E98-385C-D4CC-79AA9A576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A97EA5-02FD-3408-9C44-22CA696BE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A5EB16-71B7-FEF2-D131-1DC6215A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5B5499-CE45-E51E-C9F3-B31DCD75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EEEB8-6109-294D-EB1A-32BC9A6C5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4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16EFE-93E5-8BCF-08CB-2CFD45401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D2989-0587-FFA8-CA9B-6B1FC2808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ADFDD-D356-34C7-ABB2-12E204D7CC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5A8C9-58F4-D8A2-E078-6C86700EB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961E0-F79F-DC8A-8942-3409FF4AC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262B5-71DA-9BC0-4EA2-2B7D366C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ED025E-4D61-3485-686F-F7FDC83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1E9E3-1C2A-3967-AB7D-37A593FD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9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17C0D-B790-78A5-844C-07DA00A7B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B3C7A-A272-8A74-FDB0-FF10B7AF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E517F-231E-473E-2A52-0DBD0429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0E8D7-AEF1-33EF-5C16-F459BB1F5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07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3CB47C-D1EE-D077-3BEF-928DF2122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751ED4-DC95-A9E0-24B4-C2DCA6CB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0BDA7-CF32-77AD-D5CE-23B56BC2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42E5-59E4-6D3E-78BE-A1E0FD169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9E5C4-4836-AEE1-B05E-74FDAD2EF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1F0D4-A283-375A-35D9-26B05BFBD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6B98DC-0C98-0E90-27A7-75B4CAFE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80928-22DB-5761-6D60-267606D0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FF7E1-E86C-19C0-0A2C-5A4E7FB38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3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0DA3-7875-1508-B11E-26D67ED2C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4211B7-5EEF-8BCE-B12B-6DEA70B8F0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EC012-F909-E4E6-108A-9A27D6B2E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00A5A7-09B3-7AD1-786E-53E8404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CA55B-44A9-BB54-0C67-0AFC84A3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7F222-9F9A-9E7F-90EE-737ADC31C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57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68E4-12C6-EA01-70EB-D1FAC1AF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CB90F-6B0E-ACFF-CC12-B1507D46E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0E2F-8C14-7F4B-68F3-EE72E41F1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771C8-4AEB-0EA1-C952-CDA04AAD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CEBF8-7B84-5F80-4F7D-AF4F5DBD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98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531484-78AC-FB0F-7630-C4370575F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2053D0-EB63-CDF3-BF9D-35E71B339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C4B92-42E9-67BF-9B36-EA7CF567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637F-4C75-7B24-2A1D-152979DF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CF603-77C0-B9F2-A64B-E73520BA8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9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0D885-ED30-8EA9-7F49-AFA92BBC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E0D96-F750-2F67-FAFA-EA3A47809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ADF68-C2D2-7D96-F604-E6D594860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DFCA7-2E84-49E5-A4F2-77D92A699F3D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578D3-0307-EBF0-53AA-0815083E1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E9A0A-1B61-6FF9-649F-8F9311932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1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4C1F8D5-4AD3-CA6D-CA09-1F939BFFC77B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ADB15C-53EA-0ED4-E0E9-C6A73C390DD1}"/>
              </a:ext>
            </a:extLst>
          </p:cNvPr>
          <p:cNvSpPr/>
          <p:nvPr/>
        </p:nvSpPr>
        <p:spPr>
          <a:xfrm>
            <a:off x="6095999" y="0"/>
            <a:ext cx="383459" cy="6858000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41FF28-576E-AE9D-45ED-6C6260407807}"/>
              </a:ext>
            </a:extLst>
          </p:cNvPr>
          <p:cNvSpPr txBox="1"/>
          <p:nvPr/>
        </p:nvSpPr>
        <p:spPr>
          <a:xfrm>
            <a:off x="206478" y="2301107"/>
            <a:ext cx="550606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</a:rPr>
              <a:t>Control Theory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From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Mathematical Optimization and Economic Theory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8CE436-4D95-16F3-641B-9EF9E76C0804}"/>
              </a:ext>
            </a:extLst>
          </p:cNvPr>
          <p:cNvSpPr txBox="1"/>
          <p:nvPr/>
        </p:nvSpPr>
        <p:spPr>
          <a:xfrm>
            <a:off x="294968" y="5998682"/>
            <a:ext cx="550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Jacob Wyngaard</a:t>
            </a:r>
            <a:endParaRPr lang="en-US" sz="20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61124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B4674-EB63-8CB1-A781-43C74EE64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CD957CD-E909-9DBE-97C3-242C827EC247}"/>
              </a:ext>
            </a:extLst>
          </p:cNvPr>
          <p:cNvSpPr/>
          <p:nvPr/>
        </p:nvSpPr>
        <p:spPr>
          <a:xfrm>
            <a:off x="0" y="1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3DD7A4-64F0-2B29-E978-6DAC9BCA10D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43209B-C381-F683-2264-D243348F0B95}"/>
              </a:ext>
            </a:extLst>
          </p:cNvPr>
          <p:cNvSpPr txBox="1"/>
          <p:nvPr/>
        </p:nvSpPr>
        <p:spPr>
          <a:xfrm>
            <a:off x="4513005" y="400100"/>
            <a:ext cx="42917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Schedule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6C1EFB-D866-FF81-E86C-FA8BE2FC4F46}"/>
              </a:ext>
            </a:extLst>
          </p:cNvPr>
          <p:cNvSpPr txBox="1"/>
          <p:nvPr/>
        </p:nvSpPr>
        <p:spPr>
          <a:xfrm>
            <a:off x="-408594" y="1710813"/>
            <a:ext cx="1252193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Game Theory – zero sum game with 2 x 3 payoff matrix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Game Theory – imputations and von Neumann-Morgenstern solutions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Control Theory</a:t>
            </a:r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388335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BA1A3-7088-1D76-977C-6B40A6B85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617655A-BBD6-32BD-BEF9-328E8BD07E0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14DB23-C81C-2E90-63DA-2A1F8BC5729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A26395-4C2F-CF61-0495-2CA4A3A53348}"/>
              </a:ext>
            </a:extLst>
          </p:cNvPr>
          <p:cNvSpPr txBox="1"/>
          <p:nvPr/>
        </p:nvSpPr>
        <p:spPr>
          <a:xfrm>
            <a:off x="1976285" y="378560"/>
            <a:ext cx="89335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Finding the Saddle Point Graphically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EF543F-425E-267C-5C7A-43E59D3841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02193"/>
            <a:ext cx="5675609" cy="2677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C54A052-DEB4-04B8-A37D-9C668B8C4231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480490-F860-2EB6-AF90-4FB3A0AAD735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0296E1-7EB9-6B28-C6F9-90A9B5EF62A9}"/>
              </a:ext>
            </a:extLst>
          </p:cNvPr>
          <p:cNvSpPr txBox="1"/>
          <p:nvPr/>
        </p:nvSpPr>
        <p:spPr>
          <a:xfrm>
            <a:off x="4258171" y="374047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5B8581-75DA-0270-F4D1-13E4A938B558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C1F8EF-D377-64E2-9B70-B07B86A07DB5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649C1B-8068-5833-2389-544CE42534BE}"/>
              </a:ext>
            </a:extLst>
          </p:cNvPr>
          <p:cNvSpPr txBox="1"/>
          <p:nvPr/>
        </p:nvSpPr>
        <p:spPr>
          <a:xfrm>
            <a:off x="4258171" y="4372941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70BA0E7-8F72-2368-93C1-6C0767785DC1}"/>
              </a:ext>
            </a:extLst>
          </p:cNvPr>
          <p:cNvSpPr txBox="1"/>
          <p:nvPr/>
        </p:nvSpPr>
        <p:spPr>
          <a:xfrm>
            <a:off x="16673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C186BD-F98A-7125-8842-69E6EAC18B4B}"/>
              </a:ext>
            </a:extLst>
          </p:cNvPr>
          <p:cNvSpPr txBox="1"/>
          <p:nvPr/>
        </p:nvSpPr>
        <p:spPr>
          <a:xfrm>
            <a:off x="2962771" y="376073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63F13BB-63FB-8220-25B5-ACF67A5659A8}"/>
              </a:ext>
            </a:extLst>
          </p:cNvPr>
          <p:cNvSpPr txBox="1"/>
          <p:nvPr/>
        </p:nvSpPr>
        <p:spPr>
          <a:xfrm>
            <a:off x="4258171" y="3755356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5B0AC8-5AB7-F7EB-5391-EAE4CB024BDA}"/>
              </a:ext>
            </a:extLst>
          </p:cNvPr>
          <p:cNvSpPr txBox="1"/>
          <p:nvPr/>
        </p:nvSpPr>
        <p:spPr>
          <a:xfrm>
            <a:off x="16673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E5930E-AA35-39C6-D9C2-0CCAF7264280}"/>
              </a:ext>
            </a:extLst>
          </p:cNvPr>
          <p:cNvSpPr txBox="1"/>
          <p:nvPr/>
        </p:nvSpPr>
        <p:spPr>
          <a:xfrm>
            <a:off x="2962771" y="439319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9206B7E-8C1E-61FD-89B6-6DCA7499FE64}"/>
              </a:ext>
            </a:extLst>
          </p:cNvPr>
          <p:cNvSpPr txBox="1"/>
          <p:nvPr/>
        </p:nvSpPr>
        <p:spPr>
          <a:xfrm>
            <a:off x="4258171" y="4397964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4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EA52623-00BE-1689-8AFB-3B20B50A43EC}"/>
              </a:ext>
            </a:extLst>
          </p:cNvPr>
          <p:cNvCxnSpPr>
            <a:cxnSpLocks/>
          </p:cNvCxnSpPr>
          <p:nvPr/>
        </p:nvCxnSpPr>
        <p:spPr>
          <a:xfrm>
            <a:off x="6346723" y="2246593"/>
            <a:ext cx="0" cy="356729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DA8C4E3-0FEF-8F12-5A05-FFAC6308DF9E}"/>
              </a:ext>
            </a:extLst>
          </p:cNvPr>
          <p:cNvCxnSpPr>
            <a:cxnSpLocks/>
          </p:cNvCxnSpPr>
          <p:nvPr/>
        </p:nvCxnSpPr>
        <p:spPr>
          <a:xfrm flipH="1">
            <a:off x="6346723" y="4614354"/>
            <a:ext cx="4635909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C25C433-34CC-589F-6AE6-203B881E43E7}"/>
              </a:ext>
            </a:extLst>
          </p:cNvPr>
          <p:cNvCxnSpPr>
            <a:cxnSpLocks/>
          </p:cNvCxnSpPr>
          <p:nvPr/>
        </p:nvCxnSpPr>
        <p:spPr>
          <a:xfrm flipH="1" flipV="1">
            <a:off x="6346722" y="2644877"/>
            <a:ext cx="4744065" cy="302833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3E6E785-2B5B-EC40-8F7B-8CA4956F76C3}"/>
              </a:ext>
            </a:extLst>
          </p:cNvPr>
          <p:cNvCxnSpPr>
            <a:cxnSpLocks/>
          </p:cNvCxnSpPr>
          <p:nvPr/>
        </p:nvCxnSpPr>
        <p:spPr>
          <a:xfrm flipH="1">
            <a:off x="6365908" y="3266395"/>
            <a:ext cx="4724879" cy="46400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830ED5B-9CC8-8F83-7304-9BE4573557CA}"/>
                  </a:ext>
                </a:extLst>
              </p:cNvPr>
              <p:cNvSpPr txBox="1"/>
              <p:nvPr/>
            </p:nvSpPr>
            <p:spPr>
              <a:xfrm>
                <a:off x="10982632" y="4325253"/>
                <a:ext cx="677470" cy="46596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830ED5B-9CC8-8F83-7304-9BE4573557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82632" y="4325253"/>
                <a:ext cx="677470" cy="465961"/>
              </a:xfrm>
              <a:prstGeom prst="rect">
                <a:avLst/>
              </a:prstGeom>
              <a:blipFill>
                <a:blip r:embed="rId4"/>
                <a:stretch>
                  <a:fillRect t="-10526" r="-5405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A33C9AD-E8E9-366E-BE0D-EC3FC9D9DD0F}"/>
                  </a:ext>
                </a:extLst>
              </p:cNvPr>
              <p:cNvSpPr txBox="1"/>
              <p:nvPr/>
            </p:nvSpPr>
            <p:spPr>
              <a:xfrm>
                <a:off x="5028371" y="1813806"/>
                <a:ext cx="2636701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Player 1’s Payoff</a:t>
                </a: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A33C9AD-E8E9-366E-BE0D-EC3FC9D9DD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8371" y="1813806"/>
                <a:ext cx="2636701" cy="461665"/>
              </a:xfrm>
              <a:prstGeom prst="rect">
                <a:avLst/>
              </a:prstGeom>
              <a:blipFill>
                <a:blip r:embed="rId5"/>
                <a:stretch>
                  <a:fillRect t="-13333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A937C8D-2FDD-F748-8702-2996C0D14B2D}"/>
              </a:ext>
            </a:extLst>
          </p:cNvPr>
          <p:cNvCxnSpPr>
            <a:cxnSpLocks/>
          </p:cNvCxnSpPr>
          <p:nvPr/>
        </p:nvCxnSpPr>
        <p:spPr>
          <a:xfrm flipH="1">
            <a:off x="6346721" y="2896989"/>
            <a:ext cx="4744066" cy="235823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88DAA0B-C6FB-976F-92CF-FFF163B2F9F1}"/>
              </a:ext>
            </a:extLst>
          </p:cNvPr>
          <p:cNvSpPr txBox="1"/>
          <p:nvPr/>
        </p:nvSpPr>
        <p:spPr>
          <a:xfrm>
            <a:off x="11036710" y="2496917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B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C7F5323-C550-943A-9F94-6EFB7A164B67}"/>
              </a:ext>
            </a:extLst>
          </p:cNvPr>
          <p:cNvSpPr txBox="1"/>
          <p:nvPr/>
        </p:nvSpPr>
        <p:spPr>
          <a:xfrm>
            <a:off x="11036710" y="2986583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C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A75D68-6241-A6AB-7B3C-7D062E956447}"/>
              </a:ext>
            </a:extLst>
          </p:cNvPr>
          <p:cNvSpPr txBox="1"/>
          <p:nvPr/>
        </p:nvSpPr>
        <p:spPr>
          <a:xfrm>
            <a:off x="11036710" y="5416633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4570224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CBDAE-8275-EDE8-A3C9-7CE75C6FF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B39D422-55E9-446D-5C26-D976E39A576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AA15BDC-72FB-09C1-A5FE-AADF6AACE62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91CCE6-C822-4583-C9E1-036417CC05B7}"/>
              </a:ext>
            </a:extLst>
          </p:cNvPr>
          <p:cNvSpPr txBox="1"/>
          <p:nvPr/>
        </p:nvSpPr>
        <p:spPr>
          <a:xfrm>
            <a:off x="1976285" y="378560"/>
            <a:ext cx="893359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Finding the Saddle Point Graphically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F67A379-D212-83FE-76A9-D0C09BF3CEB1}"/>
              </a:ext>
            </a:extLst>
          </p:cNvPr>
          <p:cNvCxnSpPr>
            <a:cxnSpLocks/>
          </p:cNvCxnSpPr>
          <p:nvPr/>
        </p:nvCxnSpPr>
        <p:spPr>
          <a:xfrm>
            <a:off x="1351921" y="2246593"/>
            <a:ext cx="0" cy="3567296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E5A9C33-A266-462E-AC9D-A0A5B530B643}"/>
              </a:ext>
            </a:extLst>
          </p:cNvPr>
          <p:cNvCxnSpPr>
            <a:cxnSpLocks/>
          </p:cNvCxnSpPr>
          <p:nvPr/>
        </p:nvCxnSpPr>
        <p:spPr>
          <a:xfrm flipH="1">
            <a:off x="1351921" y="4614354"/>
            <a:ext cx="4635909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2E9801F-40CD-DF3F-083D-CA8CEC5ECD71}"/>
              </a:ext>
            </a:extLst>
          </p:cNvPr>
          <p:cNvCxnSpPr>
            <a:cxnSpLocks/>
          </p:cNvCxnSpPr>
          <p:nvPr/>
        </p:nvCxnSpPr>
        <p:spPr>
          <a:xfrm flipH="1" flipV="1">
            <a:off x="1351920" y="2644877"/>
            <a:ext cx="4744065" cy="302833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AA1E015-E1A8-377D-5694-2981B874C8FA}"/>
              </a:ext>
            </a:extLst>
          </p:cNvPr>
          <p:cNvCxnSpPr>
            <a:cxnSpLocks/>
          </p:cNvCxnSpPr>
          <p:nvPr/>
        </p:nvCxnSpPr>
        <p:spPr>
          <a:xfrm flipH="1">
            <a:off x="1371106" y="3266395"/>
            <a:ext cx="4724879" cy="46400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0F9732B-B7A5-EDDF-38E2-D631BFA272AC}"/>
                  </a:ext>
                </a:extLst>
              </p:cNvPr>
              <p:cNvSpPr txBox="1"/>
              <p:nvPr/>
            </p:nvSpPr>
            <p:spPr>
              <a:xfrm>
                <a:off x="5987830" y="4325253"/>
                <a:ext cx="677470" cy="46596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24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0F9732B-B7A5-EDDF-38E2-D631BFA27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7830" y="4325253"/>
                <a:ext cx="677470" cy="465961"/>
              </a:xfrm>
              <a:prstGeom prst="rect">
                <a:avLst/>
              </a:prstGeom>
              <a:blipFill>
                <a:blip r:embed="rId3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1B0EEEC5-AA7F-EED7-CDB1-3756D0021EE0}"/>
              </a:ext>
            </a:extLst>
          </p:cNvPr>
          <p:cNvSpPr txBox="1"/>
          <p:nvPr/>
        </p:nvSpPr>
        <p:spPr>
          <a:xfrm>
            <a:off x="33569" y="1813806"/>
            <a:ext cx="263670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Player 1’s Payoff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06480E6-2569-6916-C738-67D45D8DA37D}"/>
              </a:ext>
            </a:extLst>
          </p:cNvPr>
          <p:cNvCxnSpPr>
            <a:cxnSpLocks/>
          </p:cNvCxnSpPr>
          <p:nvPr/>
        </p:nvCxnSpPr>
        <p:spPr>
          <a:xfrm flipH="1">
            <a:off x="1351919" y="2896989"/>
            <a:ext cx="4744066" cy="235823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0EE861BC-E043-7D9F-9554-76F734A7982D}"/>
              </a:ext>
            </a:extLst>
          </p:cNvPr>
          <p:cNvSpPr txBox="1"/>
          <p:nvPr/>
        </p:nvSpPr>
        <p:spPr>
          <a:xfrm>
            <a:off x="6041908" y="2496917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B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EF94F63-A04C-A166-B448-0C2115D3E7F6}"/>
              </a:ext>
            </a:extLst>
          </p:cNvPr>
          <p:cNvSpPr txBox="1"/>
          <p:nvPr/>
        </p:nvSpPr>
        <p:spPr>
          <a:xfrm>
            <a:off x="6041908" y="2986583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C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B3E7878-A099-B8CC-76B0-372530DE4D78}"/>
              </a:ext>
            </a:extLst>
          </p:cNvPr>
          <p:cNvSpPr txBox="1"/>
          <p:nvPr/>
        </p:nvSpPr>
        <p:spPr>
          <a:xfrm>
            <a:off x="6041908" y="5416633"/>
            <a:ext cx="677470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C3C484-DFD4-FDE3-FA7B-EFE228CE4D83}"/>
              </a:ext>
            </a:extLst>
          </p:cNvPr>
          <p:cNvSpPr txBox="1"/>
          <p:nvPr/>
        </p:nvSpPr>
        <p:spPr>
          <a:xfrm>
            <a:off x="7360256" y="2108358"/>
            <a:ext cx="41118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Again, we go back to the best worst-case scenario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F59E70-5112-F320-0BEB-FC694B602AE0}"/>
              </a:ext>
            </a:extLst>
          </p:cNvPr>
          <p:cNvSpPr txBox="1"/>
          <p:nvPr/>
        </p:nvSpPr>
        <p:spPr>
          <a:xfrm>
            <a:off x="7512660" y="3314902"/>
            <a:ext cx="411183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Graphically, the worst case corresponds to the lowest line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DE1707A-E101-D3BA-BF06-BB03F68BD517}"/>
              </a:ext>
            </a:extLst>
          </p:cNvPr>
          <p:cNvCxnSpPr>
            <a:cxnSpLocks/>
          </p:cNvCxnSpPr>
          <p:nvPr/>
        </p:nvCxnSpPr>
        <p:spPr>
          <a:xfrm flipH="1">
            <a:off x="1270804" y="4076104"/>
            <a:ext cx="2453148" cy="1221482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603979C-ECCF-A52B-DB6C-9668C5005409}"/>
              </a:ext>
            </a:extLst>
          </p:cNvPr>
          <p:cNvCxnSpPr>
            <a:cxnSpLocks/>
          </p:cNvCxnSpPr>
          <p:nvPr/>
        </p:nvCxnSpPr>
        <p:spPr>
          <a:xfrm flipH="1" flipV="1">
            <a:off x="3733545" y="4159045"/>
            <a:ext cx="2254285" cy="1437881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38BB92-53CF-89C4-7641-CCB764861FBB}"/>
              </a:ext>
            </a:extLst>
          </p:cNvPr>
          <p:cNvCxnSpPr>
            <a:cxnSpLocks/>
          </p:cNvCxnSpPr>
          <p:nvPr/>
        </p:nvCxnSpPr>
        <p:spPr>
          <a:xfrm flipH="1">
            <a:off x="8342447" y="5040013"/>
            <a:ext cx="901668" cy="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C74A31E-E78E-BDBD-1679-ED47F0D2D5B9}"/>
              </a:ext>
            </a:extLst>
          </p:cNvPr>
          <p:cNvSpPr txBox="1"/>
          <p:nvPr/>
        </p:nvSpPr>
        <p:spPr>
          <a:xfrm>
            <a:off x="9320981" y="4791214"/>
            <a:ext cx="26940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the lowest line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7A7F174-173C-3358-C779-A23DA6D72675}"/>
              </a:ext>
            </a:extLst>
          </p:cNvPr>
          <p:cNvSpPr txBox="1"/>
          <p:nvPr/>
        </p:nvSpPr>
        <p:spPr>
          <a:xfrm>
            <a:off x="7689640" y="5528862"/>
            <a:ext cx="41118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We then find the highest point on the lowest line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017E3BC8-7867-CDC6-4635-9BAE3AEA60C7}"/>
              </a:ext>
            </a:extLst>
          </p:cNvPr>
          <p:cNvSpPr/>
          <p:nvPr/>
        </p:nvSpPr>
        <p:spPr>
          <a:xfrm>
            <a:off x="3576468" y="4060602"/>
            <a:ext cx="117508" cy="11401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738487-5A20-BE68-F12B-BD96F2E1EEF8}"/>
              </a:ext>
            </a:extLst>
          </p:cNvPr>
          <p:cNvSpPr txBox="1"/>
          <p:nvPr/>
        </p:nvSpPr>
        <p:spPr>
          <a:xfrm>
            <a:off x="2831506" y="3891814"/>
            <a:ext cx="41118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n-US" sz="2400" dirty="0"/>
              <a:t>The Saddle Point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C301C6C-D0B3-66FF-3C8D-85563A3EF59F}"/>
                  </a:ext>
                </a:extLst>
              </p:cNvPr>
              <p:cNvSpPr txBox="1"/>
              <p:nvPr/>
            </p:nvSpPr>
            <p:spPr>
              <a:xfrm>
                <a:off x="3068697" y="4745783"/>
                <a:ext cx="794278" cy="6694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C301C6C-D0B3-66FF-3C8D-85563A3EF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8697" y="4745783"/>
                <a:ext cx="794278" cy="66941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298BB62-00E0-48BB-BDFC-D6AA90BEFFB5}"/>
              </a:ext>
            </a:extLst>
          </p:cNvPr>
          <p:cNvCxnSpPr>
            <a:cxnSpLocks/>
          </p:cNvCxnSpPr>
          <p:nvPr/>
        </p:nvCxnSpPr>
        <p:spPr>
          <a:xfrm flipV="1">
            <a:off x="3650211" y="4496814"/>
            <a:ext cx="0" cy="229359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9747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F2233-07AC-9DB8-0C85-AB76A6D2D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4DEFF1A-A57C-FC06-245A-D261730A9FC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B46159-70B0-9FFB-B65A-3AF9EB1121B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0625E9-7459-BBD1-42F8-1E979B69228D}"/>
              </a:ext>
            </a:extLst>
          </p:cNvPr>
          <p:cNvSpPr txBox="1"/>
          <p:nvPr/>
        </p:nvSpPr>
        <p:spPr>
          <a:xfrm>
            <a:off x="2698400" y="403178"/>
            <a:ext cx="96946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Imputations and Rationality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663DBAD-1638-1EB8-6734-93B4491CD854}"/>
                  </a:ext>
                </a:extLst>
              </p:cNvPr>
              <p:cNvSpPr txBox="1"/>
              <p:nvPr/>
            </p:nvSpPr>
            <p:spPr>
              <a:xfrm>
                <a:off x="-339768" y="1871283"/>
                <a:ext cx="11897032" cy="2722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We call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Π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,…,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an </a:t>
                </a:r>
                <a:r>
                  <a:rPr lang="en-US" sz="2400" b="1" dirty="0"/>
                  <a:t>imputation</a:t>
                </a:r>
                <a:r>
                  <a:rPr lang="en-US" sz="2400" dirty="0"/>
                  <a:t> if each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r>
                  <a:rPr lang="en-US" sz="2400" dirty="0"/>
                  <a:t> is the payoff for the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 err="1"/>
                  <a:t>th</a:t>
                </a:r>
                <a:r>
                  <a:rPr lang="en-US" sz="2400" dirty="0"/>
                  <a:t> player. An imputation “divides the spoils”</a:t>
                </a:r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The assumption of </a:t>
                </a:r>
                <a:r>
                  <a:rPr lang="en-US" sz="2400" b="1" dirty="0"/>
                  <a:t>group rationality </a:t>
                </a:r>
                <a:r>
                  <a:rPr lang="en-US" sz="2400" dirty="0"/>
                  <a:t>requires that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1,2,…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e>
                    </m:d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e>
                    </m:nary>
                  </m:oMath>
                </a14:m>
                <a:endParaRPr lang="en-US" sz="2400" dirty="0"/>
              </a:p>
              <a:p>
                <a:pPr lvl="1"/>
                <a:r>
                  <a:rPr lang="en-US" sz="2400" dirty="0"/>
                  <a:t>	This just means we divide all of the spoils; we don’t waste anything</a:t>
                </a:r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The assumption of individual rationality requires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d>
                      <m:dPr>
                        <m:begChr m:val="{"/>
                        <m:endChr m:val="}"/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for all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663DBAD-1638-1EB8-6734-93B4491CD8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39768" y="1871283"/>
                <a:ext cx="11897032" cy="2722220"/>
              </a:xfrm>
              <a:prstGeom prst="rect">
                <a:avLst/>
              </a:prstGeom>
              <a:blipFill>
                <a:blip r:embed="rId3"/>
                <a:stretch>
                  <a:fillRect t="-1119" r="-1127" b="-42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23984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1EAF0-5D96-A002-0A2C-B4CFB2206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664606-41DC-AE84-1A78-395E265927E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3229F4-DA08-486D-DC6B-71EEFED48E8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0F9BD9-A3AC-5C49-9A61-5723DBB8D5CD}"/>
              </a:ext>
            </a:extLst>
          </p:cNvPr>
          <p:cNvSpPr txBox="1"/>
          <p:nvPr/>
        </p:nvSpPr>
        <p:spPr>
          <a:xfrm>
            <a:off x="3684361" y="403178"/>
            <a:ext cx="48232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Effective Coalitions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DF2383B-BF7C-E9D9-9D39-F767B791F919}"/>
                  </a:ext>
                </a:extLst>
              </p:cNvPr>
              <p:cNvSpPr txBox="1"/>
              <p:nvPr/>
            </p:nvSpPr>
            <p:spPr>
              <a:xfrm>
                <a:off x="-339768" y="1871283"/>
                <a:ext cx="11897032" cy="34374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A 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 of players is </a:t>
                </a:r>
                <a:r>
                  <a:rPr lang="en-US" sz="2400" b="1" dirty="0"/>
                  <a:t>effective</a:t>
                </a:r>
                <a:r>
                  <a:rPr lang="en-US" sz="2400" dirty="0"/>
                  <a:t> for an imputation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Π</m:t>
                    </m:r>
                  </m:oMath>
                </a14:m>
                <a:r>
                  <a:rPr lang="en-US" sz="2400" dirty="0"/>
                  <a:t> if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 </m:t>
                    </m:r>
                    <m:nary>
                      <m:naryPr>
                        <m:chr m:val="∑"/>
                        <m:supHide m:val="on"/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e>
                    </m:nary>
                  </m:oMath>
                </a14:m>
                <a:endParaRPr lang="en-US" sz="2400" dirty="0"/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An imputation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/>
                  <a:t> dominates imputation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/>
                  <a:t>if there is an effective set of players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 such that every player in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 has a higher payoff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/>
                  <a:t>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A </a:t>
                </a:r>
                <a:r>
                  <a:rPr lang="en-US" sz="2400" b="1" dirty="0"/>
                  <a:t>von Neumann-Morgenstern solution </a:t>
                </a:r>
                <a:r>
                  <a:rPr lang="en-US" sz="2400" dirty="0"/>
                  <a:t>is an imputation which is not dominated by any other imputation in the set</a:t>
                </a:r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There may be infinite or no von Neumann-Morgenstern solutions in a game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DF2383B-BF7C-E9D9-9D39-F767B791F9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39768" y="1871283"/>
                <a:ext cx="11897032" cy="3437479"/>
              </a:xfrm>
              <a:prstGeom prst="rect">
                <a:avLst/>
              </a:prstGeom>
              <a:blipFill>
                <a:blip r:embed="rId3"/>
                <a:stretch>
                  <a:fillRect t="-17021" r="-461" b="-31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720592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ADD8A-31F9-8A44-3C8D-CF219C12A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479FD5E-AFFC-E586-EBD7-A0F759B07BD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C61F6E-54ED-5B99-F375-022A64CBF56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8485D2-D86A-8D6B-66D2-E4F3620C26FD}"/>
              </a:ext>
            </a:extLst>
          </p:cNvPr>
          <p:cNvSpPr txBox="1"/>
          <p:nvPr/>
        </p:nvSpPr>
        <p:spPr>
          <a:xfrm>
            <a:off x="4483510" y="403178"/>
            <a:ext cx="40241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The Core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A9EEE71-603B-30BC-067B-7167D377B44F}"/>
                  </a:ext>
                </a:extLst>
              </p:cNvPr>
              <p:cNvSpPr txBox="1"/>
              <p:nvPr/>
            </p:nvSpPr>
            <p:spPr>
              <a:xfrm>
                <a:off x="-339768" y="1871283"/>
                <a:ext cx="11897032" cy="4176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The set of von Neumann-Morgenstern solutions can be narrowed by requiring that every imputation satisfy:</a:t>
                </a:r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2400" dirty="0"/>
                  <a:t> for every subset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{1,2,…,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400" dirty="0"/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The core generally has either zero entries or many, although sometimes the core consists of a unique implementation</a:t>
                </a:r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This unique implementation can be obtained via the </a:t>
                </a:r>
                <a:r>
                  <a:rPr lang="en-US" sz="2400" b="1" dirty="0"/>
                  <a:t>Shapley value</a:t>
                </a:r>
                <a:r>
                  <a:rPr lang="en-US" sz="2400" dirty="0"/>
                  <a:t>, which is based off the additional payoff a player brings to the coalition</a:t>
                </a:r>
              </a:p>
              <a:p>
                <a:pPr lvl="1"/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A9EEE71-603B-30BC-067B-7167D377B4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39768" y="1871283"/>
                <a:ext cx="11897032" cy="4176143"/>
              </a:xfrm>
              <a:prstGeom prst="rect">
                <a:avLst/>
              </a:prstGeom>
              <a:blipFill>
                <a:blip r:embed="rId3"/>
                <a:stretch>
                  <a:fillRect t="-1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10111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50ADA-81B8-C35C-40D5-9AEFD870A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E757FB4-BA9A-96DA-B778-06C2D6763F0E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913A247-52BD-67BD-FC86-F6FB530C33F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5B8262-8485-BB00-A690-CF4D0D4C0CC4}"/>
              </a:ext>
            </a:extLst>
          </p:cNvPr>
          <p:cNvSpPr txBox="1"/>
          <p:nvPr/>
        </p:nvSpPr>
        <p:spPr>
          <a:xfrm>
            <a:off x="4483510" y="403178"/>
            <a:ext cx="40241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The Core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FD561F-5C61-F3AB-5A6D-FFB9A245B2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9503" y="1934638"/>
            <a:ext cx="8312993" cy="4677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1962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1865</TotalTime>
  <Words>349</Words>
  <Application>Microsoft Office PowerPoint</Application>
  <PresentationFormat>Widescreen</PresentationFormat>
  <Paragraphs>71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Wyngaard</dc:creator>
  <cp:lastModifiedBy>Jacob Wyngaard</cp:lastModifiedBy>
  <cp:revision>26</cp:revision>
  <cp:lastPrinted>2025-08-21T02:00:35Z</cp:lastPrinted>
  <dcterms:created xsi:type="dcterms:W3CDTF">2025-08-20T23:47:39Z</dcterms:created>
  <dcterms:modified xsi:type="dcterms:W3CDTF">2026-02-11T00:27:20Z</dcterms:modified>
</cp:coreProperties>
</file>