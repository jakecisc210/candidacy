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5"/>
  </p:notesMasterIdLst>
  <p:sldIdLst>
    <p:sldId id="291" r:id="rId2"/>
    <p:sldId id="452" r:id="rId3"/>
    <p:sldId id="453" r:id="rId4"/>
    <p:sldId id="454" r:id="rId5"/>
    <p:sldId id="455" r:id="rId6"/>
    <p:sldId id="457" r:id="rId7"/>
    <p:sldId id="456" r:id="rId8"/>
    <p:sldId id="458" r:id="rId9"/>
    <p:sldId id="411" r:id="rId10"/>
    <p:sldId id="459" r:id="rId11"/>
    <p:sldId id="460" r:id="rId12"/>
    <p:sldId id="462" r:id="rId13"/>
    <p:sldId id="463" r:id="rId14"/>
    <p:sldId id="467" r:id="rId15"/>
    <p:sldId id="470" r:id="rId16"/>
    <p:sldId id="469" r:id="rId17"/>
    <p:sldId id="471" r:id="rId18"/>
    <p:sldId id="432" r:id="rId19"/>
    <p:sldId id="480" r:id="rId20"/>
    <p:sldId id="443" r:id="rId21"/>
    <p:sldId id="481" r:id="rId22"/>
    <p:sldId id="464" r:id="rId23"/>
    <p:sldId id="466" r:id="rId24"/>
    <p:sldId id="468" r:id="rId25"/>
    <p:sldId id="472" r:id="rId26"/>
    <p:sldId id="473" r:id="rId27"/>
    <p:sldId id="477" r:id="rId28"/>
    <p:sldId id="475" r:id="rId29"/>
    <p:sldId id="482" r:id="rId30"/>
    <p:sldId id="478" r:id="rId31"/>
    <p:sldId id="479" r:id="rId32"/>
    <p:sldId id="483" r:id="rId33"/>
    <p:sldId id="484" r:id="rId34"/>
  </p:sldIdLst>
  <p:sldSz cx="12192000" cy="6858000"/>
  <p:notesSz cx="6858000" cy="889158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52556A3-2CB9-4349-AA16-84A892A7CC81}">
          <p14:sldIdLst>
            <p14:sldId id="291"/>
            <p14:sldId id="452"/>
            <p14:sldId id="453"/>
            <p14:sldId id="454"/>
            <p14:sldId id="455"/>
            <p14:sldId id="457"/>
            <p14:sldId id="456"/>
            <p14:sldId id="458"/>
            <p14:sldId id="411"/>
            <p14:sldId id="459"/>
            <p14:sldId id="460"/>
            <p14:sldId id="462"/>
            <p14:sldId id="463"/>
            <p14:sldId id="467"/>
            <p14:sldId id="470"/>
            <p14:sldId id="469"/>
            <p14:sldId id="471"/>
            <p14:sldId id="432"/>
            <p14:sldId id="480"/>
            <p14:sldId id="443"/>
            <p14:sldId id="481"/>
            <p14:sldId id="464"/>
            <p14:sldId id="466"/>
            <p14:sldId id="468"/>
            <p14:sldId id="472"/>
            <p14:sldId id="473"/>
            <p14:sldId id="477"/>
            <p14:sldId id="475"/>
            <p14:sldId id="482"/>
            <p14:sldId id="478"/>
            <p14:sldId id="479"/>
            <p14:sldId id="483"/>
            <p14:sldId id="48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7D359C8-AACA-2EA8-D24E-0AAD455781CC}" name="Jacob Wyngaard" initials="JW" userId="6181fcd471e98458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64EA1"/>
    <a:srgbClr val="388847"/>
    <a:srgbClr val="3E7CB9"/>
    <a:srgbClr val="6D9CCA"/>
    <a:srgbClr val="D26764"/>
    <a:srgbClr val="FF66CC"/>
    <a:srgbClr val="FFCC00"/>
    <a:srgbClr val="F21C0B"/>
    <a:srgbClr val="5E83A6"/>
    <a:srgbClr val="EBF1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0DC6A92-84C8-49FC-B340-4D4C342CD1A9}" v="916" dt="2026-04-13T04:12:49.47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38" autoAdjust="0"/>
    <p:restoredTop sz="89673" autoAdjust="0"/>
  </p:normalViewPr>
  <p:slideViewPr>
    <p:cSldViewPr snapToGrid="0">
      <p:cViewPr varScale="1">
        <p:scale>
          <a:sx n="99" d="100"/>
          <a:sy n="99" d="100"/>
        </p:scale>
        <p:origin x="1038" y="84"/>
      </p:cViewPr>
      <p:guideLst/>
    </p:cSldViewPr>
  </p:slideViewPr>
  <p:notesTextViewPr>
    <p:cViewPr>
      <p:scale>
        <a:sx n="25" d="100"/>
        <a:sy n="25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8/10/relationships/authors" Target="author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40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cob Wyngaard" userId="6181fcd471e98458" providerId="LiveId" clId="{788BA123-62C9-4DDC-86E5-A6BCA4600216}"/>
    <pc:docChg chg="undo custSel addSld delSld modSld sldOrd modSection">
      <pc:chgData name="Jacob Wyngaard" userId="6181fcd471e98458" providerId="LiveId" clId="{788BA123-62C9-4DDC-86E5-A6BCA4600216}" dt="2026-04-15T03:26:34.459" v="2401" actId="20577"/>
      <pc:docMkLst>
        <pc:docMk/>
      </pc:docMkLst>
      <pc:sldChg chg="addSp delSp modSp mod">
        <pc:chgData name="Jacob Wyngaard" userId="6181fcd471e98458" providerId="LiveId" clId="{788BA123-62C9-4DDC-86E5-A6BCA4600216}" dt="2026-04-13T04:11:31.624" v="2319" actId="1076"/>
        <pc:sldMkLst>
          <pc:docMk/>
          <pc:sldMk cId="606609933" sldId="291"/>
        </pc:sldMkLst>
        <pc:spChg chg="add mod">
          <ac:chgData name="Jacob Wyngaard" userId="6181fcd471e98458" providerId="LiveId" clId="{788BA123-62C9-4DDC-86E5-A6BCA4600216}" dt="2026-04-13T04:11:14.143" v="2290" actId="1076"/>
          <ac:spMkLst>
            <pc:docMk/>
            <pc:sldMk cId="606609933" sldId="291"/>
            <ac:spMk id="10" creationId="{C6BDA09F-627C-8FDA-D7A1-E0E80D1E38CA}"/>
          </ac:spMkLst>
        </pc:spChg>
        <pc:spChg chg="add mod">
          <ac:chgData name="Jacob Wyngaard" userId="6181fcd471e98458" providerId="LiveId" clId="{788BA123-62C9-4DDC-86E5-A6BCA4600216}" dt="2026-04-13T04:11:28.839" v="2318" actId="20577"/>
          <ac:spMkLst>
            <pc:docMk/>
            <pc:sldMk cId="606609933" sldId="291"/>
            <ac:spMk id="11" creationId="{F86DC52F-DB46-E6EB-3D90-B7847A7A2EC1}"/>
          </ac:spMkLst>
        </pc:spChg>
        <pc:picChg chg="add mod modCrop">
          <ac:chgData name="Jacob Wyngaard" userId="6181fcd471e98458" providerId="LiveId" clId="{788BA123-62C9-4DDC-86E5-A6BCA4600216}" dt="2026-04-13T04:11:31.624" v="2319" actId="1076"/>
          <ac:picMkLst>
            <pc:docMk/>
            <pc:sldMk cId="606609933" sldId="291"/>
            <ac:picMk id="7" creationId="{7C27AC2D-996B-CA0D-E7B5-DAA84C8F17A1}"/>
          </ac:picMkLst>
        </pc:picChg>
      </pc:sldChg>
      <pc:sldChg chg="modSp mod">
        <pc:chgData name="Jacob Wyngaard" userId="6181fcd471e98458" providerId="LiveId" clId="{788BA123-62C9-4DDC-86E5-A6BCA4600216}" dt="2026-04-12T18:46:04.324" v="10" actId="6549"/>
        <pc:sldMkLst>
          <pc:docMk/>
          <pc:sldMk cId="3839078269" sldId="452"/>
        </pc:sldMkLst>
        <pc:spChg chg="mod">
          <ac:chgData name="Jacob Wyngaard" userId="6181fcd471e98458" providerId="LiveId" clId="{788BA123-62C9-4DDC-86E5-A6BCA4600216}" dt="2026-04-12T18:46:04.324" v="10" actId="6549"/>
          <ac:spMkLst>
            <pc:docMk/>
            <pc:sldMk cId="3839078269" sldId="452"/>
            <ac:spMk id="2" creationId="{2B453855-A821-5963-97E5-90B9E5014546}"/>
          </ac:spMkLst>
        </pc:spChg>
      </pc:sldChg>
      <pc:sldChg chg="addSp delSp modSp add del mod">
        <pc:chgData name="Jacob Wyngaard" userId="6181fcd471e98458" providerId="LiveId" clId="{788BA123-62C9-4DDC-86E5-A6BCA4600216}" dt="2026-04-12T21:44:09.412" v="659" actId="47"/>
        <pc:sldMkLst>
          <pc:docMk/>
          <pc:sldMk cId="1607430679" sldId="460"/>
        </pc:sldMkLst>
        <pc:spChg chg="add mod">
          <ac:chgData name="Jacob Wyngaard" userId="6181fcd471e98458" providerId="LiveId" clId="{788BA123-62C9-4DDC-86E5-A6BCA4600216}" dt="2026-04-12T20:10:32.687" v="271" actId="1076"/>
          <ac:spMkLst>
            <pc:docMk/>
            <pc:sldMk cId="1607430679" sldId="460"/>
            <ac:spMk id="2" creationId="{8B323376-9C6C-88D9-888F-61FFB85B14E3}"/>
          </ac:spMkLst>
        </pc:spChg>
        <pc:spChg chg="add del mod">
          <ac:chgData name="Jacob Wyngaard" userId="6181fcd471e98458" providerId="LiveId" clId="{788BA123-62C9-4DDC-86E5-A6BCA4600216}" dt="2026-04-12T20:11:03.040" v="276" actId="20577"/>
          <ac:spMkLst>
            <pc:docMk/>
            <pc:sldMk cId="1607430679" sldId="460"/>
            <ac:spMk id="3" creationId="{85094BB9-F5D5-EBA4-9D45-1FA8B0209203}"/>
          </ac:spMkLst>
        </pc:spChg>
        <pc:spChg chg="add mod">
          <ac:chgData name="Jacob Wyngaard" userId="6181fcd471e98458" providerId="LiveId" clId="{788BA123-62C9-4DDC-86E5-A6BCA4600216}" dt="2026-04-12T20:11:12.195" v="281" actId="20577"/>
          <ac:spMkLst>
            <pc:docMk/>
            <pc:sldMk cId="1607430679" sldId="460"/>
            <ac:spMk id="4" creationId="{A41D652B-D165-B0E4-89D4-7E69B8A11411}"/>
          </ac:spMkLst>
        </pc:spChg>
        <pc:spChg chg="add mod">
          <ac:chgData name="Jacob Wyngaard" userId="6181fcd471e98458" providerId="LiveId" clId="{788BA123-62C9-4DDC-86E5-A6BCA4600216}" dt="2026-04-12T20:11:18.993" v="287" actId="20577"/>
          <ac:spMkLst>
            <pc:docMk/>
            <pc:sldMk cId="1607430679" sldId="460"/>
            <ac:spMk id="10" creationId="{1F4D30EA-6247-9B61-4DD2-920D0B6B0849}"/>
          </ac:spMkLst>
        </pc:spChg>
        <pc:spChg chg="add mod">
          <ac:chgData name="Jacob Wyngaard" userId="6181fcd471e98458" providerId="LiveId" clId="{788BA123-62C9-4DDC-86E5-A6BCA4600216}" dt="2026-04-12T20:11:15.708" v="284" actId="20577"/>
          <ac:spMkLst>
            <pc:docMk/>
            <pc:sldMk cId="1607430679" sldId="460"/>
            <ac:spMk id="11" creationId="{2E735909-EBCE-00A8-24F7-5BCCFF784A8C}"/>
          </ac:spMkLst>
        </pc:spChg>
        <pc:spChg chg="add mod">
          <ac:chgData name="Jacob Wyngaard" userId="6181fcd471e98458" providerId="LiveId" clId="{788BA123-62C9-4DDC-86E5-A6BCA4600216}" dt="2026-04-12T20:11:22.450" v="290" actId="20577"/>
          <ac:spMkLst>
            <pc:docMk/>
            <pc:sldMk cId="1607430679" sldId="460"/>
            <ac:spMk id="12" creationId="{92ED627B-3AC1-9CDE-EBFC-7B951F0B036D}"/>
          </ac:spMkLst>
        </pc:spChg>
        <pc:spChg chg="add mod">
          <ac:chgData name="Jacob Wyngaard" userId="6181fcd471e98458" providerId="LiveId" clId="{788BA123-62C9-4DDC-86E5-A6BCA4600216}" dt="2026-04-12T20:15:08.531" v="420" actId="20577"/>
          <ac:spMkLst>
            <pc:docMk/>
            <pc:sldMk cId="1607430679" sldId="460"/>
            <ac:spMk id="13" creationId="{39D9F4FB-732E-B47E-DE91-8B3AB1B5D7F9}"/>
          </ac:spMkLst>
        </pc:spChg>
        <pc:spChg chg="add mod">
          <ac:chgData name="Jacob Wyngaard" userId="6181fcd471e98458" providerId="LiveId" clId="{788BA123-62C9-4DDC-86E5-A6BCA4600216}" dt="2026-04-12T20:15:19.471" v="428" actId="20577"/>
          <ac:spMkLst>
            <pc:docMk/>
            <pc:sldMk cId="1607430679" sldId="460"/>
            <ac:spMk id="17" creationId="{36346F28-A415-4B4E-F226-B84ACE6749CF}"/>
          </ac:spMkLst>
        </pc:spChg>
        <pc:spChg chg="add mod">
          <ac:chgData name="Jacob Wyngaard" userId="6181fcd471e98458" providerId="LiveId" clId="{788BA123-62C9-4DDC-86E5-A6BCA4600216}" dt="2026-04-12T20:15:13.951" v="424" actId="20577"/>
          <ac:spMkLst>
            <pc:docMk/>
            <pc:sldMk cId="1607430679" sldId="460"/>
            <ac:spMk id="18" creationId="{1C656C5C-8B9F-90E0-E47A-604653AC00A3}"/>
          </ac:spMkLst>
        </pc:spChg>
        <pc:spChg chg="add mod">
          <ac:chgData name="Jacob Wyngaard" userId="6181fcd471e98458" providerId="LiveId" clId="{788BA123-62C9-4DDC-86E5-A6BCA4600216}" dt="2026-04-12T20:15:22.232" v="430" actId="20577"/>
          <ac:spMkLst>
            <pc:docMk/>
            <pc:sldMk cId="1607430679" sldId="460"/>
            <ac:spMk id="19" creationId="{BFE1F028-723F-E426-5BCE-A4314A5149AB}"/>
          </ac:spMkLst>
        </pc:spChg>
        <pc:spChg chg="mod">
          <ac:chgData name="Jacob Wyngaard" userId="6181fcd471e98458" providerId="LiveId" clId="{788BA123-62C9-4DDC-86E5-A6BCA4600216}" dt="2026-04-12T20:13:24.362" v="364" actId="20577"/>
          <ac:spMkLst>
            <pc:docMk/>
            <pc:sldMk cId="1607430679" sldId="460"/>
            <ac:spMk id="23" creationId="{8C2B8190-8D3D-C792-351B-0D272E0F16BE}"/>
          </ac:spMkLst>
        </pc:spChg>
        <pc:spChg chg="mod">
          <ac:chgData name="Jacob Wyngaard" userId="6181fcd471e98458" providerId="LiveId" clId="{788BA123-62C9-4DDC-86E5-A6BCA4600216}" dt="2026-04-12T20:13:38.983" v="418" actId="20577"/>
          <ac:spMkLst>
            <pc:docMk/>
            <pc:sldMk cId="1607430679" sldId="460"/>
            <ac:spMk id="24" creationId="{F825748D-A705-2873-3F4A-BC5D81C60D2A}"/>
          </ac:spMkLst>
        </pc:spChg>
        <pc:spChg chg="mod">
          <ac:chgData name="Jacob Wyngaard" userId="6181fcd471e98458" providerId="LiveId" clId="{788BA123-62C9-4DDC-86E5-A6BCA4600216}" dt="2026-04-12T20:07:01.648" v="133" actId="20577"/>
          <ac:spMkLst>
            <pc:docMk/>
            <pc:sldMk cId="1607430679" sldId="460"/>
            <ac:spMk id="27" creationId="{89CAEEBF-BE75-7F8C-9960-8C320A7AC5AC}"/>
          </ac:spMkLst>
        </pc:spChg>
        <pc:spChg chg="mod">
          <ac:chgData name="Jacob Wyngaard" userId="6181fcd471e98458" providerId="LiveId" clId="{788BA123-62C9-4DDC-86E5-A6BCA4600216}" dt="2026-04-12T20:07:07.295" v="134" actId="1076"/>
          <ac:spMkLst>
            <pc:docMk/>
            <pc:sldMk cId="1607430679" sldId="460"/>
            <ac:spMk id="28" creationId="{3E0F0B3A-4021-5EBC-353F-C5522C3FC351}"/>
          </ac:spMkLst>
        </pc:spChg>
        <pc:spChg chg="mod">
          <ac:chgData name="Jacob Wyngaard" userId="6181fcd471e98458" providerId="LiveId" clId="{788BA123-62C9-4DDC-86E5-A6BCA4600216}" dt="2026-04-12T20:07:07.295" v="134" actId="1076"/>
          <ac:spMkLst>
            <pc:docMk/>
            <pc:sldMk cId="1607430679" sldId="460"/>
            <ac:spMk id="29" creationId="{0051BF22-44A4-4B3D-4C25-B2AD7B383F7A}"/>
          </ac:spMkLst>
        </pc:spChg>
        <pc:spChg chg="mod">
          <ac:chgData name="Jacob Wyngaard" userId="6181fcd471e98458" providerId="LiveId" clId="{788BA123-62C9-4DDC-86E5-A6BCA4600216}" dt="2026-04-12T20:10:30.126" v="270" actId="1076"/>
          <ac:spMkLst>
            <pc:docMk/>
            <pc:sldMk cId="1607430679" sldId="460"/>
            <ac:spMk id="30" creationId="{56EE0B20-4A2B-9C03-28DB-20D68497DB11}"/>
          </ac:spMkLst>
        </pc:spChg>
        <pc:spChg chg="mod">
          <ac:chgData name="Jacob Wyngaard" userId="6181fcd471e98458" providerId="LiveId" clId="{788BA123-62C9-4DDC-86E5-A6BCA4600216}" dt="2026-04-12T20:10:30.126" v="270" actId="1076"/>
          <ac:spMkLst>
            <pc:docMk/>
            <pc:sldMk cId="1607430679" sldId="460"/>
            <ac:spMk id="31" creationId="{9307EFAC-EA61-8565-81A2-88C1E4F48F8F}"/>
          </ac:spMkLst>
        </pc:spChg>
      </pc:sldChg>
      <pc:sldChg chg="addSp delSp modSp add mod ord">
        <pc:chgData name="Jacob Wyngaard" userId="6181fcd471e98458" providerId="LiveId" clId="{788BA123-62C9-4DDC-86E5-A6BCA4600216}" dt="2026-04-12T20:32:32.109" v="613"/>
        <pc:sldMkLst>
          <pc:docMk/>
          <pc:sldMk cId="1959057364" sldId="462"/>
        </pc:sldMkLst>
        <pc:spChg chg="mod">
          <ac:chgData name="Jacob Wyngaard" userId="6181fcd471e98458" providerId="LiveId" clId="{788BA123-62C9-4DDC-86E5-A6BCA4600216}" dt="2026-04-12T20:31:09.225" v="589" actId="1076"/>
          <ac:spMkLst>
            <pc:docMk/>
            <pc:sldMk cId="1959057364" sldId="462"/>
            <ac:spMk id="9" creationId="{296175E1-4631-4817-7197-22C3C9A9BC1F}"/>
          </ac:spMkLst>
        </pc:spChg>
        <pc:spChg chg="add mod">
          <ac:chgData name="Jacob Wyngaard" userId="6181fcd471e98458" providerId="LiveId" clId="{788BA123-62C9-4DDC-86E5-A6BCA4600216}" dt="2026-04-12T20:31:39.373" v="610" actId="1076"/>
          <ac:spMkLst>
            <pc:docMk/>
            <pc:sldMk cId="1959057364" sldId="462"/>
            <ac:spMk id="13" creationId="{367FBF6B-9F76-108A-F270-1F461A83CA1C}"/>
          </ac:spMkLst>
        </pc:spChg>
        <pc:spChg chg="mod">
          <ac:chgData name="Jacob Wyngaard" userId="6181fcd471e98458" providerId="LiveId" clId="{788BA123-62C9-4DDC-86E5-A6BCA4600216}" dt="2026-04-12T20:30:06.652" v="510" actId="1076"/>
          <ac:spMkLst>
            <pc:docMk/>
            <pc:sldMk cId="1959057364" sldId="462"/>
            <ac:spMk id="23" creationId="{4D2C97EE-5910-A8AA-9AB3-B9EEFF6339B1}"/>
          </ac:spMkLst>
        </pc:spChg>
        <pc:picChg chg="mod">
          <ac:chgData name="Jacob Wyngaard" userId="6181fcd471e98458" providerId="LiveId" clId="{788BA123-62C9-4DDC-86E5-A6BCA4600216}" dt="2026-04-12T20:24:57.722" v="501" actId="14100"/>
          <ac:picMkLst>
            <pc:docMk/>
            <pc:sldMk cId="1959057364" sldId="462"/>
            <ac:picMk id="7" creationId="{26CB1B4F-48BF-4810-E795-ED1904ED5768}"/>
          </ac:picMkLst>
        </pc:picChg>
        <pc:picChg chg="add mod">
          <ac:chgData name="Jacob Wyngaard" userId="6181fcd471e98458" providerId="LiveId" clId="{788BA123-62C9-4DDC-86E5-A6BCA4600216}" dt="2026-04-12T20:32:23.950" v="611" actId="14826"/>
          <ac:picMkLst>
            <pc:docMk/>
            <pc:sldMk cId="1959057364" sldId="462"/>
            <ac:picMk id="10" creationId="{265B2FC2-184D-0BF9-8115-7564FDC77AF5}"/>
          </ac:picMkLst>
        </pc:picChg>
      </pc:sldChg>
      <pc:sldChg chg="addSp delSp modSp add mod">
        <pc:chgData name="Jacob Wyngaard" userId="6181fcd471e98458" providerId="LiveId" clId="{788BA123-62C9-4DDC-86E5-A6BCA4600216}" dt="2026-04-13T03:33:11.679" v="1903" actId="1076"/>
        <pc:sldMkLst>
          <pc:docMk/>
          <pc:sldMk cId="2121292761" sldId="463"/>
        </pc:sldMkLst>
        <pc:spChg chg="add mod">
          <ac:chgData name="Jacob Wyngaard" userId="6181fcd471e98458" providerId="LiveId" clId="{788BA123-62C9-4DDC-86E5-A6BCA4600216}" dt="2026-04-13T03:31:32.388" v="1712" actId="1076"/>
          <ac:spMkLst>
            <pc:docMk/>
            <pc:sldMk cId="2121292761" sldId="463"/>
            <ac:spMk id="4" creationId="{BCD898AB-C2D0-E512-8F1D-0C2EBEFB7683}"/>
          </ac:spMkLst>
        </pc:spChg>
        <pc:spChg chg="add mod">
          <ac:chgData name="Jacob Wyngaard" userId="6181fcd471e98458" providerId="LiveId" clId="{788BA123-62C9-4DDC-86E5-A6BCA4600216}" dt="2026-04-13T03:33:05.860" v="1902" actId="122"/>
          <ac:spMkLst>
            <pc:docMk/>
            <pc:sldMk cId="2121292761" sldId="463"/>
            <ac:spMk id="5" creationId="{3ABED517-3C68-A4FA-965E-CF5E85D620A5}"/>
          </ac:spMkLst>
        </pc:spChg>
        <pc:spChg chg="mod">
          <ac:chgData name="Jacob Wyngaard" userId="6181fcd471e98458" providerId="LiveId" clId="{788BA123-62C9-4DDC-86E5-A6BCA4600216}" dt="2026-04-13T03:30:09.269" v="1678" actId="20577"/>
          <ac:spMkLst>
            <pc:docMk/>
            <pc:sldMk cId="2121292761" sldId="463"/>
            <ac:spMk id="13" creationId="{EE53E89F-14AD-3C18-13FF-D0E9FA79D4F4}"/>
          </ac:spMkLst>
        </pc:spChg>
        <pc:spChg chg="mod">
          <ac:chgData name="Jacob Wyngaard" userId="6181fcd471e98458" providerId="LiveId" clId="{788BA123-62C9-4DDC-86E5-A6BCA4600216}" dt="2026-04-12T20:34:23.385" v="657" actId="20577"/>
          <ac:spMkLst>
            <pc:docMk/>
            <pc:sldMk cId="2121292761" sldId="463"/>
            <ac:spMk id="23" creationId="{C4171BD1-1E5E-55CE-1155-40E11FBF78B2}"/>
          </ac:spMkLst>
        </pc:spChg>
        <pc:picChg chg="add mod">
          <ac:chgData name="Jacob Wyngaard" userId="6181fcd471e98458" providerId="LiveId" clId="{788BA123-62C9-4DDC-86E5-A6BCA4600216}" dt="2026-04-13T03:33:11.679" v="1903" actId="1076"/>
          <ac:picMkLst>
            <pc:docMk/>
            <pc:sldMk cId="2121292761" sldId="463"/>
            <ac:picMk id="3" creationId="{E5DFDD46-6C9B-1578-F981-7F29120F9351}"/>
          </ac:picMkLst>
        </pc:picChg>
      </pc:sldChg>
      <pc:sldChg chg="delSp modSp add mod">
        <pc:chgData name="Jacob Wyngaard" userId="6181fcd471e98458" providerId="LiveId" clId="{788BA123-62C9-4DDC-86E5-A6BCA4600216}" dt="2026-04-12T22:38:47.722" v="1170" actId="20577"/>
        <pc:sldMkLst>
          <pc:docMk/>
          <pc:sldMk cId="4150287724" sldId="464"/>
        </pc:sldMkLst>
        <pc:spChg chg="mod">
          <ac:chgData name="Jacob Wyngaard" userId="6181fcd471e98458" providerId="LiveId" clId="{788BA123-62C9-4DDC-86E5-A6BCA4600216}" dt="2026-04-12T22:38:47.722" v="1170" actId="20577"/>
          <ac:spMkLst>
            <pc:docMk/>
            <pc:sldMk cId="4150287724" sldId="464"/>
            <ac:spMk id="9" creationId="{F53DD4BA-4259-6581-8ECA-CF28FBF6EFC2}"/>
          </ac:spMkLst>
        </pc:spChg>
        <pc:spChg chg="mod">
          <ac:chgData name="Jacob Wyngaard" userId="6181fcd471e98458" providerId="LiveId" clId="{788BA123-62C9-4DDC-86E5-A6BCA4600216}" dt="2026-04-12T22:01:24.340" v="706" actId="20577"/>
          <ac:spMkLst>
            <pc:docMk/>
            <pc:sldMk cId="4150287724" sldId="464"/>
            <ac:spMk id="23" creationId="{25A08A88-F91C-ABE3-9BB6-ADF8713F1E0D}"/>
          </ac:spMkLst>
        </pc:spChg>
      </pc:sldChg>
      <pc:sldChg chg="delSp modSp add mod">
        <pc:chgData name="Jacob Wyngaard" userId="6181fcd471e98458" providerId="LiveId" clId="{788BA123-62C9-4DDC-86E5-A6BCA4600216}" dt="2026-04-12T23:44:52.790" v="1527" actId="20577"/>
        <pc:sldMkLst>
          <pc:docMk/>
          <pc:sldMk cId="1580473540" sldId="466"/>
        </pc:sldMkLst>
        <pc:spChg chg="mod">
          <ac:chgData name="Jacob Wyngaard" userId="6181fcd471e98458" providerId="LiveId" clId="{788BA123-62C9-4DDC-86E5-A6BCA4600216}" dt="2026-04-12T23:44:52.790" v="1527" actId="20577"/>
          <ac:spMkLst>
            <pc:docMk/>
            <pc:sldMk cId="1580473540" sldId="466"/>
            <ac:spMk id="23" creationId="{6B2CE2A4-2E8A-5DA7-D907-AAA474AABFF7}"/>
          </ac:spMkLst>
        </pc:spChg>
        <pc:cxnChg chg="mod">
          <ac:chgData name="Jacob Wyngaard" userId="6181fcd471e98458" providerId="LiveId" clId="{788BA123-62C9-4DDC-86E5-A6BCA4600216}" dt="2026-04-12T23:44:49.654" v="1526" actId="14100"/>
          <ac:cxnSpMkLst>
            <pc:docMk/>
            <pc:sldMk cId="1580473540" sldId="466"/>
            <ac:cxnSpMk id="31" creationId="{EB7964A6-4E2A-A713-5D4B-238F5F048CF6}"/>
          </ac:cxnSpMkLst>
        </pc:cxnChg>
      </pc:sldChg>
      <pc:sldChg chg="addSp delSp modSp add mod">
        <pc:chgData name="Jacob Wyngaard" userId="6181fcd471e98458" providerId="LiveId" clId="{788BA123-62C9-4DDC-86E5-A6BCA4600216}" dt="2026-04-13T03:48:17.568" v="2040" actId="20577"/>
        <pc:sldMkLst>
          <pc:docMk/>
          <pc:sldMk cId="2963810507" sldId="467"/>
        </pc:sldMkLst>
        <pc:spChg chg="add mod">
          <ac:chgData name="Jacob Wyngaard" userId="6181fcd471e98458" providerId="LiveId" clId="{788BA123-62C9-4DDC-86E5-A6BCA4600216}" dt="2026-04-13T03:47:17.808" v="2008" actId="1076"/>
          <ac:spMkLst>
            <pc:docMk/>
            <pc:sldMk cId="2963810507" sldId="467"/>
            <ac:spMk id="9" creationId="{0DF3AF59-CD7C-B989-35B7-D2504CBCB3EF}"/>
          </ac:spMkLst>
        </pc:spChg>
        <pc:spChg chg="add mod">
          <ac:chgData name="Jacob Wyngaard" userId="6181fcd471e98458" providerId="LiveId" clId="{788BA123-62C9-4DDC-86E5-A6BCA4600216}" dt="2026-04-13T03:47:58.698" v="2030" actId="1076"/>
          <ac:spMkLst>
            <pc:docMk/>
            <pc:sldMk cId="2963810507" sldId="467"/>
            <ac:spMk id="10" creationId="{5D0B5F3A-CE95-BD1B-845E-D32FE18A5F19}"/>
          </ac:spMkLst>
        </pc:spChg>
        <pc:spChg chg="add mod">
          <ac:chgData name="Jacob Wyngaard" userId="6181fcd471e98458" providerId="LiveId" clId="{788BA123-62C9-4DDC-86E5-A6BCA4600216}" dt="2026-04-13T03:47:43.601" v="2028" actId="115"/>
          <ac:spMkLst>
            <pc:docMk/>
            <pc:sldMk cId="2963810507" sldId="467"/>
            <ac:spMk id="12" creationId="{8797F1B4-3AF5-36A8-BFFB-1F3D568A8AB2}"/>
          </ac:spMkLst>
        </pc:spChg>
        <pc:spChg chg="add mod">
          <ac:chgData name="Jacob Wyngaard" userId="6181fcd471e98458" providerId="LiveId" clId="{788BA123-62C9-4DDC-86E5-A6BCA4600216}" dt="2026-04-13T03:48:17.568" v="2040" actId="20577"/>
          <ac:spMkLst>
            <pc:docMk/>
            <pc:sldMk cId="2963810507" sldId="467"/>
            <ac:spMk id="14" creationId="{B115A6A6-549C-9B15-E176-88A53F511CFF}"/>
          </ac:spMkLst>
        </pc:spChg>
        <pc:spChg chg="mod">
          <ac:chgData name="Jacob Wyngaard" userId="6181fcd471e98458" providerId="LiveId" clId="{788BA123-62C9-4DDC-86E5-A6BCA4600216}" dt="2026-04-13T03:33:48.768" v="1951" actId="20577"/>
          <ac:spMkLst>
            <pc:docMk/>
            <pc:sldMk cId="2963810507" sldId="467"/>
            <ac:spMk id="23" creationId="{87219501-883C-0065-CF1E-6AF56CA33495}"/>
          </ac:spMkLst>
        </pc:spChg>
        <pc:picChg chg="add mod">
          <ac:chgData name="Jacob Wyngaard" userId="6181fcd471e98458" providerId="LiveId" clId="{788BA123-62C9-4DDC-86E5-A6BCA4600216}" dt="2026-04-13T03:46:16.857" v="1960" actId="14826"/>
          <ac:picMkLst>
            <pc:docMk/>
            <pc:sldMk cId="2963810507" sldId="467"/>
            <ac:picMk id="7" creationId="{8A031414-E13C-5938-787C-F7ED2487D72F}"/>
          </ac:picMkLst>
        </pc:picChg>
      </pc:sldChg>
      <pc:sldChg chg="delSp modSp add mod ord">
        <pc:chgData name="Jacob Wyngaard" userId="6181fcd471e98458" providerId="LiveId" clId="{788BA123-62C9-4DDC-86E5-A6BCA4600216}" dt="2026-04-13T03:48:52.555" v="2045"/>
        <pc:sldMkLst>
          <pc:docMk/>
          <pc:sldMk cId="83392086" sldId="468"/>
        </pc:sldMkLst>
        <pc:spChg chg="mod">
          <ac:chgData name="Jacob Wyngaard" userId="6181fcd471e98458" providerId="LiveId" clId="{788BA123-62C9-4DDC-86E5-A6BCA4600216}" dt="2026-04-13T03:48:48.112" v="2043" actId="1076"/>
          <ac:spMkLst>
            <pc:docMk/>
            <pc:sldMk cId="83392086" sldId="468"/>
            <ac:spMk id="47" creationId="{EECF86EA-A32D-4947-A699-BA810A74A618}"/>
          </ac:spMkLst>
        </pc:spChg>
        <pc:spChg chg="mod">
          <ac:chgData name="Jacob Wyngaard" userId="6181fcd471e98458" providerId="LiveId" clId="{788BA123-62C9-4DDC-86E5-A6BCA4600216}" dt="2026-04-13T03:48:48.112" v="2043" actId="1076"/>
          <ac:spMkLst>
            <pc:docMk/>
            <pc:sldMk cId="83392086" sldId="468"/>
            <ac:spMk id="48" creationId="{E1C0AC57-AE4B-84D7-27BD-8D94582710AC}"/>
          </ac:spMkLst>
        </pc:spChg>
      </pc:sldChg>
      <pc:sldChg chg="addSp delSp modSp add mod">
        <pc:chgData name="Jacob Wyngaard" userId="6181fcd471e98458" providerId="LiveId" clId="{788BA123-62C9-4DDC-86E5-A6BCA4600216}" dt="2026-04-13T04:12:58.775" v="2395" actId="14826"/>
        <pc:sldMkLst>
          <pc:docMk/>
          <pc:sldMk cId="2900805697" sldId="469"/>
        </pc:sldMkLst>
        <pc:spChg chg="add mod">
          <ac:chgData name="Jacob Wyngaard" userId="6181fcd471e98458" providerId="LiveId" clId="{788BA123-62C9-4DDC-86E5-A6BCA4600216}" dt="2026-04-13T04:12:52.120" v="2394" actId="1076"/>
          <ac:spMkLst>
            <pc:docMk/>
            <pc:sldMk cId="2900805697" sldId="469"/>
            <ac:spMk id="2" creationId="{E8DCE18F-59AF-5D3B-3310-5D3AE9486CED}"/>
          </ac:spMkLst>
        </pc:spChg>
        <pc:spChg chg="mod">
          <ac:chgData name="Jacob Wyngaard" userId="6181fcd471e98458" providerId="LiveId" clId="{788BA123-62C9-4DDC-86E5-A6BCA4600216}" dt="2026-04-13T03:52:22.045" v="2049" actId="20577"/>
          <ac:spMkLst>
            <pc:docMk/>
            <pc:sldMk cId="2900805697" sldId="469"/>
            <ac:spMk id="9" creationId="{80F2EC7E-4AB8-C231-D28A-CD23F49CEE79}"/>
          </ac:spMkLst>
        </pc:spChg>
        <pc:picChg chg="mod">
          <ac:chgData name="Jacob Wyngaard" userId="6181fcd471e98458" providerId="LiveId" clId="{788BA123-62C9-4DDC-86E5-A6BCA4600216}" dt="2026-04-13T04:12:58.775" v="2395" actId="14826"/>
          <ac:picMkLst>
            <pc:docMk/>
            <pc:sldMk cId="2900805697" sldId="469"/>
            <ac:picMk id="7" creationId="{F8D2D72E-CF51-7E65-F84C-D14B46B210E9}"/>
          </ac:picMkLst>
        </pc:picChg>
      </pc:sldChg>
      <pc:sldChg chg="addSp delSp modSp add mod">
        <pc:chgData name="Jacob Wyngaard" userId="6181fcd471e98458" providerId="LiveId" clId="{788BA123-62C9-4DDC-86E5-A6BCA4600216}" dt="2026-04-13T03:57:59.656" v="2254" actId="1076"/>
        <pc:sldMkLst>
          <pc:docMk/>
          <pc:sldMk cId="3574349148" sldId="470"/>
        </pc:sldMkLst>
        <pc:spChg chg="add mod">
          <ac:chgData name="Jacob Wyngaard" userId="6181fcd471e98458" providerId="LiveId" clId="{788BA123-62C9-4DDC-86E5-A6BCA4600216}" dt="2026-04-13T03:53:27" v="2076" actId="207"/>
          <ac:spMkLst>
            <pc:docMk/>
            <pc:sldMk cId="3574349148" sldId="470"/>
            <ac:spMk id="2" creationId="{F6CD186C-1AA3-D8C6-FB9C-B08E48DF9B12}"/>
          </ac:spMkLst>
        </pc:spChg>
        <pc:spChg chg="add mod">
          <ac:chgData name="Jacob Wyngaard" userId="6181fcd471e98458" providerId="LiveId" clId="{788BA123-62C9-4DDC-86E5-A6BCA4600216}" dt="2026-04-13T03:57:24.206" v="2209" actId="122"/>
          <ac:spMkLst>
            <pc:docMk/>
            <pc:sldMk cId="3574349148" sldId="470"/>
            <ac:spMk id="3" creationId="{A4CDD7F7-DFA9-0DAF-4F8E-826198AF940B}"/>
          </ac:spMkLst>
        </pc:spChg>
        <pc:spChg chg="add mod">
          <ac:chgData name="Jacob Wyngaard" userId="6181fcd471e98458" providerId="LiveId" clId="{788BA123-62C9-4DDC-86E5-A6BCA4600216}" dt="2026-04-13T03:57:59.656" v="2254" actId="1076"/>
          <ac:spMkLst>
            <pc:docMk/>
            <pc:sldMk cId="3574349148" sldId="470"/>
            <ac:spMk id="11" creationId="{3EDAAA47-3812-536C-E42A-ECEC9CA8A9DB}"/>
          </ac:spMkLst>
        </pc:spChg>
      </pc:sldChg>
      <pc:sldChg chg="modSp add mod">
        <pc:chgData name="Jacob Wyngaard" userId="6181fcd471e98458" providerId="LiveId" clId="{788BA123-62C9-4DDC-86E5-A6BCA4600216}" dt="2026-04-13T04:15:33.982" v="2397" actId="14826"/>
        <pc:sldMkLst>
          <pc:docMk/>
          <pc:sldMk cId="2005616501" sldId="471"/>
        </pc:sldMkLst>
        <pc:picChg chg="mod">
          <ac:chgData name="Jacob Wyngaard" userId="6181fcd471e98458" providerId="LiveId" clId="{788BA123-62C9-4DDC-86E5-A6BCA4600216}" dt="2026-04-13T04:15:33.982" v="2397" actId="14826"/>
          <ac:picMkLst>
            <pc:docMk/>
            <pc:sldMk cId="2005616501" sldId="471"/>
            <ac:picMk id="7" creationId="{621A68F2-517F-8C1B-F80E-2B61A8E3269A}"/>
          </ac:picMkLst>
        </pc:picChg>
      </pc:sldChg>
      <pc:sldChg chg="modSp mod">
        <pc:chgData name="Jacob Wyngaard" userId="6181fcd471e98458" providerId="LiveId" clId="{788BA123-62C9-4DDC-86E5-A6BCA4600216}" dt="2026-04-15T03:26:34.459" v="2401" actId="20577"/>
        <pc:sldMkLst>
          <pc:docMk/>
          <pc:sldMk cId="1594214690" sldId="483"/>
        </pc:sldMkLst>
        <pc:spChg chg="mod">
          <ac:chgData name="Jacob Wyngaard" userId="6181fcd471e98458" providerId="LiveId" clId="{788BA123-62C9-4DDC-86E5-A6BCA4600216}" dt="2026-04-15T03:26:34.459" v="2401" actId="20577"/>
          <ac:spMkLst>
            <pc:docMk/>
            <pc:sldMk cId="1594214690" sldId="483"/>
            <ac:spMk id="14" creationId="{E1C4DAD6-A58F-3997-D4F3-ACFCF6589691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1EB116-73EE-4936-876D-CA6054346043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62000" y="1111250"/>
            <a:ext cx="5334000" cy="3000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278313"/>
            <a:ext cx="5486400" cy="35020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44550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44550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4C46F5-682E-4C43-810E-48CF7D15B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385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1CE509-36B3-703A-E567-85D5D5767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B80638-2EFC-1837-40BE-ECA32E470B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076955-9FCA-5538-5C0E-56583D6A5B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C56162-16C8-A682-D5C4-7D870D4D27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53129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BC2FD1-45AC-19E0-D9C3-BD395DB34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B94F05-E229-4358-AFD0-E3263403AC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475D9A-A50E-447B-2DF3-7B2881445D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38C389-5F5E-0C8D-7208-3A2CAE3933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87333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F0F90-93B3-D80D-2EE6-5DCF83412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D13C1B-C442-C0B5-96E0-D6E26E51BA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E9355D-B1BF-0112-4153-5175B25F0A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A54ED9-C725-6E5D-6400-0299AE960A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57699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CE79EB-9358-72A2-1815-BAF06AC87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845C49-C28E-95DE-C7C9-DE76622124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2BF651-26A0-513D-C0DD-D16D488680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A174B6-1E9F-59CB-01E8-66200BDD45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21551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EDA06A-9E27-BE7F-746D-D8069BA2CF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42E839-4B08-A832-53A9-B1C5AE47CE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0A74CD-52C3-DF3C-0CF5-A54A3B2D34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F20A12-D374-97E1-C3A3-BD2A6BD744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48422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36A8F-1D08-5D87-D016-64AFE210C6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45325F-E594-4DFC-B69A-1F2F018FF7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81C7AA-1D93-1016-1F12-2B610A3258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559B0D-705B-CF70-35E4-7CE47BFA74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95946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7CCB83-B09D-102D-F72B-6F3695165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039E0E-AADC-933D-78D3-E8C5A5289B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493F75-404C-9EA1-8440-D950A3A659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9C86D6-1F86-CB0D-2C78-243D68968A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78349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3F7AE2-F5A4-2082-473A-B75047A553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31A657-35EF-ABF2-51A6-3B4441BA95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4BB752-E8E2-8E10-3DEA-2C9E2FB4D4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88C82B-3CA0-2FA9-784D-4EEF3FCF2F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467365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7499A0-6E56-D992-0DA1-BC1D33D164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3D26CF-0FF7-D023-679F-512824A297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CB8689-3EDA-D184-816D-5C1CDC04C3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BA206F-53D1-2D68-B553-957B9DB123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723638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AD9545-2F03-824F-5CB3-B3BF273F3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1CB1B9-4E9A-6045-75E3-8103C31E60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9020DB-94C3-FFD3-0949-3F2337A01F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365306-7430-99F6-8061-B19331602F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04969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6ABE36-6F39-7C6C-4A04-AA554222F3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DBB12D-3058-DDD7-F0DA-41B44CB0C3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A84C85-1D14-7DA4-7CAF-D59F3BD759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E89E9A-2198-575F-97ED-B65F9B44E5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498573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480679-7122-9FA0-ADF2-999CC0EBD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7D2251-533A-8807-531B-3266712C29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58FEE5-CED4-E0B7-47B6-8FC0E18D74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A7E958-D6E4-3A3F-8221-52A37DC894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42633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082B7D-418E-C103-E8D8-2A02E47354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4177DF-2041-CEC1-0416-34BAEE7DC8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7FFD3B-48C3-45CD-1BF9-967C59458F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6F5DC2-D26E-0B02-BD36-4EB9595D25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972120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B8D04-B379-A8A2-DC8F-0E73912964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8CB8E3-5294-65F0-CE74-39EAC70E20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8C3837-7D91-0FD0-FE2E-BECB37CFEE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73D499-F7BA-9A96-D4C4-4FA96077A4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43873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A5D64F-362E-5FE2-64F2-99E5BF5100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816E37-A478-555D-8248-A10483C083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6B0157-3C55-7864-0B73-204A2AE3A0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E93F8B-4B69-9B0F-E7FE-55ABF763BF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638177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30D06E-0040-BD35-5411-3A0667EE57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5D3CB0-6593-A2AF-8680-122B40F739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1E9080-C031-3B89-1F73-4CE883B21E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BFDB8B-A278-7FA8-6396-A950C49B71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74981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1073CE-053C-7E8E-6667-18229C25B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A674F4-911C-4A9A-7AB5-6399E3E0E1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F2DCDB-60AC-9F3A-05E5-6CD042B2E3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49D125-3783-A230-0F8D-6E5B946887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275698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1F874D-AFC9-A148-295E-8CD9B3FBCA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42ABD8-FF6C-3B9E-B0E4-37EAED1D3A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83A98B-FB5E-115E-E4C5-2F66F6F1D3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7CAE1C-F4A6-9CDF-35BE-2011686B4D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92583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17282E-E9E0-4BFA-AAE9-A8F67BF7D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28E5D9-6D00-D08C-F101-6F429F134E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A694D7-DFBF-4514-9FFB-E74F830EDF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0A46C3-6B80-874A-1C45-C43A1C3475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114714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7D4AB6-E200-9D54-A750-073D308F89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15D6A8-858B-9050-7757-73C3959ADF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BF6770-9E37-53A5-460E-9E4C64F552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CE3E44-F456-5079-70DF-95217949B4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831354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D8CB50-1760-D7EB-B347-2CB4B6AE57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2A503F-C44C-6A58-4F2E-95530540B4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631DA5-E01B-0FB9-745A-EFDD1746AB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E3C13E-AFBC-4163-9A54-8B4222C58F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00603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3719D8-D5AE-0402-7E15-C843C0DCE6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49384A-ED7B-7B3E-257F-25A8EBD1AD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CCA447-64D9-5E50-AD17-852E9E8665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D05A82-6952-B6FB-F265-DB78438E30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136872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5A03D8-873A-F5EC-650A-4B735BAD5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B2BD0D-193B-65C4-298F-6D48175ED0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741351-5D26-8B80-2936-A9552E069C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80C3EC-18F7-CA7F-2751-679A595E24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779026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63051D-DE35-0086-865A-D5232DE6A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21DF08-0715-524A-B7A8-D1C854649D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56A2D9-EFA9-F65C-A492-52469BBB89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140E4F-2A6A-E168-0732-1DF874A2E6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494809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A8D167-7BAF-8171-3F23-C0F0C41DD5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9EFFC7-5FAE-FDD3-AEF5-6DB0278F29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B07002-7087-EBA4-44B5-B7C54A52F0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2A72D2-5F11-D310-16B3-DB7A71E45A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80074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AD344F-4F03-8C51-6CA3-2B9D372C4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BBE3F6-C7CB-B498-ACE8-F9F8EC47A1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BA668F-4336-C2A1-D24D-F0DEFB5D8E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ADBFD9-451E-0607-68F3-CAC9179155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419235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231BB-3314-CE7A-6CAD-0AF7E5889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FEA528-A385-077E-F7A9-DE9163A31A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44AE94-77C2-384F-4502-7069F85F3E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3C61DD-79C9-651C-0989-9582564134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11176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494F4A-F17A-27C7-C654-FB0AF54C5B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9DCBEE-A916-90C9-0075-7B40E06959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5CB475-3A59-FC1C-FEBC-C09CEAD7D7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4A5451-6521-AB07-E9B7-E3F06697F1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97161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76CDF-F180-A687-D26B-45E1C72830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9A0739-656D-47DB-A2B6-55C2417B1C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B48346-422A-DCEE-BB01-ACD6AB5362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955856-2D60-78B0-419D-66EAE77912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559777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CFD767-B59C-A9D5-B9E5-DD6E3035FB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A99858-777D-B1C4-9DD5-CB40801C36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150100-B160-3F33-A5AC-C406C5FFE9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DE0881-B674-A514-6E04-7FA67396D8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980668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B01026-185F-8DB1-3CB4-4C587349C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BCEE8F-9CEB-CF6F-0018-8A3A57AD3D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35557D-DCDC-2AF7-D9A8-AC2CECEDD1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AF429F-6C3F-715A-B38E-52D982A0FC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11271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2B984-FE13-DC88-1CDE-F27CC3D13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E483C3-88BD-1FA2-B45D-B1991842C4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C78F34-30C7-45C7-967D-848B4AB2D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79173B-7B86-574E-76CC-2A88421C07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71016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1F67DA-EF88-764F-4BB2-90DD369ECA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31CB49-A6FF-5490-06FF-C691E6E108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66D7E6-71BD-58F2-CBF4-E78503AECE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AD95E3-7A82-5D3E-BFDC-1AE7B4748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89A11E-99A9-F23F-4238-A31D781DA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927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F64B2-129B-23A1-2674-8563348AE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87FD9C-0A2E-B601-59FC-3A526EBBCB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6DEFB-358E-B6E9-602E-E50D1A5BA6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9837DC-70E9-4BCE-762A-A3016527F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F871CA-989F-854F-0506-DBC06C396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5937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24B9F-5339-2DC7-EF1C-7ADE66AAF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3F5A0D-A60D-B108-1000-8AB1BEDDEC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FA1A79-101A-F9D5-2D58-008D939400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496FEA-451C-9BD7-FE85-ABE7721EAB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168E22-35AC-C4A7-7DF0-25148A4FDF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2789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78D99-A43C-243B-C4C8-DD6A377ED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34F5C7-3E98-385C-D4CC-79AA9A5761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A97EA5-02FD-3408-9C44-22CA696BEB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A5EB16-71B7-FEF2-D131-1DC6215A0E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5B5499-CE45-E51E-C9F3-B31DCD75C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5EEEB8-6109-294D-EB1A-32BC9A6C5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8452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16EFE-93E5-8BCF-08CB-2CFD45401A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CD2989-0587-FFA8-CA9B-6B1FC28085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AADFDD-D356-34C7-ABB2-12E204D7CC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45A8C9-58F4-D8A2-E078-6C86700EBB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05961E0-F79F-DC8A-8942-3409FF4ACC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CE262B5-71DA-9BC0-4EA2-2B7D366C6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7ED025E-4D61-3485-686F-F7FDC83BCB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1E9E3-1C2A-3967-AB7D-37A593FD19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0994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17C0D-B790-78A5-844C-07DA00A7B1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8B3C7A-A272-8A74-FDB0-FF10B7AF7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EE517F-231E-473E-2A52-0DBD0429B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0E8D7-AEF1-33EF-5C16-F459BB1F5E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5079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A3CB47C-D1EE-D077-3BEF-928DF2122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C751ED4-DC95-A9E0-24B4-C2DCA6CB58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0BDA7-CF32-77AD-D5CE-23B56BC2F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4123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742E5-59E4-6D3E-78BE-A1E0FD169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C9E5C4-4836-AEE1-B05E-74FDAD2EF0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81F0D4-A283-375A-35D9-26B05BFBDA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6B98DC-0C98-0E90-27A7-75B4CAFEE8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F80928-22DB-5761-6D60-267606D08D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FFF7E1-E86C-19C0-0A2C-5A4E7FB38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1305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E0DA3-7875-1508-B11E-26D67ED2C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74211B7-5EEF-8BCE-B12B-6DEA70B8F06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AEC012-F909-E4E6-108A-9A27D6B2EE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00A5A7-09B3-7AD1-786E-53E840446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CA55B-44A9-BB54-0C67-0AFC84A38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D7F222-9F9A-9E7F-90EE-737ADC31C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9572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DB68E4-12C6-EA01-70EB-D1FAC1AF9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1CB90F-6B0E-ACFF-CC12-B1507D46E3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0B0E2F-8C14-7F4B-68F3-EE72E41F1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771C8-4AEB-0EA1-C952-CDA04AAD37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8CEBF8-7B84-5F80-4F7D-AF4F5DBD7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9800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8531484-78AC-FB0F-7630-C4370575FEF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2053D0-EB63-CDF3-BF9D-35E71B339A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2C4B92-42E9-67BF-9B36-EA7CF56773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89637F-4C75-7B24-2A1D-152979DF62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ECF603-77C0-B9F2-A64B-E73520BA8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7997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500D885-ED30-8EA9-7F49-AFA92BBC56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5E0D96-F750-2F67-FAFA-EA3A47809C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AADF68-C2D2-7D96-F604-E6D5948605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9DFCA7-2E84-49E5-A4F2-77D92A699F3D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8578D3-0307-EBF0-53AA-0815083E16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FE9A0A-1B61-6FF9-649F-8F9311932A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1184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5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4.png"/><Relationship Id="rId9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26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12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11" Type="http://schemas.openxmlformats.org/officeDocument/2006/relationships/image" Target="../media/image24.png"/><Relationship Id="rId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27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12" Type="http://schemas.openxmlformats.org/officeDocument/2006/relationships/image" Target="../media/image2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10" Type="http://schemas.openxmlformats.org/officeDocument/2006/relationships/image" Target="../media/image35.png"/><Relationship Id="rId4" Type="http://schemas.openxmlformats.org/officeDocument/2006/relationships/image" Target="../media/image29.png"/><Relationship Id="rId9" Type="http://schemas.openxmlformats.org/officeDocument/2006/relationships/image" Target="../media/image34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13" Type="http://schemas.openxmlformats.org/officeDocument/2006/relationships/image" Target="../media/image46.pn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12" Type="http://schemas.openxmlformats.org/officeDocument/2006/relationships/image" Target="../media/image4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11" Type="http://schemas.openxmlformats.org/officeDocument/2006/relationships/image" Target="../media/image44.png"/><Relationship Id="rId5" Type="http://schemas.openxmlformats.org/officeDocument/2006/relationships/image" Target="../media/image38.png"/><Relationship Id="rId10" Type="http://schemas.openxmlformats.org/officeDocument/2006/relationships/image" Target="../media/image43.png"/><Relationship Id="rId4" Type="http://schemas.openxmlformats.org/officeDocument/2006/relationships/image" Target="../media/image37.png"/><Relationship Id="rId9" Type="http://schemas.openxmlformats.org/officeDocument/2006/relationships/image" Target="../media/image42.png"/><Relationship Id="rId14" Type="http://schemas.openxmlformats.org/officeDocument/2006/relationships/image" Target="../media/image4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Relationship Id="rId9" Type="http://schemas.openxmlformats.org/officeDocument/2006/relationships/image" Target="../media/image6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4.png"/><Relationship Id="rId5" Type="http://schemas.openxmlformats.org/officeDocument/2006/relationships/image" Target="../media/image630.png"/><Relationship Id="rId4" Type="http://schemas.openxmlformats.org/officeDocument/2006/relationships/image" Target="../media/image6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4" Type="http://schemas.openxmlformats.org/officeDocument/2006/relationships/image" Target="../media/image6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4.png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2.png"/><Relationship Id="rId13" Type="http://schemas.openxmlformats.org/officeDocument/2006/relationships/image" Target="../media/image77.png"/><Relationship Id="rId3" Type="http://schemas.openxmlformats.org/officeDocument/2006/relationships/image" Target="../media/image71.png"/><Relationship Id="rId7" Type="http://schemas.openxmlformats.org/officeDocument/2006/relationships/image" Target="../media/image710.png"/><Relationship Id="rId12" Type="http://schemas.openxmlformats.org/officeDocument/2006/relationships/image" Target="../media/image7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00.png"/><Relationship Id="rId11" Type="http://schemas.openxmlformats.org/officeDocument/2006/relationships/image" Target="../media/image75.png"/><Relationship Id="rId5" Type="http://schemas.openxmlformats.org/officeDocument/2006/relationships/image" Target="../media/image690.png"/><Relationship Id="rId15" Type="http://schemas.openxmlformats.org/officeDocument/2006/relationships/image" Target="../media/image79.png"/><Relationship Id="rId10" Type="http://schemas.openxmlformats.org/officeDocument/2006/relationships/image" Target="../media/image74.png"/><Relationship Id="rId4" Type="http://schemas.openxmlformats.org/officeDocument/2006/relationships/image" Target="../media/image680.png"/><Relationship Id="rId9" Type="http://schemas.openxmlformats.org/officeDocument/2006/relationships/image" Target="../media/image73.png"/><Relationship Id="rId14" Type="http://schemas.openxmlformats.org/officeDocument/2006/relationships/image" Target="../media/image78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3.png"/><Relationship Id="rId3" Type="http://schemas.openxmlformats.org/officeDocument/2006/relationships/image" Target="../media/image81.png"/><Relationship Id="rId7" Type="http://schemas.openxmlformats.org/officeDocument/2006/relationships/image" Target="../media/image710.png"/><Relationship Id="rId12" Type="http://schemas.openxmlformats.org/officeDocument/2006/relationships/image" Target="../media/image8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00.png"/><Relationship Id="rId11" Type="http://schemas.openxmlformats.org/officeDocument/2006/relationships/image" Target="../media/image85.png"/><Relationship Id="rId5" Type="http://schemas.openxmlformats.org/officeDocument/2006/relationships/image" Target="../media/image690.png"/><Relationship Id="rId10" Type="http://schemas.openxmlformats.org/officeDocument/2006/relationships/image" Target="../media/image84.png"/><Relationship Id="rId4" Type="http://schemas.openxmlformats.org/officeDocument/2006/relationships/image" Target="../media/image82.png"/><Relationship Id="rId9" Type="http://schemas.openxmlformats.org/officeDocument/2006/relationships/image" Target="../media/image73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1.png"/><Relationship Id="rId3" Type="http://schemas.openxmlformats.org/officeDocument/2006/relationships/image" Target="../media/image87.png"/><Relationship Id="rId7" Type="http://schemas.openxmlformats.org/officeDocument/2006/relationships/image" Target="../media/image9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9.png"/><Relationship Id="rId11" Type="http://schemas.openxmlformats.org/officeDocument/2006/relationships/image" Target="../media/image94.png"/><Relationship Id="rId5" Type="http://schemas.openxmlformats.org/officeDocument/2006/relationships/image" Target="../media/image88.png"/><Relationship Id="rId10" Type="http://schemas.openxmlformats.org/officeDocument/2006/relationships/image" Target="../media/image93.png"/><Relationship Id="rId4" Type="http://schemas.openxmlformats.org/officeDocument/2006/relationships/image" Target="../media/image82.png"/><Relationship Id="rId9" Type="http://schemas.openxmlformats.org/officeDocument/2006/relationships/image" Target="../media/image92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1.png"/><Relationship Id="rId3" Type="http://schemas.openxmlformats.org/officeDocument/2006/relationships/image" Target="../media/image87.png"/><Relationship Id="rId7" Type="http://schemas.openxmlformats.org/officeDocument/2006/relationships/image" Target="../media/image90.png"/><Relationship Id="rId12" Type="http://schemas.openxmlformats.org/officeDocument/2006/relationships/image" Target="../media/image9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9.png"/><Relationship Id="rId11" Type="http://schemas.openxmlformats.org/officeDocument/2006/relationships/image" Target="../media/image94.png"/><Relationship Id="rId5" Type="http://schemas.openxmlformats.org/officeDocument/2006/relationships/image" Target="../media/image88.png"/><Relationship Id="rId10" Type="http://schemas.openxmlformats.org/officeDocument/2006/relationships/image" Target="../media/image93.png"/><Relationship Id="rId4" Type="http://schemas.openxmlformats.org/officeDocument/2006/relationships/image" Target="../media/image82.png"/><Relationship Id="rId9" Type="http://schemas.openxmlformats.org/officeDocument/2006/relationships/image" Target="../media/image9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1.png"/><Relationship Id="rId5" Type="http://schemas.openxmlformats.org/officeDocument/2006/relationships/image" Target="../media/image100.png"/><Relationship Id="rId4" Type="http://schemas.openxmlformats.org/officeDocument/2006/relationships/image" Target="../media/image99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4.png"/><Relationship Id="rId4" Type="http://schemas.openxmlformats.org/officeDocument/2006/relationships/image" Target="../media/image10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7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8EFE3-AECE-0A3E-F708-3B138EC37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72625B0-9C50-5F21-824B-42EEFCC925B0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7517C76-1160-6A2D-B8A6-15DDA1E83A22}"/>
              </a:ext>
            </a:extLst>
          </p:cNvPr>
          <p:cNvSpPr/>
          <p:nvPr/>
        </p:nvSpPr>
        <p:spPr>
          <a:xfrm>
            <a:off x="6095999" y="0"/>
            <a:ext cx="383459" cy="6858000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6DFEDC-5C40-1E05-3C8E-45F902F03177}"/>
              </a:ext>
            </a:extLst>
          </p:cNvPr>
          <p:cNvSpPr txBox="1"/>
          <p:nvPr/>
        </p:nvSpPr>
        <p:spPr>
          <a:xfrm>
            <a:off x="206478" y="2305615"/>
            <a:ext cx="550606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b="1" dirty="0">
                <a:solidFill>
                  <a:schemeClr val="bg1"/>
                </a:solidFill>
              </a:rPr>
              <a:t>Game Theory Nine</a:t>
            </a:r>
            <a:endParaRPr lang="en-US" sz="3600" b="1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411B8F-F3DD-7217-C318-4E4BB0649028}"/>
              </a:ext>
            </a:extLst>
          </p:cNvPr>
          <p:cNvSpPr txBox="1"/>
          <p:nvPr/>
        </p:nvSpPr>
        <p:spPr>
          <a:xfrm>
            <a:off x="294968" y="5998682"/>
            <a:ext cx="55060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Jacob Wyngaard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C27AC2D-996B-CA0D-E7B5-DAA84C8F17A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298" t="18440" r="20217" b="27715"/>
          <a:stretch>
            <a:fillRect/>
          </a:stretch>
        </p:blipFill>
        <p:spPr>
          <a:xfrm>
            <a:off x="6726824" y="1859296"/>
            <a:ext cx="5354950" cy="295474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6BDA09F-627C-8FDA-D7A1-E0E80D1E38CA}"/>
              </a:ext>
            </a:extLst>
          </p:cNvPr>
          <p:cNvSpPr txBox="1"/>
          <p:nvPr/>
        </p:nvSpPr>
        <p:spPr>
          <a:xfrm>
            <a:off x="206477" y="3075056"/>
            <a:ext cx="55060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</a:rPr>
              <a:t>BNN Error Orders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86DC52F-DB46-E6EB-3D90-B7847A7A2EC1}"/>
              </a:ext>
            </a:extLst>
          </p:cNvPr>
          <p:cNvSpPr txBox="1"/>
          <p:nvPr/>
        </p:nvSpPr>
        <p:spPr>
          <a:xfrm>
            <a:off x="206477" y="3598276"/>
            <a:ext cx="55060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</a:rPr>
              <a:t>Continuous Strategy FP</a:t>
            </a:r>
          </a:p>
        </p:txBody>
      </p:sp>
    </p:spTree>
    <p:extLst>
      <p:ext uri="{BB962C8B-B14F-4D97-AF65-F5344CB8AC3E}">
        <p14:creationId xmlns:p14="http://schemas.microsoft.com/office/powerpoint/2010/main" val="6066099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5A7984-F417-A8B3-7FD4-2F80720EE3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277FA10-6C74-ADFA-D4C1-62AA9E313AE1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28E7DEC-16C5-A5B1-C5BF-D39D904822B6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B453855-A821-5963-97E5-90B9E5014546}"/>
              </a:ext>
            </a:extLst>
          </p:cNvPr>
          <p:cNvSpPr txBox="1"/>
          <p:nvPr/>
        </p:nvSpPr>
        <p:spPr>
          <a:xfrm>
            <a:off x="4916" y="378560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Normalizing Payoff Matrices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9DDEB93-FCDF-DA61-35AB-B822B851860D}"/>
              </a:ext>
            </a:extLst>
          </p:cNvPr>
          <p:cNvSpPr txBox="1"/>
          <p:nvPr/>
        </p:nvSpPr>
        <p:spPr>
          <a:xfrm>
            <a:off x="96416" y="1843566"/>
            <a:ext cx="1175961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Nash Equilibrium is preserved under the following transformation of payoff matrices: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94298C4-3398-7253-61B4-59C0F79E5E1D}"/>
                  </a:ext>
                </a:extLst>
              </p:cNvPr>
              <p:cNvSpPr txBox="1"/>
              <p:nvPr/>
            </p:nvSpPr>
            <p:spPr>
              <a:xfrm>
                <a:off x="3429298" y="2437984"/>
                <a:ext cx="5093846" cy="66434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36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3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</m:e>
                        <m:sup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p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⟶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p>
                        <m:sSup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3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</m:e>
                        <m:sup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p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3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3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3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94298C4-3398-7253-61B4-59C0F79E5E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9298" y="2437984"/>
                <a:ext cx="5093846" cy="66434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DC0F8301-C853-35F5-6F89-1E8DD629696D}"/>
              </a:ext>
            </a:extLst>
          </p:cNvPr>
          <p:cNvSpPr txBox="1"/>
          <p:nvPr/>
        </p:nvSpPr>
        <p:spPr>
          <a:xfrm>
            <a:off x="96416" y="3383557"/>
            <a:ext cx="1196742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We can normalize the payoffs of each matrix to the interval [0,1] using the transformation: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55BF0FE-C03C-3E3D-B559-EB8869D0C25C}"/>
                  </a:ext>
                </a:extLst>
              </p:cNvPr>
              <p:cNvSpPr txBox="1"/>
              <p:nvPr/>
            </p:nvSpPr>
            <p:spPr>
              <a:xfrm>
                <a:off x="3429298" y="3977975"/>
                <a:ext cx="5093846" cy="121994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36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3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</m:e>
                        <m:sup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p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⟶</m:t>
                      </m:r>
                      <m:f>
                        <m:fPr>
                          <m:ctrlPr>
                            <a:rPr lang="en-US" sz="3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3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3600" b="0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fName>
                            <m:e>
                              <m:sSup>
                                <m:sSupPr>
                                  <m:ctrlP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3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Π</m:t>
                                  </m:r>
                                </m:e>
                                <m:sup>
                                  <m: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p>
                              </m:sSup>
                            </m:e>
                          </m:func>
                        </m:num>
                        <m:den>
                          <m:func>
                            <m:func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3600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𝑎𝑥</m:t>
                              </m:r>
                            </m:fName>
                            <m:e>
                              <m:sSup>
                                <m:sSupPr>
                                  <m:ctrlP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3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Π</m:t>
                                  </m:r>
                                </m:e>
                                <m:sup>
                                  <m: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p>
                              </m:sSup>
                            </m:e>
                          </m:func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360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fName>
                            <m:e>
                              <m:sSup>
                                <m:sSupPr>
                                  <m:ctrlP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3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Π</m:t>
                                  </m:r>
                                </m:e>
                                <m:sup>
                                  <m: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p>
                              </m:sSup>
                            </m:e>
                          </m:func>
                        </m:den>
                      </m:f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55BF0FE-C03C-3E3D-B559-EB8869D0C2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9298" y="3977975"/>
                <a:ext cx="5093846" cy="121994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90782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E5659-3FE3-AFD6-A701-629F4F985A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ED6BE58-2E2E-1B47-8AD9-2425AC0EEE58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913DF01-CA26-BA52-4502-163446A44B04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589CEA1-9996-0639-2C77-E2DA1C490189}"/>
              </a:ext>
            </a:extLst>
          </p:cNvPr>
          <p:cNvSpPr txBox="1"/>
          <p:nvPr/>
        </p:nvSpPr>
        <p:spPr>
          <a:xfrm>
            <a:off x="4916" y="378560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Why is Normalization Important?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9039FD-2987-4260-913D-CE59555C0487}"/>
              </a:ext>
            </a:extLst>
          </p:cNvPr>
          <p:cNvSpPr txBox="1"/>
          <p:nvPr/>
        </p:nvSpPr>
        <p:spPr>
          <a:xfrm>
            <a:off x="96416" y="1843566"/>
            <a:ext cx="11759611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By transforming our matrices at the start, negative expectation no longer affects our vertex enumeration algorithm or Lemke Howson algorithm!</a:t>
            </a:r>
          </a:p>
          <a:p>
            <a:endParaRPr lang="en-US" sz="2400" dirty="0"/>
          </a:p>
          <a:p>
            <a:r>
              <a:rPr lang="en-US" sz="2400" dirty="0"/>
              <a:t>Consider this example: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FA22FFA-367D-17C7-C92A-E843BFB4E7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0196242"/>
              </p:ext>
            </p:extLst>
          </p:nvPr>
        </p:nvGraphicFramePr>
        <p:xfrm>
          <a:off x="1027124" y="4831772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76CEB40-F67A-43F9-8FB2-E9D313B85D84}"/>
              </a:ext>
            </a:extLst>
          </p:cNvPr>
          <p:cNvSpPr txBox="1"/>
          <p:nvPr/>
        </p:nvSpPr>
        <p:spPr>
          <a:xfrm>
            <a:off x="8389398" y="3765499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2686BC-B26A-3001-E525-FED435503743}"/>
              </a:ext>
            </a:extLst>
          </p:cNvPr>
          <p:cNvSpPr txBox="1"/>
          <p:nvPr/>
        </p:nvSpPr>
        <p:spPr>
          <a:xfrm rot="16200000">
            <a:off x="-631845" y="5352408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B2E90AC-06CA-FB2E-A135-75A59FB89C7C}"/>
              </a:ext>
            </a:extLst>
          </p:cNvPr>
          <p:cNvSpPr txBox="1"/>
          <p:nvPr/>
        </p:nvSpPr>
        <p:spPr>
          <a:xfrm>
            <a:off x="562672" y="4859704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7D52867-5953-B2F0-7C1B-23F9F0EA52B6}"/>
              </a:ext>
            </a:extLst>
          </p:cNvPr>
          <p:cNvSpPr txBox="1"/>
          <p:nvPr/>
        </p:nvSpPr>
        <p:spPr>
          <a:xfrm>
            <a:off x="562672" y="5454418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4E9BC1-B862-690D-0280-796B33E969DA}"/>
              </a:ext>
            </a:extLst>
          </p:cNvPr>
          <p:cNvSpPr txBox="1"/>
          <p:nvPr/>
        </p:nvSpPr>
        <p:spPr>
          <a:xfrm>
            <a:off x="562672" y="608840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C241528-D97E-0CD2-9B07-53AE0BE8093A}"/>
              </a:ext>
            </a:extLst>
          </p:cNvPr>
          <p:cNvSpPr txBox="1"/>
          <p:nvPr/>
        </p:nvSpPr>
        <p:spPr>
          <a:xfrm>
            <a:off x="1567694" y="428062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19B71A8-93BF-1B7D-AF93-32A378323F27}"/>
              </a:ext>
            </a:extLst>
          </p:cNvPr>
          <p:cNvSpPr txBox="1"/>
          <p:nvPr/>
        </p:nvSpPr>
        <p:spPr>
          <a:xfrm>
            <a:off x="3176255" y="427492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410C339-4F31-A93B-4A35-8D9E993D6AAF}"/>
              </a:ext>
            </a:extLst>
          </p:cNvPr>
          <p:cNvSpPr txBox="1"/>
          <p:nvPr/>
        </p:nvSpPr>
        <p:spPr>
          <a:xfrm>
            <a:off x="4572895" y="427492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7D652E8A-8B72-95E3-756A-DA920D35B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7355114"/>
              </p:ext>
            </p:extLst>
          </p:nvPr>
        </p:nvGraphicFramePr>
        <p:xfrm>
          <a:off x="6898440" y="4831772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91A0A45E-4CC0-DC1C-BD07-636609FEFB8B}"/>
              </a:ext>
            </a:extLst>
          </p:cNvPr>
          <p:cNvSpPr txBox="1"/>
          <p:nvPr/>
        </p:nvSpPr>
        <p:spPr>
          <a:xfrm>
            <a:off x="6403560" y="4859704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239ECC4-43C8-DA51-8E6A-7E1C90BED061}"/>
              </a:ext>
            </a:extLst>
          </p:cNvPr>
          <p:cNvSpPr txBox="1"/>
          <p:nvPr/>
        </p:nvSpPr>
        <p:spPr>
          <a:xfrm>
            <a:off x="6403560" y="5454418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6D99576-C675-A454-8B46-4999A8711677}"/>
              </a:ext>
            </a:extLst>
          </p:cNvPr>
          <p:cNvSpPr txBox="1"/>
          <p:nvPr/>
        </p:nvSpPr>
        <p:spPr>
          <a:xfrm>
            <a:off x="6403560" y="608840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5252808-E10E-E8B6-411A-9D02C9D00067}"/>
              </a:ext>
            </a:extLst>
          </p:cNvPr>
          <p:cNvSpPr txBox="1"/>
          <p:nvPr/>
        </p:nvSpPr>
        <p:spPr>
          <a:xfrm>
            <a:off x="7461116" y="429215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53F8D93-7B6C-7350-44DB-D3396BDDBD53}"/>
              </a:ext>
            </a:extLst>
          </p:cNvPr>
          <p:cNvSpPr txBox="1"/>
          <p:nvPr/>
        </p:nvSpPr>
        <p:spPr>
          <a:xfrm>
            <a:off x="9069677" y="4286464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468DB6D-21BA-8122-E067-6C4D9148ED7E}"/>
              </a:ext>
            </a:extLst>
          </p:cNvPr>
          <p:cNvSpPr txBox="1"/>
          <p:nvPr/>
        </p:nvSpPr>
        <p:spPr>
          <a:xfrm>
            <a:off x="10466317" y="4286464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47FB3E3-6D54-FF85-B0F7-E0F00417A181}"/>
              </a:ext>
            </a:extLst>
          </p:cNvPr>
          <p:cNvSpPr txBox="1"/>
          <p:nvPr/>
        </p:nvSpPr>
        <p:spPr>
          <a:xfrm>
            <a:off x="2492515" y="3765499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5B42DDA-45CB-139C-5C35-67A06E6031D5}"/>
              </a:ext>
            </a:extLst>
          </p:cNvPr>
          <p:cNvSpPr txBox="1"/>
          <p:nvPr/>
        </p:nvSpPr>
        <p:spPr>
          <a:xfrm rot="16200000">
            <a:off x="5237345" y="5344646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AA6BF17-DB62-24BE-272F-23E958F7C699}"/>
              </a:ext>
            </a:extLst>
          </p:cNvPr>
          <p:cNvSpPr txBox="1"/>
          <p:nvPr/>
        </p:nvSpPr>
        <p:spPr>
          <a:xfrm>
            <a:off x="1168295" y="3309949"/>
            <a:ext cx="42126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 Payoff Matrix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711E257-8B2D-AD9C-B8B5-77BC620CD681}"/>
              </a:ext>
            </a:extLst>
          </p:cNvPr>
          <p:cNvSpPr txBox="1"/>
          <p:nvPr/>
        </p:nvSpPr>
        <p:spPr>
          <a:xfrm>
            <a:off x="6979160" y="3349416"/>
            <a:ext cx="44142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 Payoff Matrix</a:t>
            </a:r>
          </a:p>
        </p:txBody>
      </p:sp>
    </p:spTree>
    <p:extLst>
      <p:ext uri="{BB962C8B-B14F-4D97-AF65-F5344CB8AC3E}">
        <p14:creationId xmlns:p14="http://schemas.microsoft.com/office/powerpoint/2010/main" val="39008644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AE7F9E-6DD0-2DA5-94EE-809A872A12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7973BAC4-CFE2-8063-2B47-3A90D9AA1519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1CED482-39C2-248A-AB50-7DB100801A07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22A6AB5-B217-17F9-97C9-D9727571DAE9}"/>
              </a:ext>
            </a:extLst>
          </p:cNvPr>
          <p:cNvSpPr txBox="1"/>
          <p:nvPr/>
        </p:nvSpPr>
        <p:spPr>
          <a:xfrm>
            <a:off x="4916" y="378560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Normalization Example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1A4C53F-C479-E382-265B-4C7BBBFBA98D}"/>
              </a:ext>
            </a:extLst>
          </p:cNvPr>
          <p:cNvSpPr txBox="1"/>
          <p:nvPr/>
        </p:nvSpPr>
        <p:spPr>
          <a:xfrm>
            <a:off x="70790" y="1783871"/>
            <a:ext cx="1175961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Normalizing the payoff matrices, we get: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D6636FA0-E47E-A3B4-189D-9E4A1EEAD9F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98826002"/>
                  </p:ext>
                </p:extLst>
              </p:nvPr>
            </p:nvGraphicFramePr>
            <p:xfrm>
              <a:off x="976391" y="3774988"/>
              <a:ext cx="4494981" cy="3017520"/>
            </p:xfrm>
            <a:graphic>
              <a:graphicData uri="http://schemas.openxmlformats.org/drawingml/2006/table">
                <a:tbl>
                  <a:tblPr firstRow="1" bandRow="1">
                    <a:tableStyleId>{9D7B26C5-4107-4FEC-AEDC-1716B250A1EF}</a:tableStyleId>
                  </a:tblPr>
                  <a:tblGrid>
                    <a:gridCol w="1568809">
                      <a:extLst>
                        <a:ext uri="{9D8B030D-6E8A-4147-A177-3AD203B41FA5}">
                          <a16:colId xmlns:a16="http://schemas.microsoft.com/office/drawing/2014/main" val="2856491693"/>
                        </a:ext>
                      </a:extLst>
                    </a:gridCol>
                    <a:gridCol w="1568809">
                      <a:extLst>
                        <a:ext uri="{9D8B030D-6E8A-4147-A177-3AD203B41FA5}">
                          <a16:colId xmlns:a16="http://schemas.microsoft.com/office/drawing/2014/main" val="3227683620"/>
                        </a:ext>
                      </a:extLst>
                    </a:gridCol>
                    <a:gridCol w="1357363">
                      <a:extLst>
                        <a:ext uri="{9D8B030D-6E8A-4147-A177-3AD203B41FA5}">
                          <a16:colId xmlns:a16="http://schemas.microsoft.com/office/drawing/2014/main" val="679163889"/>
                        </a:ext>
                      </a:extLst>
                    </a:gridCol>
                  </a:tblGrid>
                  <a:tr h="1005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num>
                                  <m:den>
                                    <m: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  <m:t>𝟖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1" dirty="0">
                              <a:latin typeface="+mn-lt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num>
                                  <m:den>
                                    <m: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US" sz="2800" b="1" dirty="0">
                            <a:latin typeface="+mn-lt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205908354"/>
                      </a:ext>
                    </a:extLst>
                  </a:tr>
                  <a:tr h="1005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num>
                                  <m:den>
                                    <m: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US" sz="2800" b="1" dirty="0">
                            <a:latin typeface="+mn-lt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num>
                                  <m:den>
                                    <m: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  <m:t>𝟖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US" sz="2800" b="1" dirty="0">
                            <a:latin typeface="+mn-lt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1" dirty="0">
                              <a:latin typeface="+mn-lt"/>
                            </a:rPr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190083678"/>
                      </a:ext>
                    </a:extLst>
                  </a:tr>
                  <a:tr h="1005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1" dirty="0">
                              <a:latin typeface="+mn-lt"/>
                            </a:rPr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num>
                                  <m:den>
                                    <m: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US" sz="2800" b="1" dirty="0">
                            <a:latin typeface="+mn-lt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num>
                                  <m:den>
                                    <m: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  <m:t>𝟖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US" sz="2800" b="1" dirty="0">
                            <a:latin typeface="+mn-lt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64661684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D6636FA0-E47E-A3B4-189D-9E4A1EEAD9F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98826002"/>
                  </p:ext>
                </p:extLst>
              </p:nvPr>
            </p:nvGraphicFramePr>
            <p:xfrm>
              <a:off x="976391" y="3774988"/>
              <a:ext cx="4494981" cy="3017520"/>
            </p:xfrm>
            <a:graphic>
              <a:graphicData uri="http://schemas.openxmlformats.org/drawingml/2006/table">
                <a:tbl>
                  <a:tblPr firstRow="1" bandRow="1">
                    <a:tableStyleId>{9D7B26C5-4107-4FEC-AEDC-1716B250A1EF}</a:tableStyleId>
                  </a:tblPr>
                  <a:tblGrid>
                    <a:gridCol w="1568809">
                      <a:extLst>
                        <a:ext uri="{9D8B030D-6E8A-4147-A177-3AD203B41FA5}">
                          <a16:colId xmlns:a16="http://schemas.microsoft.com/office/drawing/2014/main" val="2856491693"/>
                        </a:ext>
                      </a:extLst>
                    </a:gridCol>
                    <a:gridCol w="1568809">
                      <a:extLst>
                        <a:ext uri="{9D8B030D-6E8A-4147-A177-3AD203B41FA5}">
                          <a16:colId xmlns:a16="http://schemas.microsoft.com/office/drawing/2014/main" val="3227683620"/>
                        </a:ext>
                      </a:extLst>
                    </a:gridCol>
                    <a:gridCol w="1357363">
                      <a:extLst>
                        <a:ext uri="{9D8B030D-6E8A-4147-A177-3AD203B41FA5}">
                          <a16:colId xmlns:a16="http://schemas.microsoft.com/office/drawing/2014/main" val="679163889"/>
                        </a:ext>
                      </a:extLst>
                    </a:gridCol>
                  </a:tblGrid>
                  <a:tr h="1005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88" t="-606" r="-186822" b="-20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1" dirty="0">
                              <a:latin typeface="+mn-lt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31390" t="-606" r="-897" b="-2018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5908354"/>
                      </a:ext>
                    </a:extLst>
                  </a:tr>
                  <a:tr h="1005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88" t="-100000" r="-186822" b="-10060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778" t="-100000" r="-87549" b="-10060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1" dirty="0">
                              <a:latin typeface="+mn-lt"/>
                            </a:rPr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190083678"/>
                      </a:ext>
                    </a:extLst>
                  </a:tr>
                  <a:tr h="1005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1" dirty="0">
                              <a:latin typeface="+mn-lt"/>
                            </a:rPr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778" t="-201212" r="-87549" b="-121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31390" t="-201212" r="-897" b="-121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4661684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CEC8241D-1C05-FA4C-2BE2-53183218BCDB}"/>
              </a:ext>
            </a:extLst>
          </p:cNvPr>
          <p:cNvSpPr txBox="1"/>
          <p:nvPr/>
        </p:nvSpPr>
        <p:spPr>
          <a:xfrm>
            <a:off x="8518672" y="2724943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581761B-5BB5-2194-487A-9A68BFB73F1E}"/>
              </a:ext>
            </a:extLst>
          </p:cNvPr>
          <p:cNvSpPr txBox="1"/>
          <p:nvPr/>
        </p:nvSpPr>
        <p:spPr>
          <a:xfrm>
            <a:off x="1516961" y="3223838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7590BF7-1C47-7538-9EDF-F8C76B25AA0A}"/>
              </a:ext>
            </a:extLst>
          </p:cNvPr>
          <p:cNvSpPr txBox="1"/>
          <p:nvPr/>
        </p:nvSpPr>
        <p:spPr>
          <a:xfrm>
            <a:off x="3125522" y="321814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96794CE-A10A-FBEC-86E0-A44D7979C1C0}"/>
              </a:ext>
            </a:extLst>
          </p:cNvPr>
          <p:cNvSpPr txBox="1"/>
          <p:nvPr/>
        </p:nvSpPr>
        <p:spPr>
          <a:xfrm>
            <a:off x="4522162" y="321814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A519936-9BCF-86F1-F0D5-825D72FACF33}"/>
              </a:ext>
            </a:extLst>
          </p:cNvPr>
          <p:cNvSpPr txBox="1"/>
          <p:nvPr/>
        </p:nvSpPr>
        <p:spPr>
          <a:xfrm>
            <a:off x="6619557" y="405016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60F711F-6AB6-C526-F064-2CE78B6A1EF9}"/>
              </a:ext>
            </a:extLst>
          </p:cNvPr>
          <p:cNvSpPr txBox="1"/>
          <p:nvPr/>
        </p:nvSpPr>
        <p:spPr>
          <a:xfrm>
            <a:off x="6616234" y="4991360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0FE2652-D90E-8A64-CA38-CCA8C80ED3F9}"/>
              </a:ext>
            </a:extLst>
          </p:cNvPr>
          <p:cNvSpPr txBox="1"/>
          <p:nvPr/>
        </p:nvSpPr>
        <p:spPr>
          <a:xfrm>
            <a:off x="6630320" y="6006991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645C7E-C3E4-619E-A9F6-0408D7F90854}"/>
              </a:ext>
            </a:extLst>
          </p:cNvPr>
          <p:cNvSpPr txBox="1"/>
          <p:nvPr/>
        </p:nvSpPr>
        <p:spPr>
          <a:xfrm>
            <a:off x="7513071" y="323560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497EAF-319F-E3A1-B1B4-F3E51C5029A7}"/>
              </a:ext>
            </a:extLst>
          </p:cNvPr>
          <p:cNvSpPr txBox="1"/>
          <p:nvPr/>
        </p:nvSpPr>
        <p:spPr>
          <a:xfrm>
            <a:off x="9121632" y="322991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75B9147-1666-349B-D88A-C3DFE7ECB381}"/>
              </a:ext>
            </a:extLst>
          </p:cNvPr>
          <p:cNvSpPr txBox="1"/>
          <p:nvPr/>
        </p:nvSpPr>
        <p:spPr>
          <a:xfrm>
            <a:off x="10518272" y="322991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D2CB5FA-7E36-0B8C-FBCA-C953F9D1A21E}"/>
              </a:ext>
            </a:extLst>
          </p:cNvPr>
          <p:cNvSpPr txBox="1"/>
          <p:nvPr/>
        </p:nvSpPr>
        <p:spPr>
          <a:xfrm>
            <a:off x="2484248" y="2726069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797018D-7D54-C633-EC97-C5ED97DA3EBB}"/>
              </a:ext>
            </a:extLst>
          </p:cNvPr>
          <p:cNvSpPr txBox="1"/>
          <p:nvPr/>
        </p:nvSpPr>
        <p:spPr>
          <a:xfrm rot="16200000">
            <a:off x="5399614" y="4850446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FDF27C3-C02D-2439-BAFC-CD220C44367F}"/>
              </a:ext>
            </a:extLst>
          </p:cNvPr>
          <p:cNvSpPr txBox="1"/>
          <p:nvPr/>
        </p:nvSpPr>
        <p:spPr>
          <a:xfrm>
            <a:off x="1168295" y="2237136"/>
            <a:ext cx="42126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 Payoff Matrix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7C096C4-2F04-2E7C-36DB-E8B94390D1CA}"/>
              </a:ext>
            </a:extLst>
          </p:cNvPr>
          <p:cNvSpPr txBox="1"/>
          <p:nvPr/>
        </p:nvSpPr>
        <p:spPr>
          <a:xfrm>
            <a:off x="7094772" y="2245536"/>
            <a:ext cx="44142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 Payoff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CD5CF630-39F1-C4DE-56C4-5C207399AC3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06351736"/>
                  </p:ext>
                </p:extLst>
              </p:nvPr>
            </p:nvGraphicFramePr>
            <p:xfrm>
              <a:off x="7014052" y="3782138"/>
              <a:ext cx="4494981" cy="3017520"/>
            </p:xfrm>
            <a:graphic>
              <a:graphicData uri="http://schemas.openxmlformats.org/drawingml/2006/table">
                <a:tbl>
                  <a:tblPr firstRow="1" bandRow="1">
                    <a:tableStyleId>{9D7B26C5-4107-4FEC-AEDC-1716B250A1EF}</a:tableStyleId>
                  </a:tblPr>
                  <a:tblGrid>
                    <a:gridCol w="1568809">
                      <a:extLst>
                        <a:ext uri="{9D8B030D-6E8A-4147-A177-3AD203B41FA5}">
                          <a16:colId xmlns:a16="http://schemas.microsoft.com/office/drawing/2014/main" val="95871146"/>
                        </a:ext>
                      </a:extLst>
                    </a:gridCol>
                    <a:gridCol w="1568809">
                      <a:extLst>
                        <a:ext uri="{9D8B030D-6E8A-4147-A177-3AD203B41FA5}">
                          <a16:colId xmlns:a16="http://schemas.microsoft.com/office/drawing/2014/main" val="2371220349"/>
                        </a:ext>
                      </a:extLst>
                    </a:gridCol>
                    <a:gridCol w="1357363">
                      <a:extLst>
                        <a:ext uri="{9D8B030D-6E8A-4147-A177-3AD203B41FA5}">
                          <a16:colId xmlns:a16="http://schemas.microsoft.com/office/drawing/2014/main" val="1941749367"/>
                        </a:ext>
                      </a:extLst>
                    </a:gridCol>
                  </a:tblGrid>
                  <a:tr h="1005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num>
                                  <m:den>
                                    <m: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1" dirty="0">
                              <a:latin typeface="+mn-lt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1" i="1" dirty="0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 lang="en-US" sz="2800" b="1" dirty="0">
                            <a:latin typeface="+mn-lt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685500446"/>
                      </a:ext>
                    </a:extLst>
                  </a:tr>
                  <a:tr h="1005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1" i="1" dirty="0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 lang="en-US" sz="2800" b="1" dirty="0">
                            <a:latin typeface="+mn-lt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num>
                                  <m:den>
                                    <m: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US" sz="2800" b="1" dirty="0">
                            <a:latin typeface="+mn-lt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1" dirty="0">
                              <a:latin typeface="+mn-lt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196349880"/>
                      </a:ext>
                    </a:extLst>
                  </a:tr>
                  <a:tr h="1005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1" dirty="0">
                              <a:latin typeface="+mn-lt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1" i="1" dirty="0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 lang="en-US" sz="2800" b="1" dirty="0">
                            <a:latin typeface="+mn-lt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num>
                                  <m:den>
                                    <m: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US" sz="2800" b="1" dirty="0">
                            <a:latin typeface="+mn-lt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52244819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CD5CF630-39F1-C4DE-56C4-5C207399AC3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06351736"/>
                  </p:ext>
                </p:extLst>
              </p:nvPr>
            </p:nvGraphicFramePr>
            <p:xfrm>
              <a:off x="7014052" y="3782138"/>
              <a:ext cx="4494981" cy="3017520"/>
            </p:xfrm>
            <a:graphic>
              <a:graphicData uri="http://schemas.openxmlformats.org/drawingml/2006/table">
                <a:tbl>
                  <a:tblPr firstRow="1" bandRow="1">
                    <a:tableStyleId>{9D7B26C5-4107-4FEC-AEDC-1716B250A1EF}</a:tableStyleId>
                  </a:tblPr>
                  <a:tblGrid>
                    <a:gridCol w="1568809">
                      <a:extLst>
                        <a:ext uri="{9D8B030D-6E8A-4147-A177-3AD203B41FA5}">
                          <a16:colId xmlns:a16="http://schemas.microsoft.com/office/drawing/2014/main" val="95871146"/>
                        </a:ext>
                      </a:extLst>
                    </a:gridCol>
                    <a:gridCol w="1568809">
                      <a:extLst>
                        <a:ext uri="{9D8B030D-6E8A-4147-A177-3AD203B41FA5}">
                          <a16:colId xmlns:a16="http://schemas.microsoft.com/office/drawing/2014/main" val="2371220349"/>
                        </a:ext>
                      </a:extLst>
                    </a:gridCol>
                    <a:gridCol w="1357363">
                      <a:extLst>
                        <a:ext uri="{9D8B030D-6E8A-4147-A177-3AD203B41FA5}">
                          <a16:colId xmlns:a16="http://schemas.microsoft.com/office/drawing/2014/main" val="1941749367"/>
                        </a:ext>
                      </a:extLst>
                    </a:gridCol>
                  </a:tblGrid>
                  <a:tr h="1005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88" t="-606" r="-187209" b="-20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1" dirty="0">
                              <a:latin typeface="+mn-lt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31390" t="-606" r="-1345" b="-2018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85500446"/>
                      </a:ext>
                    </a:extLst>
                  </a:tr>
                  <a:tr h="1005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88" t="-100000" r="-187209" b="-10060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00778" t="-100000" r="-87938" b="-10060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1" dirty="0">
                              <a:latin typeface="+mn-lt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196349880"/>
                      </a:ext>
                    </a:extLst>
                  </a:tr>
                  <a:tr h="1005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1" dirty="0">
                              <a:latin typeface="+mn-lt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00778" t="-201212" r="-87938" b="-121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31390" t="-201212" r="-1345" b="-121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2244819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B043DCAC-3296-B90A-BAAC-A78D0A233424}"/>
              </a:ext>
            </a:extLst>
          </p:cNvPr>
          <p:cNvSpPr txBox="1"/>
          <p:nvPr/>
        </p:nvSpPr>
        <p:spPr>
          <a:xfrm>
            <a:off x="601763" y="401899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D333986-3660-AC2F-C27A-9299DBB47A8D}"/>
              </a:ext>
            </a:extLst>
          </p:cNvPr>
          <p:cNvSpPr txBox="1"/>
          <p:nvPr/>
        </p:nvSpPr>
        <p:spPr>
          <a:xfrm>
            <a:off x="588049" y="5001751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EC0FE77-0EA9-8637-57CF-B5D5446DBE3B}"/>
              </a:ext>
            </a:extLst>
          </p:cNvPr>
          <p:cNvSpPr txBox="1"/>
          <p:nvPr/>
        </p:nvSpPr>
        <p:spPr>
          <a:xfrm>
            <a:off x="591744" y="601738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25421C1-4E7F-1233-E92F-C275060D71EF}"/>
              </a:ext>
            </a:extLst>
          </p:cNvPr>
          <p:cNvSpPr txBox="1"/>
          <p:nvPr/>
        </p:nvSpPr>
        <p:spPr>
          <a:xfrm rot="16200000">
            <a:off x="-635614" y="4809928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</p:spTree>
    <p:extLst>
      <p:ext uri="{BB962C8B-B14F-4D97-AF65-F5344CB8AC3E}">
        <p14:creationId xmlns:p14="http://schemas.microsoft.com/office/powerpoint/2010/main" val="14899854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B333C6-B21B-D77F-C2A3-56456D011C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E1D2850-98E7-96DD-1367-6C0B1A3E2467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DEAC8DA-3933-C1A6-87CB-298399251EFD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5CCF595-582A-1906-D68E-156CE7EFA6F4}"/>
              </a:ext>
            </a:extLst>
          </p:cNvPr>
          <p:cNvSpPr txBox="1"/>
          <p:nvPr/>
        </p:nvSpPr>
        <p:spPr>
          <a:xfrm>
            <a:off x="4916" y="378560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Normalization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F93EDC9-05F0-5226-F20A-9C93C45E6393}"/>
                  </a:ext>
                </a:extLst>
              </p:cNvPr>
              <p:cNvSpPr txBox="1"/>
              <p:nvPr/>
            </p:nvSpPr>
            <p:spPr>
              <a:xfrm>
                <a:off x="70790" y="1783871"/>
                <a:ext cx="596066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This gives us the Lemke-Howson Polytope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F93EDC9-05F0-5226-F20A-9C93C45E63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790" y="1783871"/>
                <a:ext cx="5960669" cy="461665"/>
              </a:xfrm>
              <a:prstGeom prst="rect">
                <a:avLst/>
              </a:prstGeom>
              <a:blipFill>
                <a:blip r:embed="rId3"/>
                <a:stretch>
                  <a:fillRect l="-1638" t="-10667" b="-3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9C0C05B4-974B-15C3-8AE5-CF5C7B512C56}"/>
              </a:ext>
            </a:extLst>
          </p:cNvPr>
          <p:cNvSpPr txBox="1"/>
          <p:nvPr/>
        </p:nvSpPr>
        <p:spPr>
          <a:xfrm>
            <a:off x="8518672" y="2724943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60D8AD2-3380-BF98-C649-696C8444A198}"/>
              </a:ext>
            </a:extLst>
          </p:cNvPr>
          <p:cNvSpPr txBox="1"/>
          <p:nvPr/>
        </p:nvSpPr>
        <p:spPr>
          <a:xfrm>
            <a:off x="6619557" y="405016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2103A34-E852-70F4-BF31-ED4460A8D5A7}"/>
              </a:ext>
            </a:extLst>
          </p:cNvPr>
          <p:cNvSpPr txBox="1"/>
          <p:nvPr/>
        </p:nvSpPr>
        <p:spPr>
          <a:xfrm>
            <a:off x="6616234" y="4991360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D695C56-C691-DD9C-D1B9-0080FADB0C72}"/>
              </a:ext>
            </a:extLst>
          </p:cNvPr>
          <p:cNvSpPr txBox="1"/>
          <p:nvPr/>
        </p:nvSpPr>
        <p:spPr>
          <a:xfrm>
            <a:off x="6630320" y="6006991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D93F086-7291-9A82-6DB8-41506D454E0C}"/>
              </a:ext>
            </a:extLst>
          </p:cNvPr>
          <p:cNvSpPr txBox="1"/>
          <p:nvPr/>
        </p:nvSpPr>
        <p:spPr>
          <a:xfrm>
            <a:off x="7513071" y="323560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3730568-3F19-4074-AACB-7EDD6202C280}"/>
              </a:ext>
            </a:extLst>
          </p:cNvPr>
          <p:cNvSpPr txBox="1"/>
          <p:nvPr/>
        </p:nvSpPr>
        <p:spPr>
          <a:xfrm>
            <a:off x="9121632" y="322991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2CD7E4A-2232-EBAA-5052-BBDFC29C4EF6}"/>
              </a:ext>
            </a:extLst>
          </p:cNvPr>
          <p:cNvSpPr txBox="1"/>
          <p:nvPr/>
        </p:nvSpPr>
        <p:spPr>
          <a:xfrm>
            <a:off x="10518272" y="322991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9F55948-7B55-FF4E-6573-71BF64FC0051}"/>
              </a:ext>
            </a:extLst>
          </p:cNvPr>
          <p:cNvSpPr txBox="1"/>
          <p:nvPr/>
        </p:nvSpPr>
        <p:spPr>
          <a:xfrm rot="16200000">
            <a:off x="5399614" y="4850446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B8041D9-626B-DAEE-40B7-530A0E981EEE}"/>
              </a:ext>
            </a:extLst>
          </p:cNvPr>
          <p:cNvSpPr txBox="1"/>
          <p:nvPr/>
        </p:nvSpPr>
        <p:spPr>
          <a:xfrm>
            <a:off x="7094772" y="2245536"/>
            <a:ext cx="44142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 Payoff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466004FA-B360-D8EC-EF3C-F5E4E3915305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7014052" y="3782138"/>
              <a:ext cx="4494981" cy="3017520"/>
            </p:xfrm>
            <a:graphic>
              <a:graphicData uri="http://schemas.openxmlformats.org/drawingml/2006/table">
                <a:tbl>
                  <a:tblPr firstRow="1" bandRow="1">
                    <a:tableStyleId>{9D7B26C5-4107-4FEC-AEDC-1716B250A1EF}</a:tableStyleId>
                  </a:tblPr>
                  <a:tblGrid>
                    <a:gridCol w="1568809">
                      <a:extLst>
                        <a:ext uri="{9D8B030D-6E8A-4147-A177-3AD203B41FA5}">
                          <a16:colId xmlns:a16="http://schemas.microsoft.com/office/drawing/2014/main" val="95871146"/>
                        </a:ext>
                      </a:extLst>
                    </a:gridCol>
                    <a:gridCol w="1568809">
                      <a:extLst>
                        <a:ext uri="{9D8B030D-6E8A-4147-A177-3AD203B41FA5}">
                          <a16:colId xmlns:a16="http://schemas.microsoft.com/office/drawing/2014/main" val="2371220349"/>
                        </a:ext>
                      </a:extLst>
                    </a:gridCol>
                    <a:gridCol w="1357363">
                      <a:extLst>
                        <a:ext uri="{9D8B030D-6E8A-4147-A177-3AD203B41FA5}">
                          <a16:colId xmlns:a16="http://schemas.microsoft.com/office/drawing/2014/main" val="1941749367"/>
                        </a:ext>
                      </a:extLst>
                    </a:gridCol>
                  </a:tblGrid>
                  <a:tr h="1005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num>
                                  <m:den>
                                    <m: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1" dirty="0">
                              <a:latin typeface="+mn-lt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1" i="1" dirty="0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 lang="en-US" sz="2800" b="1" dirty="0">
                            <a:latin typeface="+mn-lt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685500446"/>
                      </a:ext>
                    </a:extLst>
                  </a:tr>
                  <a:tr h="1005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1" i="1" dirty="0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 lang="en-US" sz="2800" b="1" dirty="0">
                            <a:latin typeface="+mn-lt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num>
                                  <m:den>
                                    <m: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US" sz="2800" b="1" dirty="0">
                            <a:latin typeface="+mn-lt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1" dirty="0">
                              <a:latin typeface="+mn-lt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196349880"/>
                      </a:ext>
                    </a:extLst>
                  </a:tr>
                  <a:tr h="1005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1" dirty="0">
                              <a:latin typeface="+mn-lt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1" i="1" dirty="0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 lang="en-US" sz="2800" b="1" dirty="0">
                            <a:latin typeface="+mn-lt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num>
                                  <m:den>
                                    <m: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US" sz="2800" b="1" dirty="0">
                            <a:latin typeface="+mn-lt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52244819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466004FA-B360-D8EC-EF3C-F5E4E3915305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7014052" y="3782138"/>
              <a:ext cx="4494981" cy="3017520"/>
            </p:xfrm>
            <a:graphic>
              <a:graphicData uri="http://schemas.openxmlformats.org/drawingml/2006/table">
                <a:tbl>
                  <a:tblPr firstRow="1" bandRow="1">
                    <a:tableStyleId>{9D7B26C5-4107-4FEC-AEDC-1716B250A1EF}</a:tableStyleId>
                  </a:tblPr>
                  <a:tblGrid>
                    <a:gridCol w="1568809">
                      <a:extLst>
                        <a:ext uri="{9D8B030D-6E8A-4147-A177-3AD203B41FA5}">
                          <a16:colId xmlns:a16="http://schemas.microsoft.com/office/drawing/2014/main" val="95871146"/>
                        </a:ext>
                      </a:extLst>
                    </a:gridCol>
                    <a:gridCol w="1568809">
                      <a:extLst>
                        <a:ext uri="{9D8B030D-6E8A-4147-A177-3AD203B41FA5}">
                          <a16:colId xmlns:a16="http://schemas.microsoft.com/office/drawing/2014/main" val="2371220349"/>
                        </a:ext>
                      </a:extLst>
                    </a:gridCol>
                    <a:gridCol w="1357363">
                      <a:extLst>
                        <a:ext uri="{9D8B030D-6E8A-4147-A177-3AD203B41FA5}">
                          <a16:colId xmlns:a16="http://schemas.microsoft.com/office/drawing/2014/main" val="1941749367"/>
                        </a:ext>
                      </a:extLst>
                    </a:gridCol>
                  </a:tblGrid>
                  <a:tr h="1005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88" t="-606" r="-187209" b="-20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1" dirty="0">
                              <a:latin typeface="+mn-lt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31390" t="-606" r="-1345" b="-2018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85500446"/>
                      </a:ext>
                    </a:extLst>
                  </a:tr>
                  <a:tr h="1005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88" t="-100000" r="-187209" b="-10060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00778" t="-100000" r="-87938" b="-10060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1" dirty="0">
                              <a:latin typeface="+mn-lt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196349880"/>
                      </a:ext>
                    </a:extLst>
                  </a:tr>
                  <a:tr h="1005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1" dirty="0">
                              <a:latin typeface="+mn-lt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00778" t="-201212" r="-87938" b="-121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31390" t="-201212" r="-1345" b="-121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22448191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05DB226-B4A1-DB71-7293-0BC9D8320D83}"/>
                  </a:ext>
                </a:extLst>
              </p:cNvPr>
              <p:cNvSpPr txBox="1"/>
              <p:nvPr/>
            </p:nvSpPr>
            <p:spPr>
              <a:xfrm>
                <a:off x="-377832" y="2337453"/>
                <a:ext cx="660952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4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05DB226-B4A1-DB71-7293-0BC9D8320D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7832" y="2337453"/>
                <a:ext cx="6609522" cy="461665"/>
              </a:xfrm>
              <a:prstGeom prst="rect">
                <a:avLst/>
              </a:prstGeom>
              <a:blipFill>
                <a:blip r:embed="rId5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1516633-5C4F-B7A1-0A0C-C9D3AA8B4700}"/>
                  </a:ext>
                </a:extLst>
              </p:cNvPr>
              <p:cNvSpPr txBox="1"/>
              <p:nvPr/>
            </p:nvSpPr>
            <p:spPr>
              <a:xfrm>
                <a:off x="365524" y="2898801"/>
                <a:ext cx="327728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Let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1516633-5C4F-B7A1-0A0C-C9D3AA8B47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524" y="2898801"/>
                <a:ext cx="3277289" cy="461665"/>
              </a:xfrm>
              <a:prstGeom prst="rect">
                <a:avLst/>
              </a:prstGeom>
              <a:blipFill>
                <a:blip r:embed="rId6"/>
                <a:stretch>
                  <a:fillRect t="-9333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AF52B89-2C39-58A1-E403-F12F003E602A}"/>
                  </a:ext>
                </a:extLst>
              </p:cNvPr>
              <p:cNvSpPr txBox="1"/>
              <p:nvPr/>
            </p:nvSpPr>
            <p:spPr>
              <a:xfrm>
                <a:off x="365524" y="3448798"/>
                <a:ext cx="3946703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000" dirty="0"/>
                  <a:t> is the polytope bounded by: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AF52B89-2C39-58A1-E403-F12F003E60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524" y="3448798"/>
                <a:ext cx="3946703" cy="400110"/>
              </a:xfrm>
              <a:prstGeom prst="rect">
                <a:avLst/>
              </a:prstGeom>
              <a:blipFill>
                <a:blip r:embed="rId7"/>
                <a:stretch>
                  <a:fillRect t="-7692" b="-29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1CD5227-898C-C15F-4740-E433C937C300}"/>
                  </a:ext>
                </a:extLst>
              </p:cNvPr>
              <p:cNvSpPr txBox="1"/>
              <p:nvPr/>
            </p:nvSpPr>
            <p:spPr>
              <a:xfrm>
                <a:off x="1930859" y="3814687"/>
                <a:ext cx="1370953" cy="5761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b="0" i="1" dirty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0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1CD5227-898C-C15F-4740-E433C937C3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0859" y="3814687"/>
                <a:ext cx="1370953" cy="57618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DC2373F-55FA-CEE2-F431-D46311806935}"/>
                  </a:ext>
                </a:extLst>
              </p:cNvPr>
              <p:cNvSpPr txBox="1"/>
              <p:nvPr/>
            </p:nvSpPr>
            <p:spPr>
              <a:xfrm>
                <a:off x="1994126" y="4415177"/>
                <a:ext cx="1298625" cy="5761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0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DC2373F-55FA-CEE2-F431-D463118069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94126" y="4415177"/>
                <a:ext cx="1298625" cy="576183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5E7D7CA9-48E9-59FA-95BB-9245B29AF08B}"/>
                  </a:ext>
                </a:extLst>
              </p:cNvPr>
              <p:cNvSpPr txBox="1"/>
              <p:nvPr/>
            </p:nvSpPr>
            <p:spPr>
              <a:xfrm>
                <a:off x="1898700" y="5084548"/>
                <a:ext cx="1350113" cy="5761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0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5E7D7CA9-48E9-59FA-95BB-9245B29AF0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98700" y="5084548"/>
                <a:ext cx="1350113" cy="57618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A665A4A-1F80-2823-490B-2A33D77345EB}"/>
                  </a:ext>
                </a:extLst>
              </p:cNvPr>
              <p:cNvSpPr txBox="1"/>
              <p:nvPr/>
            </p:nvSpPr>
            <p:spPr>
              <a:xfrm>
                <a:off x="2505716" y="5735856"/>
                <a:ext cx="730520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≥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A665A4A-1F80-2823-490B-2A33D77345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05716" y="5735856"/>
                <a:ext cx="730520" cy="307777"/>
              </a:xfrm>
              <a:prstGeom prst="rect">
                <a:avLst/>
              </a:prstGeom>
              <a:blipFill>
                <a:blip r:embed="rId11"/>
                <a:stretch>
                  <a:fillRect l="-4167" r="-8333" b="-1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7B5AC79D-A0A5-DF69-33B2-8AD0C982025A}"/>
                  </a:ext>
                </a:extLst>
              </p:cNvPr>
              <p:cNvSpPr txBox="1"/>
              <p:nvPr/>
            </p:nvSpPr>
            <p:spPr>
              <a:xfrm>
                <a:off x="2505716" y="6083502"/>
                <a:ext cx="735138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≥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7B5AC79D-A0A5-DF69-33B2-8AD0C98202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05716" y="6083502"/>
                <a:ext cx="735138" cy="307777"/>
              </a:xfrm>
              <a:prstGeom prst="rect">
                <a:avLst/>
              </a:prstGeom>
              <a:blipFill>
                <a:blip r:embed="rId12"/>
                <a:stretch>
                  <a:fillRect l="-8264" r="-8264" b="-2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683C2899-81B9-707D-64C1-48CB514DB55D}"/>
                  </a:ext>
                </a:extLst>
              </p:cNvPr>
              <p:cNvSpPr txBox="1"/>
              <p:nvPr/>
            </p:nvSpPr>
            <p:spPr>
              <a:xfrm>
                <a:off x="2534609" y="6437877"/>
                <a:ext cx="714298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≥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683C2899-81B9-707D-64C1-48CB514DB5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4609" y="6437877"/>
                <a:ext cx="714298" cy="307777"/>
              </a:xfrm>
              <a:prstGeom prst="rect">
                <a:avLst/>
              </a:prstGeom>
              <a:blipFill>
                <a:blip r:embed="rId13"/>
                <a:stretch>
                  <a:fillRect l="-5128" r="-7692" b="-117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11729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1221B4-6869-6CF5-891C-6BF85E3B0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7DBD324B-8422-3CF8-C0E2-DC70C5F0920D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C6706F4-7596-6B3A-74E6-9536A876A897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37C49E8-CCF4-3E14-ABF8-403CFD2FA7B3}"/>
              </a:ext>
            </a:extLst>
          </p:cNvPr>
          <p:cNvSpPr txBox="1"/>
          <p:nvPr/>
        </p:nvSpPr>
        <p:spPr>
          <a:xfrm>
            <a:off x="4916" y="378560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Normalization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04A878D-9208-701E-E7B0-88CC446C9626}"/>
                  </a:ext>
                </a:extLst>
              </p:cNvPr>
              <p:cNvSpPr txBox="1"/>
              <p:nvPr/>
            </p:nvSpPr>
            <p:spPr>
              <a:xfrm>
                <a:off x="70790" y="1783871"/>
                <a:ext cx="596066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This gives us the Lemke-Howson Polytope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04A878D-9208-701E-E7B0-88CC446C96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790" y="1783871"/>
                <a:ext cx="5960669" cy="461665"/>
              </a:xfrm>
              <a:prstGeom prst="rect">
                <a:avLst/>
              </a:prstGeom>
              <a:blipFill>
                <a:blip r:embed="rId3"/>
                <a:stretch>
                  <a:fillRect l="-1638" t="-10667" b="-3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823CC20-DA71-6F67-416A-DF3C4C7B8CB4}"/>
                  </a:ext>
                </a:extLst>
              </p:cNvPr>
              <p:cNvSpPr txBox="1"/>
              <p:nvPr/>
            </p:nvSpPr>
            <p:spPr>
              <a:xfrm>
                <a:off x="-377832" y="2337453"/>
                <a:ext cx="660952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4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823CC20-DA71-6F67-416A-DF3C4C7B8C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7832" y="2337453"/>
                <a:ext cx="6609522" cy="461665"/>
              </a:xfrm>
              <a:prstGeom prst="rect">
                <a:avLst/>
              </a:prstGeom>
              <a:blipFill>
                <a:blip r:embed="rId4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3648C57-93E2-309E-FDFB-065BD6B635D3}"/>
                  </a:ext>
                </a:extLst>
              </p:cNvPr>
              <p:cNvSpPr txBox="1"/>
              <p:nvPr/>
            </p:nvSpPr>
            <p:spPr>
              <a:xfrm>
                <a:off x="365524" y="2898801"/>
                <a:ext cx="327728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Let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3648C57-93E2-309E-FDFB-065BD6B635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524" y="2898801"/>
                <a:ext cx="3277289" cy="461665"/>
              </a:xfrm>
              <a:prstGeom prst="rect">
                <a:avLst/>
              </a:prstGeom>
              <a:blipFill>
                <a:blip r:embed="rId5"/>
                <a:stretch>
                  <a:fillRect t="-9333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C32D06A-0AF4-AA7B-2CED-3292AB3C9C08}"/>
                  </a:ext>
                </a:extLst>
              </p:cNvPr>
              <p:cNvSpPr txBox="1"/>
              <p:nvPr/>
            </p:nvSpPr>
            <p:spPr>
              <a:xfrm>
                <a:off x="365524" y="3448798"/>
                <a:ext cx="3946703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000" dirty="0"/>
                  <a:t> is the polytope bounded by: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C32D06A-0AF4-AA7B-2CED-3292AB3C9C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524" y="3448798"/>
                <a:ext cx="3946703" cy="400110"/>
              </a:xfrm>
              <a:prstGeom prst="rect">
                <a:avLst/>
              </a:prstGeom>
              <a:blipFill>
                <a:blip r:embed="rId6"/>
                <a:stretch>
                  <a:fillRect t="-7692" b="-29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9C5C40C-5229-05C9-2BC4-1FE32BACEFA5}"/>
                  </a:ext>
                </a:extLst>
              </p:cNvPr>
              <p:cNvSpPr txBox="1"/>
              <p:nvPr/>
            </p:nvSpPr>
            <p:spPr>
              <a:xfrm>
                <a:off x="1930859" y="3814687"/>
                <a:ext cx="1370953" cy="5761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b="0" i="1" dirty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0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9C5C40C-5229-05C9-2BC4-1FE32BACEF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0859" y="3814687"/>
                <a:ext cx="1370953" cy="57618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4BBC3F0-21FD-3612-1EC8-6683E13B17B8}"/>
                  </a:ext>
                </a:extLst>
              </p:cNvPr>
              <p:cNvSpPr txBox="1"/>
              <p:nvPr/>
            </p:nvSpPr>
            <p:spPr>
              <a:xfrm>
                <a:off x="1994126" y="4415177"/>
                <a:ext cx="1298625" cy="5761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0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4BBC3F0-21FD-3612-1EC8-6683E13B17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94126" y="4415177"/>
                <a:ext cx="1298625" cy="57618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CE40B1D9-9AEF-0D3B-DB6C-F7901C03EA8A}"/>
                  </a:ext>
                </a:extLst>
              </p:cNvPr>
              <p:cNvSpPr txBox="1"/>
              <p:nvPr/>
            </p:nvSpPr>
            <p:spPr>
              <a:xfrm>
                <a:off x="1898700" y="5084548"/>
                <a:ext cx="1350113" cy="5761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0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CE40B1D9-9AEF-0D3B-DB6C-F7901C03EA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98700" y="5084548"/>
                <a:ext cx="1350113" cy="576183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EC368C1F-9D1E-CF58-DB39-ED699F5143F0}"/>
                  </a:ext>
                </a:extLst>
              </p:cNvPr>
              <p:cNvSpPr txBox="1"/>
              <p:nvPr/>
            </p:nvSpPr>
            <p:spPr>
              <a:xfrm>
                <a:off x="2505716" y="5735856"/>
                <a:ext cx="730520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EC368C1F-9D1E-CF58-DB39-ED699F5143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05716" y="5735856"/>
                <a:ext cx="730520" cy="307777"/>
              </a:xfrm>
              <a:prstGeom prst="rect">
                <a:avLst/>
              </a:prstGeom>
              <a:blipFill>
                <a:blip r:embed="rId10"/>
                <a:stretch>
                  <a:fillRect l="-4167" r="-8333" b="-1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2D27E555-C8C1-C835-CBD6-997CBBCE09BD}"/>
                  </a:ext>
                </a:extLst>
              </p:cNvPr>
              <p:cNvSpPr txBox="1"/>
              <p:nvPr/>
            </p:nvSpPr>
            <p:spPr>
              <a:xfrm>
                <a:off x="2505716" y="6083502"/>
                <a:ext cx="735138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2D27E555-C8C1-C835-CBD6-997CBBCE09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05716" y="6083502"/>
                <a:ext cx="735138" cy="307777"/>
              </a:xfrm>
              <a:prstGeom prst="rect">
                <a:avLst/>
              </a:prstGeom>
              <a:blipFill>
                <a:blip r:embed="rId11"/>
                <a:stretch>
                  <a:fillRect l="-8264" r="-8264" b="-2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2DD91925-362E-43E5-8337-3E42A64B2825}"/>
                  </a:ext>
                </a:extLst>
              </p:cNvPr>
              <p:cNvSpPr txBox="1"/>
              <p:nvPr/>
            </p:nvSpPr>
            <p:spPr>
              <a:xfrm>
                <a:off x="2534609" y="6437877"/>
                <a:ext cx="714298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2DD91925-362E-43E5-8337-3E42A64B28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4609" y="6437877"/>
                <a:ext cx="714298" cy="307777"/>
              </a:xfrm>
              <a:prstGeom prst="rect">
                <a:avLst/>
              </a:prstGeom>
              <a:blipFill>
                <a:blip r:embed="rId12"/>
                <a:stretch>
                  <a:fillRect l="-5128" r="-7692" b="-117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9420B3A9-627E-32EF-A354-A06F16E3F272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516" b="6516"/>
          <a:stretch/>
        </p:blipFill>
        <p:spPr>
          <a:xfrm>
            <a:off x="6795655" y="1945085"/>
            <a:ext cx="4890885" cy="4891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57704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CDEEC4-E390-3363-7570-D6D4C2AFEF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C0E66F7-7451-9131-C794-EB85A132673B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7EF95CF-D3AA-A826-10E8-C12C07F61676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62238A6-95B3-BF0A-DDB8-7FE33CFB67E7}"/>
              </a:ext>
            </a:extLst>
          </p:cNvPr>
          <p:cNvSpPr txBox="1"/>
          <p:nvPr/>
        </p:nvSpPr>
        <p:spPr>
          <a:xfrm>
            <a:off x="4916" y="378560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Normalization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BD9D9C79-2205-FDF6-7191-FE914C67E98A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976391" y="3774988"/>
              <a:ext cx="4494981" cy="3017520"/>
            </p:xfrm>
            <a:graphic>
              <a:graphicData uri="http://schemas.openxmlformats.org/drawingml/2006/table">
                <a:tbl>
                  <a:tblPr firstRow="1" bandRow="1">
                    <a:tableStyleId>{9D7B26C5-4107-4FEC-AEDC-1716B250A1EF}</a:tableStyleId>
                  </a:tblPr>
                  <a:tblGrid>
                    <a:gridCol w="1568809">
                      <a:extLst>
                        <a:ext uri="{9D8B030D-6E8A-4147-A177-3AD203B41FA5}">
                          <a16:colId xmlns:a16="http://schemas.microsoft.com/office/drawing/2014/main" val="2856491693"/>
                        </a:ext>
                      </a:extLst>
                    </a:gridCol>
                    <a:gridCol w="1568809">
                      <a:extLst>
                        <a:ext uri="{9D8B030D-6E8A-4147-A177-3AD203B41FA5}">
                          <a16:colId xmlns:a16="http://schemas.microsoft.com/office/drawing/2014/main" val="3227683620"/>
                        </a:ext>
                      </a:extLst>
                    </a:gridCol>
                    <a:gridCol w="1357363">
                      <a:extLst>
                        <a:ext uri="{9D8B030D-6E8A-4147-A177-3AD203B41FA5}">
                          <a16:colId xmlns:a16="http://schemas.microsoft.com/office/drawing/2014/main" val="679163889"/>
                        </a:ext>
                      </a:extLst>
                    </a:gridCol>
                  </a:tblGrid>
                  <a:tr h="1005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num>
                                  <m:den>
                                    <m: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  <m:t>𝟖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1" dirty="0">
                              <a:latin typeface="+mn-lt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num>
                                  <m:den>
                                    <m: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US" sz="2800" b="1" dirty="0">
                            <a:latin typeface="+mn-lt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205908354"/>
                      </a:ext>
                    </a:extLst>
                  </a:tr>
                  <a:tr h="1005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num>
                                  <m:den>
                                    <m: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US" sz="2800" b="1" dirty="0">
                            <a:latin typeface="+mn-lt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num>
                                  <m:den>
                                    <m: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  <m:t>𝟖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US" sz="2800" b="1" dirty="0">
                            <a:latin typeface="+mn-lt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1" dirty="0">
                              <a:latin typeface="+mn-lt"/>
                            </a:rPr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190083678"/>
                      </a:ext>
                    </a:extLst>
                  </a:tr>
                  <a:tr h="1005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1" dirty="0">
                              <a:latin typeface="+mn-lt"/>
                            </a:rPr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num>
                                  <m:den>
                                    <m: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US" sz="2800" b="1" dirty="0">
                            <a:latin typeface="+mn-lt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num>
                                  <m:den>
                                    <m: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  <m:t>𝟖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US" sz="2800" b="1" dirty="0">
                            <a:latin typeface="+mn-lt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64661684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BD9D9C79-2205-FDF6-7191-FE914C67E98A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976391" y="3774988"/>
              <a:ext cx="4494981" cy="3017520"/>
            </p:xfrm>
            <a:graphic>
              <a:graphicData uri="http://schemas.openxmlformats.org/drawingml/2006/table">
                <a:tbl>
                  <a:tblPr firstRow="1" bandRow="1">
                    <a:tableStyleId>{9D7B26C5-4107-4FEC-AEDC-1716B250A1EF}</a:tableStyleId>
                  </a:tblPr>
                  <a:tblGrid>
                    <a:gridCol w="1568809">
                      <a:extLst>
                        <a:ext uri="{9D8B030D-6E8A-4147-A177-3AD203B41FA5}">
                          <a16:colId xmlns:a16="http://schemas.microsoft.com/office/drawing/2014/main" val="2856491693"/>
                        </a:ext>
                      </a:extLst>
                    </a:gridCol>
                    <a:gridCol w="1568809">
                      <a:extLst>
                        <a:ext uri="{9D8B030D-6E8A-4147-A177-3AD203B41FA5}">
                          <a16:colId xmlns:a16="http://schemas.microsoft.com/office/drawing/2014/main" val="3227683620"/>
                        </a:ext>
                      </a:extLst>
                    </a:gridCol>
                    <a:gridCol w="1357363">
                      <a:extLst>
                        <a:ext uri="{9D8B030D-6E8A-4147-A177-3AD203B41FA5}">
                          <a16:colId xmlns:a16="http://schemas.microsoft.com/office/drawing/2014/main" val="679163889"/>
                        </a:ext>
                      </a:extLst>
                    </a:gridCol>
                  </a:tblGrid>
                  <a:tr h="1005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88" t="-606" r="-186822" b="-20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1" dirty="0">
                              <a:latin typeface="+mn-lt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31390" t="-606" r="-897" b="-2018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5908354"/>
                      </a:ext>
                    </a:extLst>
                  </a:tr>
                  <a:tr h="1005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88" t="-100000" r="-186822" b="-10060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778" t="-100000" r="-87549" b="-10060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1" dirty="0">
                              <a:latin typeface="+mn-lt"/>
                            </a:rPr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190083678"/>
                      </a:ext>
                    </a:extLst>
                  </a:tr>
                  <a:tr h="1005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1" dirty="0">
                              <a:latin typeface="+mn-lt"/>
                            </a:rPr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778" t="-201212" r="-87549" b="-121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31390" t="-201212" r="-897" b="-121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4661684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C8808763-DB85-02BC-1EE2-CE4830FB87C5}"/>
              </a:ext>
            </a:extLst>
          </p:cNvPr>
          <p:cNvSpPr txBox="1"/>
          <p:nvPr/>
        </p:nvSpPr>
        <p:spPr>
          <a:xfrm>
            <a:off x="1516961" y="3223838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492F21F-AD86-D7FC-C628-C510B6055F05}"/>
              </a:ext>
            </a:extLst>
          </p:cNvPr>
          <p:cNvSpPr txBox="1"/>
          <p:nvPr/>
        </p:nvSpPr>
        <p:spPr>
          <a:xfrm>
            <a:off x="3125522" y="321814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93CA2B9-9AE7-1B9D-E98C-202075FF35A5}"/>
              </a:ext>
            </a:extLst>
          </p:cNvPr>
          <p:cNvSpPr txBox="1"/>
          <p:nvPr/>
        </p:nvSpPr>
        <p:spPr>
          <a:xfrm>
            <a:off x="4522162" y="321814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1DE7924-2F94-737F-1333-F701D8151143}"/>
              </a:ext>
            </a:extLst>
          </p:cNvPr>
          <p:cNvSpPr txBox="1"/>
          <p:nvPr/>
        </p:nvSpPr>
        <p:spPr>
          <a:xfrm>
            <a:off x="2484248" y="2726069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13E303D-0C84-216A-BC7B-3D15749FA30C}"/>
              </a:ext>
            </a:extLst>
          </p:cNvPr>
          <p:cNvSpPr txBox="1"/>
          <p:nvPr/>
        </p:nvSpPr>
        <p:spPr>
          <a:xfrm>
            <a:off x="1168295" y="2237136"/>
            <a:ext cx="42126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 Payoff Matrix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C1C7360-28DF-D91C-B518-55BE4DA64779}"/>
              </a:ext>
            </a:extLst>
          </p:cNvPr>
          <p:cNvSpPr txBox="1"/>
          <p:nvPr/>
        </p:nvSpPr>
        <p:spPr>
          <a:xfrm>
            <a:off x="601763" y="401899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289B256-7722-D655-DA0F-50D1CAB27875}"/>
              </a:ext>
            </a:extLst>
          </p:cNvPr>
          <p:cNvSpPr txBox="1"/>
          <p:nvPr/>
        </p:nvSpPr>
        <p:spPr>
          <a:xfrm>
            <a:off x="588049" y="5001751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8700434-17E9-D0EB-1B7F-CC0E7B2FE106}"/>
              </a:ext>
            </a:extLst>
          </p:cNvPr>
          <p:cNvSpPr txBox="1"/>
          <p:nvPr/>
        </p:nvSpPr>
        <p:spPr>
          <a:xfrm>
            <a:off x="591744" y="601738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47E748E-2574-6B84-FD5B-3F699BB00EC7}"/>
              </a:ext>
            </a:extLst>
          </p:cNvPr>
          <p:cNvSpPr txBox="1"/>
          <p:nvPr/>
        </p:nvSpPr>
        <p:spPr>
          <a:xfrm rot="16200000">
            <a:off x="-635614" y="4809928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B435737-B4E3-6224-F2E3-EB70DD2CDCCB}"/>
                  </a:ext>
                </a:extLst>
              </p:cNvPr>
              <p:cNvSpPr txBox="1"/>
              <p:nvPr/>
            </p:nvSpPr>
            <p:spPr>
              <a:xfrm>
                <a:off x="6019004" y="1765012"/>
                <a:ext cx="596066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This gives us the Lemke-Howson Polytope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B435737-B4E3-6224-F2E3-EB70DD2CDC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9004" y="1765012"/>
                <a:ext cx="5960669" cy="461665"/>
              </a:xfrm>
              <a:prstGeom prst="rect">
                <a:avLst/>
              </a:prstGeom>
              <a:blipFill>
                <a:blip r:embed="rId4"/>
                <a:stretch>
                  <a:fillRect l="-1534" t="-10667" b="-3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C9838A4-CFB1-5BE4-2B5B-8E94C6557E08}"/>
                  </a:ext>
                </a:extLst>
              </p:cNvPr>
              <p:cNvSpPr txBox="1"/>
              <p:nvPr/>
            </p:nvSpPr>
            <p:spPr>
              <a:xfrm>
                <a:off x="5694577" y="2298690"/>
                <a:ext cx="660952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sSup>
                        <m:sSupPr>
                          <m:ctrl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400" b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C9838A4-CFB1-5BE4-2B5B-8E94C6557E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94577" y="2298690"/>
                <a:ext cx="6609522" cy="461665"/>
              </a:xfrm>
              <a:prstGeom prst="rect">
                <a:avLst/>
              </a:prstGeom>
              <a:blipFill>
                <a:blip r:embed="rId5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B2E918B-891B-A8B3-D528-6B5021BCC542}"/>
                  </a:ext>
                </a:extLst>
              </p:cNvPr>
              <p:cNvSpPr txBox="1"/>
              <p:nvPr/>
            </p:nvSpPr>
            <p:spPr>
              <a:xfrm>
                <a:off x="7812053" y="3792674"/>
                <a:ext cx="1535549" cy="58451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0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B2E918B-891B-A8B3-D528-6B5021BCC5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2053" y="3792674"/>
                <a:ext cx="1535549" cy="58451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36A4414-D399-1034-7B0C-24FDBACAA870}"/>
                  </a:ext>
                </a:extLst>
              </p:cNvPr>
              <p:cNvSpPr txBox="1"/>
              <p:nvPr/>
            </p:nvSpPr>
            <p:spPr>
              <a:xfrm>
                <a:off x="7413162" y="4368857"/>
                <a:ext cx="1934440" cy="58451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0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36A4414-D399-1034-7B0C-24FDBACAA8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3162" y="4368857"/>
                <a:ext cx="1934440" cy="58451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22D84F1-2205-D2F5-6BD8-3C48DDF9AE35}"/>
                  </a:ext>
                </a:extLst>
              </p:cNvPr>
              <p:cNvSpPr txBox="1"/>
              <p:nvPr/>
            </p:nvSpPr>
            <p:spPr>
              <a:xfrm>
                <a:off x="7486710" y="5002007"/>
                <a:ext cx="1934440" cy="58451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20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22D84F1-2205-D2F5-6BD8-3C48DDF9AE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6710" y="5002007"/>
                <a:ext cx="1934440" cy="58451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F104539-19F1-8176-CCE0-0DA9D001330F}"/>
                  </a:ext>
                </a:extLst>
              </p:cNvPr>
              <p:cNvSpPr txBox="1"/>
              <p:nvPr/>
            </p:nvSpPr>
            <p:spPr>
              <a:xfrm>
                <a:off x="8453930" y="5716997"/>
                <a:ext cx="730520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≥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F104539-19F1-8176-CCE0-0DA9D00133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3930" y="5716997"/>
                <a:ext cx="730520" cy="307777"/>
              </a:xfrm>
              <a:prstGeom prst="rect">
                <a:avLst/>
              </a:prstGeom>
              <a:blipFill>
                <a:blip r:embed="rId9"/>
                <a:stretch>
                  <a:fillRect l="-5000" r="-7500" b="-1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3648576-59F3-ABD1-FEE4-1E099FFD3065}"/>
                  </a:ext>
                </a:extLst>
              </p:cNvPr>
              <p:cNvSpPr txBox="1"/>
              <p:nvPr/>
            </p:nvSpPr>
            <p:spPr>
              <a:xfrm>
                <a:off x="8453930" y="6064643"/>
                <a:ext cx="735138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≥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3648576-59F3-ABD1-FEE4-1E099FFD30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3930" y="6064643"/>
                <a:ext cx="735138" cy="307777"/>
              </a:xfrm>
              <a:prstGeom prst="rect">
                <a:avLst/>
              </a:prstGeom>
              <a:blipFill>
                <a:blip r:embed="rId10"/>
                <a:stretch>
                  <a:fillRect l="-8333" r="-8333" b="-2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2DD207D-BC9D-7303-85D6-C8EB660FDA06}"/>
                  </a:ext>
                </a:extLst>
              </p:cNvPr>
              <p:cNvSpPr txBox="1"/>
              <p:nvPr/>
            </p:nvSpPr>
            <p:spPr>
              <a:xfrm>
                <a:off x="6696886" y="2814554"/>
                <a:ext cx="327728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Let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2DD207D-BC9D-7303-85D6-C8EB660FDA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6886" y="2814554"/>
                <a:ext cx="3277289" cy="461665"/>
              </a:xfrm>
              <a:prstGeom prst="rect">
                <a:avLst/>
              </a:prstGeom>
              <a:blipFill>
                <a:blip r:embed="rId11"/>
                <a:stretch>
                  <a:fillRect t="-9333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8870ED00-1BC6-F553-295E-C28384AD123E}"/>
                  </a:ext>
                </a:extLst>
              </p:cNvPr>
              <p:cNvSpPr txBox="1"/>
              <p:nvPr/>
            </p:nvSpPr>
            <p:spPr>
              <a:xfrm>
                <a:off x="6696886" y="3364551"/>
                <a:ext cx="3946703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2000" dirty="0"/>
                  <a:t> is the polytope bounded by:</a:t>
                </a: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8870ED00-1BC6-F553-295E-C28384AD12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6886" y="3364551"/>
                <a:ext cx="3946703" cy="400110"/>
              </a:xfrm>
              <a:prstGeom prst="rect">
                <a:avLst/>
              </a:prstGeom>
              <a:blipFill>
                <a:blip r:embed="rId12"/>
                <a:stretch>
                  <a:fillRect t="-7576" r="-309" b="-272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21ED365D-F612-FE9E-E61E-38A4B60B4C1E}"/>
                  </a:ext>
                </a:extLst>
              </p:cNvPr>
              <p:cNvSpPr txBox="1"/>
              <p:nvPr/>
            </p:nvSpPr>
            <p:spPr>
              <a:xfrm>
                <a:off x="8482961" y="6414787"/>
                <a:ext cx="714298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≥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21ED365D-F612-FE9E-E61E-38A4B60B4C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82961" y="6414787"/>
                <a:ext cx="714298" cy="307777"/>
              </a:xfrm>
              <a:prstGeom prst="rect">
                <a:avLst/>
              </a:prstGeom>
              <a:blipFill>
                <a:blip r:embed="rId13"/>
                <a:stretch>
                  <a:fillRect l="-5128" r="-7692" b="-117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178484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A67A23-0B04-2E98-613B-EF0CE579E8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53D799C-B089-B756-55B3-9F0EDA952314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0D3B938-EB4B-1921-22B5-72F91DB9E921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5F0144-5B98-7FFB-6AA3-2468AD9EC09D}"/>
              </a:ext>
            </a:extLst>
          </p:cNvPr>
          <p:cNvSpPr txBox="1"/>
          <p:nvPr/>
        </p:nvSpPr>
        <p:spPr>
          <a:xfrm>
            <a:off x="4916" y="378560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Normalization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4F26C1-A46F-DD61-FA1A-901EE17D1626}"/>
                  </a:ext>
                </a:extLst>
              </p:cNvPr>
              <p:cNvSpPr txBox="1"/>
              <p:nvPr/>
            </p:nvSpPr>
            <p:spPr>
              <a:xfrm>
                <a:off x="6019004" y="1765012"/>
                <a:ext cx="596066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This gives us the Lemke-Howson Polytope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4F26C1-A46F-DD61-FA1A-901EE17D16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9004" y="1765012"/>
                <a:ext cx="5960669" cy="461665"/>
              </a:xfrm>
              <a:prstGeom prst="rect">
                <a:avLst/>
              </a:prstGeom>
              <a:blipFill>
                <a:blip r:embed="rId3"/>
                <a:stretch>
                  <a:fillRect l="-1534" t="-10667" b="-3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6B411C5-DF5D-1A28-1CD4-92DDBE82C5C7}"/>
                  </a:ext>
                </a:extLst>
              </p:cNvPr>
              <p:cNvSpPr txBox="1"/>
              <p:nvPr/>
            </p:nvSpPr>
            <p:spPr>
              <a:xfrm>
                <a:off x="5694577" y="2298690"/>
                <a:ext cx="660952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sSup>
                        <m:sSupPr>
                          <m:ctrl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400" b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≥0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6B411C5-DF5D-1A28-1CD4-92DDBE82C5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94577" y="2298690"/>
                <a:ext cx="6609522" cy="461665"/>
              </a:xfrm>
              <a:prstGeom prst="rect">
                <a:avLst/>
              </a:prstGeom>
              <a:blipFill>
                <a:blip r:embed="rId4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A392863-0E57-F239-FB5B-9335A3B191B1}"/>
                  </a:ext>
                </a:extLst>
              </p:cNvPr>
              <p:cNvSpPr txBox="1"/>
              <p:nvPr/>
            </p:nvSpPr>
            <p:spPr>
              <a:xfrm>
                <a:off x="7812053" y="3792674"/>
                <a:ext cx="1535549" cy="58451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0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A392863-0E57-F239-FB5B-9335A3B191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2053" y="3792674"/>
                <a:ext cx="1535549" cy="58451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6D036A3-CE49-1A97-FE3A-5C0F6C24AC7F}"/>
                  </a:ext>
                </a:extLst>
              </p:cNvPr>
              <p:cNvSpPr txBox="1"/>
              <p:nvPr/>
            </p:nvSpPr>
            <p:spPr>
              <a:xfrm>
                <a:off x="7413162" y="4368857"/>
                <a:ext cx="1934440" cy="58451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0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6D036A3-CE49-1A97-FE3A-5C0F6C24AC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3162" y="4368857"/>
                <a:ext cx="1934440" cy="58451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891B474-F389-9EE4-39AB-08ACCCDC7327}"/>
                  </a:ext>
                </a:extLst>
              </p:cNvPr>
              <p:cNvSpPr txBox="1"/>
              <p:nvPr/>
            </p:nvSpPr>
            <p:spPr>
              <a:xfrm>
                <a:off x="7486710" y="5002007"/>
                <a:ext cx="1934440" cy="58451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20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891B474-F389-9EE4-39AB-08ACCCDC73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6710" y="5002007"/>
                <a:ext cx="1934440" cy="58451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4E3059B-2DCB-47C3-EDD2-330F3C29408A}"/>
                  </a:ext>
                </a:extLst>
              </p:cNvPr>
              <p:cNvSpPr txBox="1"/>
              <p:nvPr/>
            </p:nvSpPr>
            <p:spPr>
              <a:xfrm>
                <a:off x="8453930" y="5716997"/>
                <a:ext cx="730520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4E3059B-2DCB-47C3-EDD2-330F3C2940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3930" y="5716997"/>
                <a:ext cx="730520" cy="307777"/>
              </a:xfrm>
              <a:prstGeom prst="rect">
                <a:avLst/>
              </a:prstGeom>
              <a:blipFill>
                <a:blip r:embed="rId8"/>
                <a:stretch>
                  <a:fillRect l="-5000" r="-7500" b="-1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D6FB1063-A3E4-0FA6-FABE-56FB0B17B5A5}"/>
                  </a:ext>
                </a:extLst>
              </p:cNvPr>
              <p:cNvSpPr txBox="1"/>
              <p:nvPr/>
            </p:nvSpPr>
            <p:spPr>
              <a:xfrm>
                <a:off x="8453930" y="6064643"/>
                <a:ext cx="735138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D6FB1063-A3E4-0FA6-FABE-56FB0B17B5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3930" y="6064643"/>
                <a:ext cx="735138" cy="307777"/>
              </a:xfrm>
              <a:prstGeom prst="rect">
                <a:avLst/>
              </a:prstGeom>
              <a:blipFill>
                <a:blip r:embed="rId9"/>
                <a:stretch>
                  <a:fillRect l="-8333" r="-8333" b="-2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43927382-C383-467C-B3BD-626FBAB8F41F}"/>
                  </a:ext>
                </a:extLst>
              </p:cNvPr>
              <p:cNvSpPr txBox="1"/>
              <p:nvPr/>
            </p:nvSpPr>
            <p:spPr>
              <a:xfrm>
                <a:off x="6696886" y="2814554"/>
                <a:ext cx="327728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Let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43927382-C383-467C-B3BD-626FBAB8F4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6886" y="2814554"/>
                <a:ext cx="3277289" cy="461665"/>
              </a:xfrm>
              <a:prstGeom prst="rect">
                <a:avLst/>
              </a:prstGeom>
              <a:blipFill>
                <a:blip r:embed="rId10"/>
                <a:stretch>
                  <a:fillRect t="-9333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8F273A7C-711D-C77B-435C-D0D62906DA01}"/>
                  </a:ext>
                </a:extLst>
              </p:cNvPr>
              <p:cNvSpPr txBox="1"/>
              <p:nvPr/>
            </p:nvSpPr>
            <p:spPr>
              <a:xfrm>
                <a:off x="6696886" y="3364551"/>
                <a:ext cx="3946703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2000" dirty="0"/>
                  <a:t> is the polytope bounded by:</a:t>
                </a: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8F273A7C-711D-C77B-435C-D0D62906DA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6886" y="3364551"/>
                <a:ext cx="3946703" cy="400110"/>
              </a:xfrm>
              <a:prstGeom prst="rect">
                <a:avLst/>
              </a:prstGeom>
              <a:blipFill>
                <a:blip r:embed="rId11"/>
                <a:stretch>
                  <a:fillRect t="-7576" r="-309" b="-272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50DE4C0-76E1-51E4-0D5C-AF05BC0E5A46}"/>
                  </a:ext>
                </a:extLst>
              </p:cNvPr>
              <p:cNvSpPr txBox="1"/>
              <p:nvPr/>
            </p:nvSpPr>
            <p:spPr>
              <a:xfrm>
                <a:off x="8482961" y="6414787"/>
                <a:ext cx="714298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50DE4C0-76E1-51E4-0D5C-AF05BC0E5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82961" y="6414787"/>
                <a:ext cx="714298" cy="307777"/>
              </a:xfrm>
              <a:prstGeom prst="rect">
                <a:avLst/>
              </a:prstGeom>
              <a:blipFill>
                <a:blip r:embed="rId12"/>
                <a:stretch>
                  <a:fillRect l="-5128" r="-7692" b="-117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AD320DA8-1B2A-535A-C362-CAB483918116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72368" y="1862668"/>
            <a:ext cx="4544059" cy="4706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74892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30429-06EA-4342-9154-31D24532B6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0BEC1C5-52A6-45CA-3D25-2BD43ECAAC90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0D01581-26E1-7F35-6E4F-12FB122950C4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F31A1AE-7BD2-73A6-6741-A64C9A93D060}"/>
              </a:ext>
            </a:extLst>
          </p:cNvPr>
          <p:cNvSpPr txBox="1"/>
          <p:nvPr/>
        </p:nvSpPr>
        <p:spPr>
          <a:xfrm>
            <a:off x="272456" y="1784114"/>
            <a:ext cx="105780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Two players each with two strategies, one of which strictly dominates the other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B27C0AC-6A2B-7EC0-9CC4-9237DB27E136}"/>
              </a:ext>
            </a:extLst>
          </p:cNvPr>
          <p:cNvGraphicFramePr>
            <a:graphicFrameLocks noGrp="1"/>
          </p:cNvGraphicFramePr>
          <p:nvPr/>
        </p:nvGraphicFramePr>
        <p:xfrm>
          <a:off x="1240429" y="4275102"/>
          <a:ext cx="4064810" cy="1998138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2032405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2032405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</a:tblGrid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937F747-E51E-DB01-19A8-59B5F405B622}"/>
              </a:ext>
            </a:extLst>
          </p:cNvPr>
          <p:cNvGraphicFramePr>
            <a:graphicFrameLocks noGrp="1"/>
          </p:cNvGraphicFramePr>
          <p:nvPr/>
        </p:nvGraphicFramePr>
        <p:xfrm>
          <a:off x="7244131" y="4275102"/>
          <a:ext cx="4064810" cy="2005122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2032405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2032405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</a:tblGrid>
              <a:tr h="1002561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1002561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A36E1DC-41A7-51AB-07B0-9660142F2DE1}"/>
              </a:ext>
            </a:extLst>
          </p:cNvPr>
          <p:cNvSpPr txBox="1"/>
          <p:nvPr/>
        </p:nvSpPr>
        <p:spPr>
          <a:xfrm rot="16200000">
            <a:off x="5374761" y="4840437"/>
            <a:ext cx="21670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8CE47C-7EA8-582B-84BF-4B6A77B72A85}"/>
              </a:ext>
            </a:extLst>
          </p:cNvPr>
          <p:cNvSpPr txBox="1"/>
          <p:nvPr/>
        </p:nvSpPr>
        <p:spPr>
          <a:xfrm>
            <a:off x="6779679" y="4407097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E9D14D-AD44-88ED-749C-8DD813F9CB55}"/>
              </a:ext>
            </a:extLst>
          </p:cNvPr>
          <p:cNvSpPr txBox="1"/>
          <p:nvPr/>
        </p:nvSpPr>
        <p:spPr>
          <a:xfrm>
            <a:off x="6779679" y="5401716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36AA191-F2F7-1FD1-4B0E-1691EDCD8488}"/>
              </a:ext>
            </a:extLst>
          </p:cNvPr>
          <p:cNvSpPr txBox="1"/>
          <p:nvPr/>
        </p:nvSpPr>
        <p:spPr>
          <a:xfrm>
            <a:off x="8019276" y="3623048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165EE1-2E54-4E28-434B-BCF47C75C048}"/>
              </a:ext>
            </a:extLst>
          </p:cNvPr>
          <p:cNvSpPr txBox="1"/>
          <p:nvPr/>
        </p:nvSpPr>
        <p:spPr>
          <a:xfrm>
            <a:off x="10036392" y="3623048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0811962-5709-81EF-752C-E18CEA15CCAC}"/>
              </a:ext>
            </a:extLst>
          </p:cNvPr>
          <p:cNvSpPr txBox="1"/>
          <p:nvPr/>
        </p:nvSpPr>
        <p:spPr>
          <a:xfrm>
            <a:off x="8251502" y="3147255"/>
            <a:ext cx="21889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840E6F8-5FE0-9B1E-06E6-3F4F0BDCD292}"/>
              </a:ext>
            </a:extLst>
          </p:cNvPr>
          <p:cNvSpPr txBox="1"/>
          <p:nvPr/>
        </p:nvSpPr>
        <p:spPr>
          <a:xfrm>
            <a:off x="541340" y="2636102"/>
            <a:ext cx="53834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Player 1 Payoff Matrix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B63348C-7553-11A1-1902-5900DBDC1144}"/>
              </a:ext>
            </a:extLst>
          </p:cNvPr>
          <p:cNvSpPr txBox="1"/>
          <p:nvPr/>
        </p:nvSpPr>
        <p:spPr>
          <a:xfrm>
            <a:off x="6473676" y="2636101"/>
            <a:ext cx="522880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Player 2 Payoff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D80F9A8-7BE8-B3BA-6AF6-B57C0AAC32A3}"/>
                  </a:ext>
                </a:extLst>
              </p:cNvPr>
              <p:cNvSpPr txBox="1"/>
              <p:nvPr/>
            </p:nvSpPr>
            <p:spPr>
              <a:xfrm>
                <a:off x="1240429" y="6396335"/>
                <a:ext cx="1095157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Player 1 Strategy: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                                 Player 2 Strategy: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D80F9A8-7BE8-B3BA-6AF6-B57C0AAC32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0429" y="6396335"/>
                <a:ext cx="10951571" cy="461665"/>
              </a:xfrm>
              <a:prstGeom prst="rect">
                <a:avLst/>
              </a:prstGeom>
              <a:blipFill>
                <a:blip r:embed="rId3"/>
                <a:stretch>
                  <a:fillRect l="-835"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5C81A61A-23F4-69E8-BE97-222860943562}"/>
              </a:ext>
            </a:extLst>
          </p:cNvPr>
          <p:cNvSpPr txBox="1"/>
          <p:nvPr/>
        </p:nvSpPr>
        <p:spPr>
          <a:xfrm rot="16200000">
            <a:off x="-623369" y="4840437"/>
            <a:ext cx="21670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26F6445-C775-12E3-9C8C-CFC54FBB6F8D}"/>
              </a:ext>
            </a:extLst>
          </p:cNvPr>
          <p:cNvSpPr txBox="1"/>
          <p:nvPr/>
        </p:nvSpPr>
        <p:spPr>
          <a:xfrm>
            <a:off x="781549" y="4407097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5D8E4E3-7E72-9C8B-225E-0F955DFD6C62}"/>
              </a:ext>
            </a:extLst>
          </p:cNvPr>
          <p:cNvSpPr txBox="1"/>
          <p:nvPr/>
        </p:nvSpPr>
        <p:spPr>
          <a:xfrm>
            <a:off x="781549" y="5401716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850A8A5-1210-FD97-CD9E-BB951EB4892F}"/>
              </a:ext>
            </a:extLst>
          </p:cNvPr>
          <p:cNvSpPr txBox="1"/>
          <p:nvPr/>
        </p:nvSpPr>
        <p:spPr>
          <a:xfrm>
            <a:off x="2021146" y="3623048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BB73A46-C627-9C5F-ACFB-30248CB6A73F}"/>
              </a:ext>
            </a:extLst>
          </p:cNvPr>
          <p:cNvSpPr txBox="1"/>
          <p:nvPr/>
        </p:nvSpPr>
        <p:spPr>
          <a:xfrm>
            <a:off x="4038262" y="3623048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3AF824B-0A31-09C6-89D4-100901AF688A}"/>
              </a:ext>
            </a:extLst>
          </p:cNvPr>
          <p:cNvSpPr txBox="1"/>
          <p:nvPr/>
        </p:nvSpPr>
        <p:spPr>
          <a:xfrm>
            <a:off x="2253372" y="3147255"/>
            <a:ext cx="21889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E26C0B3-5C8E-AD3E-E812-D8055D213237}"/>
              </a:ext>
            </a:extLst>
          </p:cNvPr>
          <p:cNvSpPr txBox="1"/>
          <p:nvPr/>
        </p:nvSpPr>
        <p:spPr>
          <a:xfrm>
            <a:off x="1181665" y="335908"/>
            <a:ext cx="100363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RK4 Error Order with Simple BNN System</a:t>
            </a:r>
          </a:p>
        </p:txBody>
      </p:sp>
    </p:spTree>
    <p:extLst>
      <p:ext uri="{BB962C8B-B14F-4D97-AF65-F5344CB8AC3E}">
        <p14:creationId xmlns:p14="http://schemas.microsoft.com/office/powerpoint/2010/main" val="38282137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9950A-F990-B0EB-D23D-99E6D0A62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526A4A6-E1F0-5A52-0776-F53E1B8103F9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3FF786E-2408-27FC-7AF8-5D9EB6EAF80D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8663934-77AC-2BAE-F6DB-EDC8F2C3997C}"/>
              </a:ext>
            </a:extLst>
          </p:cNvPr>
          <p:cNvSpPr txBox="1"/>
          <p:nvPr/>
        </p:nvSpPr>
        <p:spPr>
          <a:xfrm>
            <a:off x="1181665" y="335908"/>
            <a:ext cx="100363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RK4 Error Order with Simple BNN System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84AD516-D057-2C0A-2B30-78A413307370}"/>
                  </a:ext>
                </a:extLst>
              </p:cNvPr>
              <p:cNvSpPr txBox="1"/>
              <p:nvPr/>
            </p:nvSpPr>
            <p:spPr>
              <a:xfrm>
                <a:off x="311727" y="1800914"/>
                <a:ext cx="1006879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The strict dominance of Strategy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2</a:t>
                </a:r>
                <a:r>
                  <a:rPr lang="en-US" sz="2400" dirty="0"/>
                  <a:t> over Strategy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1 </a:t>
                </a:r>
                <a:r>
                  <a:rPr lang="en-US" sz="2400" dirty="0"/>
                  <a:t>gave us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11</m:t>
                        </m:r>
                      </m:sub>
                    </m:sSub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  <m:r>
                      <a:rPr lang="en-US" sz="2400" i="1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84AD516-D057-2C0A-2B30-78A4133073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727" y="1800914"/>
                <a:ext cx="10068791" cy="461665"/>
              </a:xfrm>
              <a:prstGeom prst="rect">
                <a:avLst/>
              </a:prstGeom>
              <a:blipFill>
                <a:blip r:embed="rId3"/>
                <a:stretch>
                  <a:fillRect l="-908"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9652FB3-7E2D-31F4-E6CC-E23443041CD7}"/>
                  </a:ext>
                </a:extLst>
              </p:cNvPr>
              <p:cNvSpPr txBox="1"/>
              <p:nvPr/>
            </p:nvSpPr>
            <p:spPr>
              <a:xfrm>
                <a:off x="311727" y="2352680"/>
                <a:ext cx="1006879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The strict dominance of Strategy </a:t>
                </a:r>
                <a:r>
                  <a:rPr lang="en-US" sz="2400" b="1" dirty="0">
                    <a:solidFill>
                      <a:srgbClr val="064EA1"/>
                    </a:solidFill>
                  </a:rPr>
                  <a:t>B </a:t>
                </a:r>
                <a:r>
                  <a:rPr lang="en-US" sz="2400" dirty="0"/>
                  <a:t>over Strategy </a:t>
                </a:r>
                <a:r>
                  <a:rPr lang="en-US" sz="2400" b="1" dirty="0">
                    <a:solidFill>
                      <a:srgbClr val="064EA1"/>
                    </a:solidFill>
                  </a:rPr>
                  <a:t>A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dirty="0"/>
                  <a:t>gave us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sub>
                    </m:sSub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  <m:r>
                      <a:rPr lang="en-US" sz="2400" i="1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9652FB3-7E2D-31F4-E6CC-E23443041C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727" y="2352680"/>
                <a:ext cx="10068791" cy="461665"/>
              </a:xfrm>
              <a:prstGeom prst="rect">
                <a:avLst/>
              </a:prstGeom>
              <a:blipFill>
                <a:blip r:embed="rId4"/>
                <a:stretch>
                  <a:fillRect l="-908"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8A36191-C130-9738-7012-F5FC545BE192}"/>
                  </a:ext>
                </a:extLst>
              </p:cNvPr>
              <p:cNvSpPr txBox="1"/>
              <p:nvPr/>
            </p:nvSpPr>
            <p:spPr>
              <a:xfrm>
                <a:off x="311727" y="2904446"/>
                <a:ext cx="9725892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Since the dominant strategies always improved the payoff by two, we had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ar-AE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12</m:t>
                        </m:r>
                      </m:sub>
                    </m:sSub>
                    <m:d>
                      <m:dPr>
                        <m:ctrlPr>
                          <a:rPr lang="ar-AE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400" i="1" dirty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  <m:r>
                      <a:rPr lang="ar-AE" sz="24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2400" i="1" dirty="0">
                        <a:latin typeface="Cambria Math" panose="02040503050406030204" pitchFamily="18" charset="0"/>
                      </a:rPr>
                      <m:t>2</m:t>
                    </m:r>
                    <m:sSup>
                      <m:sSupPr>
                        <m:ctrlPr>
                          <a:rPr lang="ar-AE" sz="24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24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ar-AE" sz="2400" i="1" dirty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ar-AE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ar-AE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</m:sub>
                    </m:sSub>
                    <m:d>
                      <m:dPr>
                        <m:ctrlPr>
                          <a:rPr lang="ar-AE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400" i="1" dirty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  <m:r>
                      <a:rPr lang="ar-AE" sz="24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2400" i="1" dirty="0">
                        <a:latin typeface="Cambria Math" panose="02040503050406030204" pitchFamily="18" charset="0"/>
                      </a:rPr>
                      <m:t>2</m:t>
                    </m:r>
                    <m:sSup>
                      <m:sSupPr>
                        <m:ctrlPr>
                          <a:rPr lang="ar-AE" sz="24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24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ar-AE" sz="2400" i="1" dirty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ar-AE" sz="2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8A36191-C130-9738-7012-F5FC545BE1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727" y="2904446"/>
                <a:ext cx="9725892" cy="830997"/>
              </a:xfrm>
              <a:prstGeom prst="rect">
                <a:avLst/>
              </a:prstGeom>
              <a:blipFill>
                <a:blip r:embed="rId5"/>
                <a:stretch>
                  <a:fillRect l="-940" t="-5839" r="-877" b="-160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CB0AD4A-9243-F463-BFF8-ADC0549EB5BA}"/>
                  </a:ext>
                </a:extLst>
              </p:cNvPr>
              <p:cNvSpPr txBox="1"/>
              <p:nvPr/>
            </p:nvSpPr>
            <p:spPr>
              <a:xfrm>
                <a:off x="311727" y="4303428"/>
                <a:ext cx="603711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These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sz="2400" dirty="0"/>
                  <a:t> functions gave us the ODE system:</a:t>
                </a:r>
                <a:endParaRPr lang="ar-AE" sz="24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CB0AD4A-9243-F463-BFF8-ADC0549EB5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727" y="4303428"/>
                <a:ext cx="6037118" cy="461665"/>
              </a:xfrm>
              <a:prstGeom prst="rect">
                <a:avLst/>
              </a:prstGeom>
              <a:blipFill>
                <a:blip r:embed="rId6"/>
                <a:stretch>
                  <a:fillRect l="-1515"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6886391-F36F-1F06-83CF-5383446A3C27}"/>
                  </a:ext>
                </a:extLst>
              </p:cNvPr>
              <p:cNvSpPr txBox="1"/>
              <p:nvPr/>
            </p:nvSpPr>
            <p:spPr>
              <a:xfrm>
                <a:off x="362296" y="4791983"/>
                <a:ext cx="2045030" cy="50180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</m:e>
                      </m:ac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6886391-F36F-1F06-83CF-5383446A3C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2296" y="4791983"/>
                <a:ext cx="2045030" cy="50180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605952A-ED6D-B5A9-0FD4-7CA998F60608}"/>
                  </a:ext>
                </a:extLst>
              </p:cNvPr>
              <p:cNvSpPr txBox="1"/>
              <p:nvPr/>
            </p:nvSpPr>
            <p:spPr>
              <a:xfrm>
                <a:off x="3229147" y="4791983"/>
                <a:ext cx="2045030" cy="5173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</m:e>
                      </m:ac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605952A-ED6D-B5A9-0FD4-7CA998F606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9147" y="4791983"/>
                <a:ext cx="2045030" cy="51738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23307AF3-962E-3FA1-B8D5-CF71B197825F}"/>
                  </a:ext>
                </a:extLst>
              </p:cNvPr>
              <p:cNvSpPr txBox="1"/>
              <p:nvPr/>
            </p:nvSpPr>
            <p:spPr>
              <a:xfrm>
                <a:off x="-403349" y="5333078"/>
                <a:ext cx="3576320" cy="5025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ac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23307AF3-962E-3FA1-B8D5-CF71B19782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03349" y="5333078"/>
                <a:ext cx="3576320" cy="502573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EE9B0AC3-F671-4D00-90ED-9EF38B5407B1}"/>
                  </a:ext>
                </a:extLst>
              </p:cNvPr>
              <p:cNvSpPr txBox="1"/>
              <p:nvPr/>
            </p:nvSpPr>
            <p:spPr>
              <a:xfrm>
                <a:off x="2407326" y="5331068"/>
                <a:ext cx="3657601" cy="5025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ac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EE9B0AC3-F671-4D00-90ED-9EF38B5407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7326" y="5331068"/>
                <a:ext cx="3657601" cy="50257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701841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1013BB-9179-D75E-F80C-796E91347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28050B2-2FD6-C9E9-48BB-08C86DFF7C9F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1F0B51F-B723-31FF-D81D-EF7790AE93B4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C2B8190-8D3D-C792-351B-0D272E0F16BE}"/>
              </a:ext>
            </a:extLst>
          </p:cNvPr>
          <p:cNvSpPr txBox="1"/>
          <p:nvPr/>
        </p:nvSpPr>
        <p:spPr>
          <a:xfrm>
            <a:off x="1077830" y="358128"/>
            <a:ext cx="100363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Actual Solution of BNN System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25748D-A705-2873-3F4A-BC5D81C60D2A}"/>
              </a:ext>
            </a:extLst>
          </p:cNvPr>
          <p:cNvSpPr txBox="1"/>
          <p:nvPr/>
        </p:nvSpPr>
        <p:spPr>
          <a:xfrm>
            <a:off x="311727" y="1800914"/>
            <a:ext cx="100687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I first considered the actual solution of this BNN ODE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9CAEEBF-BE75-7F8C-9960-8C320A7AC5AC}"/>
              </a:ext>
            </a:extLst>
          </p:cNvPr>
          <p:cNvSpPr txBox="1"/>
          <p:nvPr/>
        </p:nvSpPr>
        <p:spPr>
          <a:xfrm>
            <a:off x="311727" y="2415481"/>
            <a:ext cx="603711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The ODE system:</a:t>
            </a:r>
            <a:endParaRPr lang="ar-AE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E0F0B3A-4021-5EBC-353F-C5522C3FC351}"/>
                  </a:ext>
                </a:extLst>
              </p:cNvPr>
              <p:cNvSpPr txBox="1"/>
              <p:nvPr/>
            </p:nvSpPr>
            <p:spPr>
              <a:xfrm>
                <a:off x="833933" y="2877146"/>
                <a:ext cx="2045030" cy="50180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</m:e>
                      </m:ac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E0F0B3A-4021-5EBC-353F-C5522C3FC3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933" y="2877146"/>
                <a:ext cx="2045030" cy="50180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0051BF22-44A4-4B3D-4C25-B2AD7B383F7A}"/>
                  </a:ext>
                </a:extLst>
              </p:cNvPr>
              <p:cNvSpPr txBox="1"/>
              <p:nvPr/>
            </p:nvSpPr>
            <p:spPr>
              <a:xfrm>
                <a:off x="3700784" y="2877146"/>
                <a:ext cx="2045030" cy="5173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</m:e>
                      </m:ac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0051BF22-44A4-4B3D-4C25-B2AD7B383F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00784" y="2877146"/>
                <a:ext cx="2045030" cy="51738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56EE0B20-4A2B-9C03-28DB-20D68497DB11}"/>
                  </a:ext>
                </a:extLst>
              </p:cNvPr>
              <p:cNvSpPr txBox="1"/>
              <p:nvPr/>
            </p:nvSpPr>
            <p:spPr>
              <a:xfrm>
                <a:off x="5631690" y="2877767"/>
                <a:ext cx="3576320" cy="5025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ac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56EE0B20-4A2B-9C03-28DB-20D68497DB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1690" y="2877767"/>
                <a:ext cx="3576320" cy="50257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9307EFAC-EA61-8565-81A2-88C1E4F48F8F}"/>
                  </a:ext>
                </a:extLst>
              </p:cNvPr>
              <p:cNvSpPr txBox="1"/>
              <p:nvPr/>
            </p:nvSpPr>
            <p:spPr>
              <a:xfrm>
                <a:off x="8442365" y="2875757"/>
                <a:ext cx="3657601" cy="5025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ac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9307EFAC-EA61-8565-81A2-88C1E4F48F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42365" y="2875757"/>
                <a:ext cx="3657601" cy="50257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8B323376-9C6C-88D9-888F-61FFB85B14E3}"/>
              </a:ext>
            </a:extLst>
          </p:cNvPr>
          <p:cNvSpPr txBox="1"/>
          <p:nvPr/>
        </p:nvSpPr>
        <p:spPr>
          <a:xfrm>
            <a:off x="325124" y="3532473"/>
            <a:ext cx="603711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subject to initial conditions:</a:t>
            </a:r>
            <a:endParaRPr lang="ar-AE" sz="2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5094BB9-F5D5-EBA4-9D45-1FA8B0209203}"/>
              </a:ext>
            </a:extLst>
          </p:cNvPr>
          <p:cNvSpPr txBox="1"/>
          <p:nvPr/>
        </p:nvSpPr>
        <p:spPr>
          <a:xfrm>
            <a:off x="325124" y="4656713"/>
            <a:ext cx="603711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Has the exact solution:</a:t>
            </a:r>
            <a:endParaRPr lang="ar-AE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41D652B-D165-B0E4-89D4-7E69B8A11411}"/>
                  </a:ext>
                </a:extLst>
              </p:cNvPr>
              <p:cNvSpPr txBox="1"/>
              <p:nvPr/>
            </p:nvSpPr>
            <p:spPr>
              <a:xfrm>
                <a:off x="705402" y="3979178"/>
                <a:ext cx="204503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41D652B-D165-B0E4-89D4-7E69B8A114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402" y="3979178"/>
                <a:ext cx="2045030" cy="461665"/>
              </a:xfrm>
              <a:prstGeom prst="rect">
                <a:avLst/>
              </a:prstGeom>
              <a:blipFill>
                <a:blip r:embed="rId7"/>
                <a:stretch>
                  <a:fillRect b="-18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F4D30EA-6247-9B61-4DD2-920D0B6B0849}"/>
                  </a:ext>
                </a:extLst>
              </p:cNvPr>
              <p:cNvSpPr txBox="1"/>
              <p:nvPr/>
            </p:nvSpPr>
            <p:spPr>
              <a:xfrm>
                <a:off x="6259179" y="3979177"/>
                <a:ext cx="204503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F4D30EA-6247-9B61-4DD2-920D0B6B08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9179" y="3979177"/>
                <a:ext cx="2045030" cy="461665"/>
              </a:xfrm>
              <a:prstGeom prst="rect">
                <a:avLst/>
              </a:prstGeom>
              <a:blipFill>
                <a:blip r:embed="rId8"/>
                <a:stretch>
                  <a:fillRect b="-18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E735909-EBCE-00A8-24F7-5BCCFF784A8C}"/>
                  </a:ext>
                </a:extLst>
              </p:cNvPr>
              <p:cNvSpPr txBox="1"/>
              <p:nvPr/>
            </p:nvSpPr>
            <p:spPr>
              <a:xfrm>
                <a:off x="3586660" y="3979177"/>
                <a:ext cx="204503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E735909-EBCE-00A8-24F7-5BCCFF784A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86660" y="3979177"/>
                <a:ext cx="2045030" cy="461665"/>
              </a:xfrm>
              <a:prstGeom prst="rect">
                <a:avLst/>
              </a:prstGeom>
              <a:blipFill>
                <a:blip r:embed="rId9"/>
                <a:stretch>
                  <a:fillRect b="-18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2ED627B-3AC1-9CDE-EBFC-7B951F0B036D}"/>
                  </a:ext>
                </a:extLst>
              </p:cNvPr>
              <p:cNvSpPr txBox="1"/>
              <p:nvPr/>
            </p:nvSpPr>
            <p:spPr>
              <a:xfrm>
                <a:off x="9289532" y="3979177"/>
                <a:ext cx="204503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2ED627B-3AC1-9CDE-EBFC-7B951F0B03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89532" y="3979177"/>
                <a:ext cx="2045030" cy="461665"/>
              </a:xfrm>
              <a:prstGeom prst="rect">
                <a:avLst/>
              </a:prstGeom>
              <a:blipFill>
                <a:blip r:embed="rId10"/>
                <a:stretch>
                  <a:fillRect b="-18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9D9F4FB-732E-B47E-DE91-8B3AB1B5D7F9}"/>
                  </a:ext>
                </a:extLst>
              </p:cNvPr>
              <p:cNvSpPr txBox="1"/>
              <p:nvPr/>
            </p:nvSpPr>
            <p:spPr>
              <a:xfrm>
                <a:off x="552480" y="5118378"/>
                <a:ext cx="2453288" cy="7923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9D9F4FB-732E-B47E-DE91-8B3AB1B5D7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480" y="5118378"/>
                <a:ext cx="2453288" cy="792396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6346F28-A415-4B4E-F226-B84ACE6749CF}"/>
                  </a:ext>
                </a:extLst>
              </p:cNvPr>
              <p:cNvSpPr txBox="1"/>
              <p:nvPr/>
            </p:nvSpPr>
            <p:spPr>
              <a:xfrm>
                <a:off x="3233124" y="5118378"/>
                <a:ext cx="2453288" cy="7923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num>
                        <m:den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6346F28-A415-4B4E-F226-B84ACE6749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3124" y="5118378"/>
                <a:ext cx="2453288" cy="792396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C656C5C-8B9F-90E0-E47A-604653AC00A3}"/>
                  </a:ext>
                </a:extLst>
              </p:cNvPr>
              <p:cNvSpPr txBox="1"/>
              <p:nvPr/>
            </p:nvSpPr>
            <p:spPr>
              <a:xfrm>
                <a:off x="6096000" y="5118378"/>
                <a:ext cx="2453288" cy="7923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C656C5C-8B9F-90E0-E47A-604653AC00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5118378"/>
                <a:ext cx="2453288" cy="792396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FE1F028-723F-E426-5BCE-A4314A5149AB}"/>
                  </a:ext>
                </a:extLst>
              </p:cNvPr>
              <p:cNvSpPr txBox="1"/>
              <p:nvPr/>
            </p:nvSpPr>
            <p:spPr>
              <a:xfrm>
                <a:off x="9044521" y="5118378"/>
                <a:ext cx="2453288" cy="7923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num>
                        <m:den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FE1F028-723F-E426-5BCE-A4314A5149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4521" y="5118378"/>
                <a:ext cx="2453288" cy="792396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074306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43E05B-3AE4-A313-3EF3-756D5ACB3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8903C5B-7A06-2074-5363-E7310D962D50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FEC30A7-AE49-E2CE-17C9-11067937422F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D2C97EE-5910-A8AA-9AB3-B9EEFF6339B1}"/>
              </a:ext>
            </a:extLst>
          </p:cNvPr>
          <p:cNvSpPr txBox="1"/>
          <p:nvPr/>
        </p:nvSpPr>
        <p:spPr>
          <a:xfrm>
            <a:off x="1856448" y="104381"/>
            <a:ext cx="896131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Convergence of Actual Solution to Nash Equilibrium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6CB1B4F-48BF-4810-E795-ED1904ED57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2086" y="1894909"/>
            <a:ext cx="5895577" cy="351252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96175E1-4631-4817-7197-22C3C9A9BC1F}"/>
                  </a:ext>
                </a:extLst>
              </p:cNvPr>
              <p:cNvSpPr txBox="1"/>
              <p:nvPr/>
            </p:nvSpPr>
            <p:spPr>
              <a:xfrm>
                <a:off x="2318559" y="5605429"/>
                <a:ext cx="803709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Convergence of Actual Solution to Nash Equilibrium</a:t>
                </a:r>
                <a:endParaRPr lang="ar-AE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96175E1-4631-4817-7197-22C3C9A9BC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8559" y="5605429"/>
                <a:ext cx="8037095" cy="461665"/>
              </a:xfrm>
              <a:prstGeom prst="rect">
                <a:avLst/>
              </a:prstGeom>
              <a:blipFill>
                <a:blip r:embed="rId4"/>
                <a:stretch>
                  <a:fillRect l="-152" t="-9333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265B2FC2-184D-0BF9-8115-7564FDC77AF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1260" y="1914635"/>
            <a:ext cx="5626756" cy="360782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67FBF6B-9F76-108A-F270-1F461A83CA1C}"/>
              </a:ext>
            </a:extLst>
          </p:cNvPr>
          <p:cNvSpPr txBox="1"/>
          <p:nvPr/>
        </p:nvSpPr>
        <p:spPr>
          <a:xfrm>
            <a:off x="5799458" y="6034259"/>
            <a:ext cx="107529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Slow!</a:t>
            </a:r>
            <a:endParaRPr lang="ar-AE" sz="2400" dirty="0"/>
          </a:p>
        </p:txBody>
      </p:sp>
    </p:spTree>
    <p:extLst>
      <p:ext uri="{BB962C8B-B14F-4D97-AF65-F5344CB8AC3E}">
        <p14:creationId xmlns:p14="http://schemas.microsoft.com/office/powerpoint/2010/main" val="19590573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7CFAAE-4977-F31F-4FA9-4846DB87E3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17B9C9D-EBF0-C044-1A53-609DE3FD662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F6AF770-1E48-2372-65C8-BD0578B50C44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4171BD1-1E5E-55CE-1155-40E11FBF78B2}"/>
              </a:ext>
            </a:extLst>
          </p:cNvPr>
          <p:cNvSpPr txBox="1"/>
          <p:nvPr/>
        </p:nvSpPr>
        <p:spPr>
          <a:xfrm>
            <a:off x="1856448" y="104381"/>
            <a:ext cx="896131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Convergence of RK 4 Solution to Actual Solution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E53E89F-14AD-3C18-13FF-D0E9FA79D4F4}"/>
                  </a:ext>
                </a:extLst>
              </p:cNvPr>
              <p:cNvSpPr txBox="1"/>
              <p:nvPr/>
            </p:nvSpPr>
            <p:spPr>
              <a:xfrm>
                <a:off x="6838548" y="2146453"/>
                <a:ext cx="4934351" cy="613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Starting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sz="2400" i="1" dirty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E53E89F-14AD-3C18-13FF-D0E9FA79D4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8548" y="2146453"/>
                <a:ext cx="4934351" cy="613886"/>
              </a:xfrm>
              <a:prstGeom prst="rect">
                <a:avLst/>
              </a:prstGeom>
              <a:blipFill>
                <a:blip r:embed="rId3"/>
                <a:stretch>
                  <a:fillRect l="-1978" b="-108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E5DFDD46-6C9B-1578-F981-7F29120F93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2" y="2146453"/>
            <a:ext cx="6493880" cy="415882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CD898AB-C2D0-E512-8F1D-0C2EBEFB7683}"/>
                  </a:ext>
                </a:extLst>
              </p:cNvPr>
              <p:cNvSpPr txBox="1"/>
              <p:nvPr/>
            </p:nvSpPr>
            <p:spPr>
              <a:xfrm>
                <a:off x="7711385" y="2967335"/>
                <a:ext cx="302242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From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2400" dirty="0"/>
                  <a:t> to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10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CD898AB-C2D0-E512-8F1D-0C2EBEFB76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1385" y="2967335"/>
                <a:ext cx="3022425" cy="461665"/>
              </a:xfrm>
              <a:prstGeom prst="rect">
                <a:avLst/>
              </a:prstGeom>
              <a:blipFill>
                <a:blip r:embed="rId5"/>
                <a:stretch>
                  <a:fillRect l="-3226"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ABED517-3C68-A4FA-965E-CF5E85D620A5}"/>
                  </a:ext>
                </a:extLst>
              </p:cNvPr>
              <p:cNvSpPr txBox="1"/>
              <p:nvPr/>
            </p:nvSpPr>
            <p:spPr>
              <a:xfrm>
                <a:off x="6499112" y="3682163"/>
                <a:ext cx="5446970" cy="193899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2400" dirty="0"/>
                  <a:t>Simulations with step sizes around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sup>
                    </m:sSup>
                  </m:oMath>
                </a14:m>
                <a:r>
                  <a:rPr lang="en-US" sz="2400" dirty="0"/>
                  <a:t> took dozens of minutes and lots of data; last run failed because the IDE was “Unable to allocate 17.1 GiB for an array”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ABED517-3C68-A4FA-965E-CF5E85D620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9112" y="3682163"/>
                <a:ext cx="5446970" cy="1938992"/>
              </a:xfrm>
              <a:prstGeom prst="rect">
                <a:avLst/>
              </a:prstGeom>
              <a:blipFill>
                <a:blip r:embed="rId6"/>
                <a:stretch>
                  <a:fillRect l="-1566" t="-2201" r="-2349" b="-62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212927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2183CD-DE40-7297-4985-5571E8145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05D7B2F-67B3-3AA1-88FF-9447F7654494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8959574-A3F7-BA8A-E8CC-77BDBD4385CC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7219501-883C-0065-CF1E-6AF56CA33495}"/>
                  </a:ext>
                </a:extLst>
              </p:cNvPr>
              <p:cNvSpPr txBox="1"/>
              <p:nvPr/>
            </p:nvSpPr>
            <p:spPr>
              <a:xfrm>
                <a:off x="1856448" y="104381"/>
                <a:ext cx="8961319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What’s More Important…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𝚫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𝒕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or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𝑻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?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7219501-883C-0065-CF1E-6AF56CA334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6448" y="104381"/>
                <a:ext cx="8961319" cy="1323439"/>
              </a:xfrm>
              <a:prstGeom prst="rect">
                <a:avLst/>
              </a:prstGeom>
              <a:blipFill>
                <a:blip r:embed="rId3"/>
                <a:stretch>
                  <a:fillRect t="-8295" b="-188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8A031414-E13C-5938-787C-F7ED2487D72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5716" y="1710813"/>
            <a:ext cx="7979880" cy="508572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DF3AF59-CD7C-B989-35B7-D2504CBCB3EF}"/>
                  </a:ext>
                </a:extLst>
              </p:cNvPr>
              <p:cNvSpPr txBox="1"/>
              <p:nvPr/>
            </p:nvSpPr>
            <p:spPr>
              <a:xfrm>
                <a:off x="8123454" y="2639552"/>
                <a:ext cx="4020688" cy="11531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Both Systems starting at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DF3AF59-CD7C-B989-35B7-D2504CBCB3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3454" y="2639552"/>
                <a:ext cx="4020688" cy="1153136"/>
              </a:xfrm>
              <a:prstGeom prst="rect">
                <a:avLst/>
              </a:prstGeom>
              <a:blipFill>
                <a:blip r:embed="rId5"/>
                <a:stretch>
                  <a:fillRect l="-2428" t="-4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D0B5F3A-CE95-BD1B-845E-D32FE18A5F19}"/>
                  </a:ext>
                </a:extLst>
              </p:cNvPr>
              <p:cNvSpPr txBox="1"/>
              <p:nvPr/>
            </p:nvSpPr>
            <p:spPr>
              <a:xfrm>
                <a:off x="8410875" y="3920942"/>
                <a:ext cx="344584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Constant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2400" dirty="0"/>
                  <a:t> has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10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D0B5F3A-CE95-BD1B-845E-D32FE18A5F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10875" y="3920942"/>
                <a:ext cx="3445845" cy="461665"/>
              </a:xfrm>
              <a:prstGeom prst="rect">
                <a:avLst/>
              </a:prstGeom>
              <a:blipFill>
                <a:blip r:embed="rId6"/>
                <a:stretch>
                  <a:fillRect l="-2832"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8797F1B4-3AF5-36A8-BFFB-1F3D568A8AB2}"/>
              </a:ext>
            </a:extLst>
          </p:cNvPr>
          <p:cNvSpPr txBox="1"/>
          <p:nvPr/>
        </p:nvSpPr>
        <p:spPr>
          <a:xfrm>
            <a:off x="8889358" y="1894894"/>
            <a:ext cx="194189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u="sng" dirty="0"/>
              <a:t>RK 4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115A6A6-549C-9B15-E176-88A53F511CFF}"/>
                  </a:ext>
                </a:extLst>
              </p:cNvPr>
              <p:cNvSpPr txBox="1"/>
              <p:nvPr/>
            </p:nvSpPr>
            <p:spPr>
              <a:xfrm>
                <a:off x="8410875" y="4510861"/>
                <a:ext cx="344584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Constant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2400" dirty="0"/>
                  <a:t> has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=.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115A6A6-549C-9B15-E176-88A53F511C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10875" y="4510861"/>
                <a:ext cx="3445845" cy="461665"/>
              </a:xfrm>
              <a:prstGeom prst="rect">
                <a:avLst/>
              </a:prstGeom>
              <a:blipFill>
                <a:blip r:embed="rId7"/>
                <a:stretch>
                  <a:fillRect l="-2832"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638105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B6698E-2C0F-88C1-D1B8-2F7A4C8828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BE5CE00-C582-E829-61D3-937BEC64D793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768B969-7CB5-0B25-4FA5-327243B42B6F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C833F2B-2F95-4EA9-FC8F-8EE37B2EDF1B}"/>
                  </a:ext>
                </a:extLst>
              </p:cNvPr>
              <p:cNvSpPr txBox="1"/>
              <p:nvPr/>
            </p:nvSpPr>
            <p:spPr>
              <a:xfrm>
                <a:off x="1856448" y="104381"/>
                <a:ext cx="8961319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What’s More Important…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𝚫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𝒕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or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𝑻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?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C833F2B-2F95-4EA9-FC8F-8EE37B2EDF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6448" y="104381"/>
                <a:ext cx="8961319" cy="1323439"/>
              </a:xfrm>
              <a:prstGeom prst="rect">
                <a:avLst/>
              </a:prstGeom>
              <a:blipFill>
                <a:blip r:embed="rId3"/>
                <a:stretch>
                  <a:fillRect t="-8295" b="-188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CCF9B44D-15B1-A42D-EDA2-4D0E6C24481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5716" y="1710813"/>
            <a:ext cx="7979880" cy="508572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EB641D4-5857-B868-EC95-8EA4B1961992}"/>
                  </a:ext>
                </a:extLst>
              </p:cNvPr>
              <p:cNvSpPr txBox="1"/>
              <p:nvPr/>
            </p:nvSpPr>
            <p:spPr>
              <a:xfrm>
                <a:off x="8123454" y="2639552"/>
                <a:ext cx="4020688" cy="11531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Both Systems starting at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EB641D4-5857-B868-EC95-8EA4B19619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3454" y="2639552"/>
                <a:ext cx="4020688" cy="1153136"/>
              </a:xfrm>
              <a:prstGeom prst="rect">
                <a:avLst/>
              </a:prstGeom>
              <a:blipFill>
                <a:blip r:embed="rId5"/>
                <a:stretch>
                  <a:fillRect l="-2428" t="-4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8EAC9C2-51E1-CDE7-BFBE-C865527E4E0F}"/>
                  </a:ext>
                </a:extLst>
              </p:cNvPr>
              <p:cNvSpPr txBox="1"/>
              <p:nvPr/>
            </p:nvSpPr>
            <p:spPr>
              <a:xfrm>
                <a:off x="8410875" y="3920942"/>
                <a:ext cx="344584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Constant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2400" dirty="0"/>
                  <a:t> has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10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8EAC9C2-51E1-CDE7-BFBE-C865527E4E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10875" y="3920942"/>
                <a:ext cx="3445845" cy="461665"/>
              </a:xfrm>
              <a:prstGeom prst="rect">
                <a:avLst/>
              </a:prstGeom>
              <a:blipFill>
                <a:blip r:embed="rId6"/>
                <a:stretch>
                  <a:fillRect l="-2832"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551EC7D6-7E8F-244F-A0EA-2BACA330FD74}"/>
              </a:ext>
            </a:extLst>
          </p:cNvPr>
          <p:cNvSpPr txBox="1"/>
          <p:nvPr/>
        </p:nvSpPr>
        <p:spPr>
          <a:xfrm>
            <a:off x="8889358" y="1894894"/>
            <a:ext cx="194189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u="sng" dirty="0"/>
              <a:t>RK 4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B4D909C-5B46-426B-7766-D15E1A4E932F}"/>
                  </a:ext>
                </a:extLst>
              </p:cNvPr>
              <p:cNvSpPr txBox="1"/>
              <p:nvPr/>
            </p:nvSpPr>
            <p:spPr>
              <a:xfrm>
                <a:off x="8410875" y="4510861"/>
                <a:ext cx="344584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Constant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2400" dirty="0"/>
                  <a:t> has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=.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B4D909C-5B46-426B-7766-D15E1A4E93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10875" y="4510861"/>
                <a:ext cx="3445845" cy="461665"/>
              </a:xfrm>
              <a:prstGeom prst="rect">
                <a:avLst/>
              </a:prstGeom>
              <a:blipFill>
                <a:blip r:embed="rId7"/>
                <a:stretch>
                  <a:fillRect l="-2832"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Oval 1">
            <a:extLst>
              <a:ext uri="{FF2B5EF4-FFF2-40B4-BE49-F238E27FC236}">
                <a16:creationId xmlns:a16="http://schemas.microsoft.com/office/drawing/2014/main" id="{F6CD186C-1AA3-D8C6-FB9C-B08E48DF9B12}"/>
              </a:ext>
            </a:extLst>
          </p:cNvPr>
          <p:cNvSpPr/>
          <p:nvPr/>
        </p:nvSpPr>
        <p:spPr>
          <a:xfrm>
            <a:off x="2569945" y="2791326"/>
            <a:ext cx="404261" cy="404261"/>
          </a:xfrm>
          <a:prstGeom prst="ellipse">
            <a:avLst/>
          </a:prstGeom>
          <a:solidFill>
            <a:srgbClr val="FFFF00">
              <a:alpha val="33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4CDD7F7-DFA9-0DAF-4F8E-826198AF940B}"/>
                  </a:ext>
                </a:extLst>
              </p:cNvPr>
              <p:cNvSpPr txBox="1"/>
              <p:nvPr/>
            </p:nvSpPr>
            <p:spPr>
              <a:xfrm>
                <a:off x="842211" y="3792989"/>
                <a:ext cx="3075272" cy="1323439"/>
              </a:xfrm>
              <a:prstGeom prst="rect">
                <a:avLst/>
              </a:prstGeom>
              <a:solidFill>
                <a:srgbClr val="FFFF00"/>
              </a:solidFill>
              <a:ln w="3810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b="1" dirty="0"/>
                  <a:t>Intersection at 100 Steps</a:t>
                </a:r>
              </a:p>
              <a:p>
                <a:pPr algn="ctr"/>
                <a:endParaRPr lang="en-US" sz="2000" b="1" dirty="0"/>
              </a:p>
              <a:p>
                <a:pPr algn="ctr"/>
                <a:r>
                  <a:rPr lang="en-US" sz="2000" dirty="0"/>
                  <a:t>When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2000" b="1" dirty="0"/>
                  <a:t> </a:t>
                </a:r>
                <a:r>
                  <a:rPr lang="en-US" sz="2000" dirty="0"/>
                  <a:t>of constant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2000" dirty="0"/>
                  <a:t> crosses 10</a:t>
                </a:r>
                <a:endParaRPr lang="en-US" sz="2000" b="1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4CDD7F7-DFA9-0DAF-4F8E-826198AF94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211" y="3792989"/>
                <a:ext cx="3075272" cy="1323439"/>
              </a:xfrm>
              <a:prstGeom prst="rect">
                <a:avLst/>
              </a:prstGeom>
              <a:blipFill>
                <a:blip r:embed="rId8"/>
                <a:stretch>
                  <a:fillRect l="-1174" t="-897" r="-978" b="-5830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EDAAA47-3812-536C-E42A-ECEC9CA8A9DB}"/>
                  </a:ext>
                </a:extLst>
              </p:cNvPr>
              <p:cNvSpPr txBox="1"/>
              <p:nvPr/>
            </p:nvSpPr>
            <p:spPr>
              <a:xfrm>
                <a:off x="8596162" y="5192938"/>
                <a:ext cx="3075272" cy="400110"/>
              </a:xfrm>
              <a:prstGeom prst="rect">
                <a:avLst/>
              </a:prstGeom>
              <a:solidFill>
                <a:srgbClr val="FFFF00"/>
              </a:solidFill>
              <a:ln w="3810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2000" b="1" dirty="0"/>
                  <a:t> </a:t>
                </a:r>
                <a:r>
                  <a:rPr lang="en-US" sz="2000" dirty="0"/>
                  <a:t>matters more than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2000" b="1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EDAAA47-3812-536C-E42A-ECEC9CA8A9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96162" y="5192938"/>
                <a:ext cx="3075272" cy="400110"/>
              </a:xfrm>
              <a:prstGeom prst="rect">
                <a:avLst/>
              </a:prstGeom>
              <a:blipFill>
                <a:blip r:embed="rId9"/>
                <a:stretch>
                  <a:fillRect t="-2817" b="-22535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743491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FFF9B9-FB21-DB25-74C0-9EF38DA85D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9AAA08D-D10B-D588-890B-F53AA02E9020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21138CE-3FBB-9158-99B7-44E1C841C4A6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DF809AB7-7AA4-1826-3F38-C91AB263CF6C}"/>
                  </a:ext>
                </a:extLst>
              </p:cNvPr>
              <p:cNvSpPr txBox="1"/>
              <p:nvPr/>
            </p:nvSpPr>
            <p:spPr>
              <a:xfrm>
                <a:off x="1856448" y="104381"/>
                <a:ext cx="8961319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What’s More Important…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𝚫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𝒕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or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𝑻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?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DF809AB7-7AA4-1826-3F38-C91AB263CF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6448" y="104381"/>
                <a:ext cx="8961319" cy="1323439"/>
              </a:xfrm>
              <a:prstGeom prst="rect">
                <a:avLst/>
              </a:prstGeom>
              <a:blipFill>
                <a:blip r:embed="rId3"/>
                <a:stretch>
                  <a:fillRect t="-8295" b="-188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F8D2D72E-CF51-7E65-F84C-D14B46B210E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5716" y="1737237"/>
            <a:ext cx="7979880" cy="503287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0F2EC7E-4AB8-C231-D28A-CD23F49CEE79}"/>
                  </a:ext>
                </a:extLst>
              </p:cNvPr>
              <p:cNvSpPr txBox="1"/>
              <p:nvPr/>
            </p:nvSpPr>
            <p:spPr>
              <a:xfrm>
                <a:off x="8123454" y="2639552"/>
                <a:ext cx="4020688" cy="11531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All Systems starting at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(0)=</m:t>
                      </m:r>
                      <m:f>
                        <m:f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0F2EC7E-4AB8-C231-D28A-CD23F49CEE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3454" y="2639552"/>
                <a:ext cx="4020688" cy="1153136"/>
              </a:xfrm>
              <a:prstGeom prst="rect">
                <a:avLst/>
              </a:prstGeom>
              <a:blipFill>
                <a:blip r:embed="rId5"/>
                <a:stretch>
                  <a:fillRect l="-2428" t="-4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30AEAFEF-2B78-D832-D94E-8170AE57AFA9}"/>
              </a:ext>
            </a:extLst>
          </p:cNvPr>
          <p:cNvSpPr txBox="1"/>
          <p:nvPr/>
        </p:nvSpPr>
        <p:spPr>
          <a:xfrm>
            <a:off x="8889358" y="1894894"/>
            <a:ext cx="194189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u="sng" dirty="0"/>
              <a:t>RK 4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8DCE18F-59AF-5D3B-3310-5D3AE9486CED}"/>
                  </a:ext>
                </a:extLst>
              </p:cNvPr>
              <p:cNvSpPr txBox="1"/>
              <p:nvPr/>
            </p:nvSpPr>
            <p:spPr>
              <a:xfrm>
                <a:off x="8596162" y="5322077"/>
                <a:ext cx="3075272" cy="1015663"/>
              </a:xfrm>
              <a:prstGeom prst="rect">
                <a:avLst/>
              </a:prstGeom>
              <a:solidFill>
                <a:srgbClr val="FFFF00"/>
              </a:solidFill>
              <a:ln w="3810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l-GR" sz="2000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𝛥</m:t>
                    </m:r>
                    <m:r>
                      <a:rPr lang="en-US" sz="2000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2000" dirty="0"/>
                  <a:t> doesn’t seem to matter so long as Jacobian is stable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8DCE18F-59AF-5D3B-3310-5D3AE9486C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96162" y="5322077"/>
                <a:ext cx="3075272" cy="1015663"/>
              </a:xfrm>
              <a:prstGeom prst="rect">
                <a:avLst/>
              </a:prstGeom>
              <a:blipFill>
                <a:blip r:embed="rId6"/>
                <a:stretch>
                  <a:fillRect t="-578" r="-2348" b="-7514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008056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7BA171-89DB-4D34-B53E-835095B5A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748BC7C8-3879-D283-445D-BEB8F0BC1629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26C5E69-3C61-14B3-81B9-A10D10569A78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F4EDF36-B416-858D-FD5C-0D224583C517}"/>
                  </a:ext>
                </a:extLst>
              </p:cNvPr>
              <p:cNvSpPr txBox="1"/>
              <p:nvPr/>
            </p:nvSpPr>
            <p:spPr>
              <a:xfrm>
                <a:off x="1856448" y="104381"/>
                <a:ext cx="8961319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What’s More Important…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𝚫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𝒕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or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𝑻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?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F4EDF36-B416-858D-FD5C-0D224583C5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6448" y="104381"/>
                <a:ext cx="8961319" cy="1323439"/>
              </a:xfrm>
              <a:prstGeom prst="rect">
                <a:avLst/>
              </a:prstGeom>
              <a:blipFill>
                <a:blip r:embed="rId3"/>
                <a:stretch>
                  <a:fillRect t="-8295" b="-188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621A68F2-517F-8C1B-F80E-2B61A8E3269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69072" y="1737237"/>
            <a:ext cx="7833167" cy="503287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B0CD409-EC5B-E263-5C1C-4F8E522AE535}"/>
                  </a:ext>
                </a:extLst>
              </p:cNvPr>
              <p:cNvSpPr txBox="1"/>
              <p:nvPr/>
            </p:nvSpPr>
            <p:spPr>
              <a:xfrm>
                <a:off x="8123454" y="2639552"/>
                <a:ext cx="4020688" cy="11531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All Systems starting at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B0CD409-EC5B-E263-5C1C-4F8E522AE5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3454" y="2639552"/>
                <a:ext cx="4020688" cy="1153136"/>
              </a:xfrm>
              <a:prstGeom prst="rect">
                <a:avLst/>
              </a:prstGeom>
              <a:blipFill>
                <a:blip r:embed="rId5"/>
                <a:stretch>
                  <a:fillRect l="-2428" t="-4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B8DAC788-704F-37BB-0ED0-B83494AAF9EF}"/>
              </a:ext>
            </a:extLst>
          </p:cNvPr>
          <p:cNvSpPr txBox="1"/>
          <p:nvPr/>
        </p:nvSpPr>
        <p:spPr>
          <a:xfrm>
            <a:off x="8889358" y="1894894"/>
            <a:ext cx="194189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u="sng" dirty="0"/>
              <a:t>RK 4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E156D55-3E3B-737A-669F-BF98AA9691E7}"/>
                  </a:ext>
                </a:extLst>
              </p:cNvPr>
              <p:cNvSpPr txBox="1"/>
              <p:nvPr/>
            </p:nvSpPr>
            <p:spPr>
              <a:xfrm>
                <a:off x="8596162" y="5322077"/>
                <a:ext cx="3075272" cy="1015663"/>
              </a:xfrm>
              <a:prstGeom prst="rect">
                <a:avLst/>
              </a:prstGeom>
              <a:solidFill>
                <a:srgbClr val="FFFF00"/>
              </a:solidFill>
              <a:ln w="3810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l-GR" sz="2000" b="0" i="1">
                        <a:highlight>
                          <a:srgbClr val="FFFF00"/>
                        </a:highlight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𝛥</m:t>
                    </m:r>
                    <m:r>
                      <a:rPr lang="en-US" sz="2000" b="0" i="1">
                        <a:highlight>
                          <a:srgbClr val="FFFF00"/>
                        </a:highlight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2000" dirty="0">
                    <a:highlight>
                      <a:srgbClr val="FFFF00"/>
                    </a:highlight>
                  </a:rPr>
                  <a:t> doesn’t seem to matter so long as Jacobian is stable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E156D55-3E3B-737A-669F-BF98AA9691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96162" y="5322077"/>
                <a:ext cx="3075272" cy="1015663"/>
              </a:xfrm>
              <a:prstGeom prst="rect">
                <a:avLst/>
              </a:prstGeom>
              <a:blipFill>
                <a:blip r:embed="rId6"/>
                <a:stretch>
                  <a:fillRect t="-578" r="-2348" b="-7514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056165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8A2D48-AE1A-B2FF-570A-2E9F64518D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01F3B4D-1566-7AE0-54F2-1DBBC6D93257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F306E2D-A640-BC71-3213-5E6353067F2B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61305A1-5178-12F0-E358-6F454A9D7A6D}"/>
              </a:ext>
            </a:extLst>
          </p:cNvPr>
          <p:cNvSpPr txBox="1"/>
          <p:nvPr/>
        </p:nvSpPr>
        <p:spPr>
          <a:xfrm>
            <a:off x="106202" y="1826869"/>
            <a:ext cx="119968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Two players each with two strategies, only one of which has a strictly dominant strategy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C012BBF-460B-2D42-583D-53FFEF9E7BC5}"/>
              </a:ext>
            </a:extLst>
          </p:cNvPr>
          <p:cNvGraphicFramePr>
            <a:graphicFrameLocks noGrp="1"/>
          </p:cNvGraphicFramePr>
          <p:nvPr/>
        </p:nvGraphicFramePr>
        <p:xfrm>
          <a:off x="1240429" y="4275102"/>
          <a:ext cx="4064810" cy="1998138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2032405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2032405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</a:tblGrid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9E06D1F-5939-D6A4-EADD-D25BE173A522}"/>
              </a:ext>
            </a:extLst>
          </p:cNvPr>
          <p:cNvGraphicFramePr>
            <a:graphicFrameLocks noGrp="1"/>
          </p:cNvGraphicFramePr>
          <p:nvPr/>
        </p:nvGraphicFramePr>
        <p:xfrm>
          <a:off x="7244131" y="4275102"/>
          <a:ext cx="4064810" cy="2005122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2032405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2032405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</a:tblGrid>
              <a:tr h="1002561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1002561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D96FD127-5B0E-BEA4-0429-25931C478693}"/>
              </a:ext>
            </a:extLst>
          </p:cNvPr>
          <p:cNvSpPr txBox="1"/>
          <p:nvPr/>
        </p:nvSpPr>
        <p:spPr>
          <a:xfrm rot="16200000">
            <a:off x="5374761" y="4840437"/>
            <a:ext cx="21670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9FAEEBA-B007-3249-98C5-BCB87E41D3F1}"/>
              </a:ext>
            </a:extLst>
          </p:cNvPr>
          <p:cNvSpPr txBox="1"/>
          <p:nvPr/>
        </p:nvSpPr>
        <p:spPr>
          <a:xfrm>
            <a:off x="6779679" y="4407097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83EAB0E-7D39-6212-8134-FF512054EA83}"/>
              </a:ext>
            </a:extLst>
          </p:cNvPr>
          <p:cNvSpPr txBox="1"/>
          <p:nvPr/>
        </p:nvSpPr>
        <p:spPr>
          <a:xfrm>
            <a:off x="6779679" y="5401716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2C750CF-1069-E321-8911-3BF8ED17B79A}"/>
              </a:ext>
            </a:extLst>
          </p:cNvPr>
          <p:cNvSpPr txBox="1"/>
          <p:nvPr/>
        </p:nvSpPr>
        <p:spPr>
          <a:xfrm>
            <a:off x="8019276" y="3623048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3DF1828-AF2A-59E0-52E5-A48B4A15DA44}"/>
              </a:ext>
            </a:extLst>
          </p:cNvPr>
          <p:cNvSpPr txBox="1"/>
          <p:nvPr/>
        </p:nvSpPr>
        <p:spPr>
          <a:xfrm>
            <a:off x="10036392" y="3623048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D50F034-9B05-6984-5DC2-B0BA17F7AB6C}"/>
              </a:ext>
            </a:extLst>
          </p:cNvPr>
          <p:cNvSpPr txBox="1"/>
          <p:nvPr/>
        </p:nvSpPr>
        <p:spPr>
          <a:xfrm>
            <a:off x="8251502" y="3147255"/>
            <a:ext cx="21889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5842A10-E988-2501-F13A-D99547277748}"/>
              </a:ext>
            </a:extLst>
          </p:cNvPr>
          <p:cNvSpPr txBox="1"/>
          <p:nvPr/>
        </p:nvSpPr>
        <p:spPr>
          <a:xfrm>
            <a:off x="541340" y="2636102"/>
            <a:ext cx="53834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Player 1 Payoff Matrix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0BCBA28-D9AA-CA8F-44C8-DFCD8086A503}"/>
              </a:ext>
            </a:extLst>
          </p:cNvPr>
          <p:cNvSpPr txBox="1"/>
          <p:nvPr/>
        </p:nvSpPr>
        <p:spPr>
          <a:xfrm>
            <a:off x="6473676" y="2636101"/>
            <a:ext cx="522880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Player 2 Payoff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78A125A-73F5-FE6D-1318-D2572E363E0E}"/>
                  </a:ext>
                </a:extLst>
              </p:cNvPr>
              <p:cNvSpPr txBox="1"/>
              <p:nvPr/>
            </p:nvSpPr>
            <p:spPr>
              <a:xfrm>
                <a:off x="1240429" y="6396335"/>
                <a:ext cx="1095157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Player 1 Strategy: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                                 Player 2 Strategy: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78A125A-73F5-FE6D-1318-D2572E363E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0429" y="6396335"/>
                <a:ext cx="10951571" cy="461665"/>
              </a:xfrm>
              <a:prstGeom prst="rect">
                <a:avLst/>
              </a:prstGeom>
              <a:blipFill>
                <a:blip r:embed="rId3"/>
                <a:stretch>
                  <a:fillRect l="-835"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2539EEFF-3CCF-7BA2-1943-6541412EEF8A}"/>
              </a:ext>
            </a:extLst>
          </p:cNvPr>
          <p:cNvSpPr txBox="1"/>
          <p:nvPr/>
        </p:nvSpPr>
        <p:spPr>
          <a:xfrm rot="16200000">
            <a:off x="-623369" y="4840437"/>
            <a:ext cx="21670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FECF867-7E0A-0CA2-8B1C-101AF8CB35F9}"/>
              </a:ext>
            </a:extLst>
          </p:cNvPr>
          <p:cNvSpPr txBox="1"/>
          <p:nvPr/>
        </p:nvSpPr>
        <p:spPr>
          <a:xfrm>
            <a:off x="781549" y="4407097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7034215-F8B5-AF12-F1E2-4B1CBC646FC0}"/>
              </a:ext>
            </a:extLst>
          </p:cNvPr>
          <p:cNvSpPr txBox="1"/>
          <p:nvPr/>
        </p:nvSpPr>
        <p:spPr>
          <a:xfrm>
            <a:off x="781549" y="5401716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F910A52-6DE5-A2BF-1DA8-6F8669EB4C98}"/>
              </a:ext>
            </a:extLst>
          </p:cNvPr>
          <p:cNvSpPr txBox="1"/>
          <p:nvPr/>
        </p:nvSpPr>
        <p:spPr>
          <a:xfrm>
            <a:off x="2021146" y="3623048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1A413C9-583B-AB7B-1191-76313C2C3C08}"/>
              </a:ext>
            </a:extLst>
          </p:cNvPr>
          <p:cNvSpPr txBox="1"/>
          <p:nvPr/>
        </p:nvSpPr>
        <p:spPr>
          <a:xfrm>
            <a:off x="4038262" y="3623048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DC4BBAF-B5C0-55CC-72AD-18326F17B0F6}"/>
              </a:ext>
            </a:extLst>
          </p:cNvPr>
          <p:cNvSpPr txBox="1"/>
          <p:nvPr/>
        </p:nvSpPr>
        <p:spPr>
          <a:xfrm>
            <a:off x="2253372" y="3147255"/>
            <a:ext cx="21889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71F5DA-1D98-33A9-254F-69386236F5BB}"/>
              </a:ext>
            </a:extLst>
          </p:cNvPr>
          <p:cNvSpPr txBox="1"/>
          <p:nvPr/>
        </p:nvSpPr>
        <p:spPr>
          <a:xfrm>
            <a:off x="1240429" y="98813"/>
            <a:ext cx="1003634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RK4 Error Order with More Complicated BNN System</a:t>
            </a:r>
          </a:p>
        </p:txBody>
      </p:sp>
    </p:spTree>
    <p:extLst>
      <p:ext uri="{BB962C8B-B14F-4D97-AF65-F5344CB8AC3E}">
        <p14:creationId xmlns:p14="http://schemas.microsoft.com/office/powerpoint/2010/main" val="32177580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FACCB-5213-ADC5-4D7E-75FF31D20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C54BEDF-2E26-2BFA-C3B8-99EF5BE6564E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C85D708-9BBE-5ED0-6ABA-62EC674ACDC5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A01C902-3C71-1421-1432-C6DA6A32D843}"/>
                  </a:ext>
                </a:extLst>
              </p:cNvPr>
              <p:cNvSpPr txBox="1"/>
              <p:nvPr/>
            </p:nvSpPr>
            <p:spPr>
              <a:xfrm>
                <a:off x="1856448" y="104381"/>
                <a:ext cx="8961319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What’s More Important…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𝚫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𝒕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or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𝑻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?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A01C902-3C71-1421-1432-C6DA6A32D8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6448" y="104381"/>
                <a:ext cx="8961319" cy="1323439"/>
              </a:xfrm>
              <a:prstGeom prst="rect">
                <a:avLst/>
              </a:prstGeom>
              <a:blipFill>
                <a:blip r:embed="rId3"/>
                <a:stretch>
                  <a:fillRect t="-8295" b="-188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E9EE95FD-5097-64F9-1911-E3CC9907AE7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5716" y="1859709"/>
            <a:ext cx="7979880" cy="478792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67C966E-0340-E0BE-B9A6-86F79DCC968B}"/>
                  </a:ext>
                </a:extLst>
              </p:cNvPr>
              <p:cNvSpPr txBox="1"/>
              <p:nvPr/>
            </p:nvSpPr>
            <p:spPr>
              <a:xfrm>
                <a:off x="8123454" y="2639552"/>
                <a:ext cx="4020688" cy="11531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All Systems starting at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67C966E-0340-E0BE-B9A6-86F79DCC96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3454" y="2639552"/>
                <a:ext cx="4020688" cy="1153136"/>
              </a:xfrm>
              <a:prstGeom prst="rect">
                <a:avLst/>
              </a:prstGeom>
              <a:blipFill>
                <a:blip r:embed="rId5"/>
                <a:stretch>
                  <a:fillRect l="-2428" t="-4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75745D37-C027-39C4-93A4-B68FB28590B1}"/>
              </a:ext>
            </a:extLst>
          </p:cNvPr>
          <p:cNvSpPr txBox="1"/>
          <p:nvPr/>
        </p:nvSpPr>
        <p:spPr>
          <a:xfrm>
            <a:off x="8889358" y="1894894"/>
            <a:ext cx="194189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u="sng" dirty="0"/>
              <a:t>RK 4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59A30B7-917A-B289-0733-CA399A0A1EC4}"/>
                  </a:ext>
                </a:extLst>
              </p:cNvPr>
              <p:cNvSpPr txBox="1"/>
              <p:nvPr/>
            </p:nvSpPr>
            <p:spPr>
              <a:xfrm>
                <a:off x="8596162" y="5322077"/>
                <a:ext cx="3075272" cy="1015663"/>
              </a:xfrm>
              <a:prstGeom prst="rect">
                <a:avLst/>
              </a:prstGeom>
              <a:solidFill>
                <a:srgbClr val="FFFF00"/>
              </a:solidFill>
              <a:ln w="3810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l-GR" sz="2000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𝛥</m:t>
                    </m:r>
                    <m:r>
                      <a:rPr lang="en-US" sz="2000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2000" dirty="0"/>
                  <a:t> doesn’t seem to matter so long as Jacobian is stable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59A30B7-917A-B289-0733-CA399A0A1E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96162" y="5322077"/>
                <a:ext cx="3075272" cy="1015663"/>
              </a:xfrm>
              <a:prstGeom prst="rect">
                <a:avLst/>
              </a:prstGeom>
              <a:blipFill>
                <a:blip r:embed="rId6"/>
                <a:stretch>
                  <a:fillRect t="-578" r="-2348" b="-7514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815322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CBF844-9D26-331C-663B-652A6C41F7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67BCC0E-F818-F8E8-CA07-63258B3532F3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5E1972-576A-FA7A-62F2-503227AF9CA9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2191DAF-EE3A-FC24-1F7B-E9C307CFE694}"/>
              </a:ext>
            </a:extLst>
          </p:cNvPr>
          <p:cNvSpPr txBox="1"/>
          <p:nvPr/>
        </p:nvSpPr>
        <p:spPr>
          <a:xfrm>
            <a:off x="106202" y="1826869"/>
            <a:ext cx="119968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Two players each with two strategies, neither with a strictly dominant strategy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A8CC73B0-8A5E-1116-81A3-B9DC5E42A9A9}"/>
              </a:ext>
            </a:extLst>
          </p:cNvPr>
          <p:cNvGraphicFramePr>
            <a:graphicFrameLocks noGrp="1"/>
          </p:cNvGraphicFramePr>
          <p:nvPr/>
        </p:nvGraphicFramePr>
        <p:xfrm>
          <a:off x="1240429" y="4275102"/>
          <a:ext cx="4064810" cy="1998138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2032405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2032405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</a:tblGrid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145C499-B588-95BB-EF65-8A15FA3F4019}"/>
              </a:ext>
            </a:extLst>
          </p:cNvPr>
          <p:cNvGraphicFramePr>
            <a:graphicFrameLocks noGrp="1"/>
          </p:cNvGraphicFramePr>
          <p:nvPr/>
        </p:nvGraphicFramePr>
        <p:xfrm>
          <a:off x="7244131" y="4275102"/>
          <a:ext cx="4064810" cy="2005122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2032405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2032405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</a:tblGrid>
              <a:tr h="1002561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1002561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B0481E59-6CFC-FA72-6DE4-7CDA1E840154}"/>
              </a:ext>
            </a:extLst>
          </p:cNvPr>
          <p:cNvSpPr txBox="1"/>
          <p:nvPr/>
        </p:nvSpPr>
        <p:spPr>
          <a:xfrm rot="16200000">
            <a:off x="5374761" y="4840437"/>
            <a:ext cx="21670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2090340-0C8A-10C6-88FD-A1094BD4CDB0}"/>
              </a:ext>
            </a:extLst>
          </p:cNvPr>
          <p:cNvSpPr txBox="1"/>
          <p:nvPr/>
        </p:nvSpPr>
        <p:spPr>
          <a:xfrm>
            <a:off x="6779679" y="4407097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4F37DC-294D-6CF1-C63F-1E1CE27BB297}"/>
              </a:ext>
            </a:extLst>
          </p:cNvPr>
          <p:cNvSpPr txBox="1"/>
          <p:nvPr/>
        </p:nvSpPr>
        <p:spPr>
          <a:xfrm>
            <a:off x="6779679" y="5401716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EEC09E8-F198-DB5F-F353-98DCA9214689}"/>
              </a:ext>
            </a:extLst>
          </p:cNvPr>
          <p:cNvSpPr txBox="1"/>
          <p:nvPr/>
        </p:nvSpPr>
        <p:spPr>
          <a:xfrm>
            <a:off x="8019276" y="3623048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0CB2FFF-9863-192B-FA77-2FC6908C092E}"/>
              </a:ext>
            </a:extLst>
          </p:cNvPr>
          <p:cNvSpPr txBox="1"/>
          <p:nvPr/>
        </p:nvSpPr>
        <p:spPr>
          <a:xfrm>
            <a:off x="10036392" y="3623048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19039F4-6A41-5F39-0339-B353B5DBB28C}"/>
              </a:ext>
            </a:extLst>
          </p:cNvPr>
          <p:cNvSpPr txBox="1"/>
          <p:nvPr/>
        </p:nvSpPr>
        <p:spPr>
          <a:xfrm>
            <a:off x="8251502" y="3147255"/>
            <a:ext cx="21889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25BF8B1-3481-D2C5-938A-E9B24E711EF5}"/>
              </a:ext>
            </a:extLst>
          </p:cNvPr>
          <p:cNvSpPr txBox="1"/>
          <p:nvPr/>
        </p:nvSpPr>
        <p:spPr>
          <a:xfrm>
            <a:off x="541340" y="2636102"/>
            <a:ext cx="53834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Player 1 Payoff Matrix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CBE23FB-08C9-BCB1-4C45-5922408B84E8}"/>
              </a:ext>
            </a:extLst>
          </p:cNvPr>
          <p:cNvSpPr txBox="1"/>
          <p:nvPr/>
        </p:nvSpPr>
        <p:spPr>
          <a:xfrm>
            <a:off x="6473676" y="2636101"/>
            <a:ext cx="522880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Player 2 Payoff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1369FE9-3C31-5E43-8DD5-C79BC4E7A516}"/>
                  </a:ext>
                </a:extLst>
              </p:cNvPr>
              <p:cNvSpPr txBox="1"/>
              <p:nvPr/>
            </p:nvSpPr>
            <p:spPr>
              <a:xfrm>
                <a:off x="1240429" y="6396335"/>
                <a:ext cx="1095157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Player 1 Strategy: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                                 Player 2 Strategy: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78A125A-73F5-FE6D-1318-D2572E363E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0429" y="6396335"/>
                <a:ext cx="10951571" cy="461665"/>
              </a:xfrm>
              <a:prstGeom prst="rect">
                <a:avLst/>
              </a:prstGeom>
              <a:blipFill>
                <a:blip r:embed="rId3"/>
                <a:stretch>
                  <a:fillRect l="-835"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F2129BDC-70CC-A931-2E32-F1345C391DC1}"/>
              </a:ext>
            </a:extLst>
          </p:cNvPr>
          <p:cNvSpPr txBox="1"/>
          <p:nvPr/>
        </p:nvSpPr>
        <p:spPr>
          <a:xfrm rot="16200000">
            <a:off x="-623369" y="4840437"/>
            <a:ext cx="21670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266D688-E03C-9CD4-74F8-86D124CDC04E}"/>
              </a:ext>
            </a:extLst>
          </p:cNvPr>
          <p:cNvSpPr txBox="1"/>
          <p:nvPr/>
        </p:nvSpPr>
        <p:spPr>
          <a:xfrm>
            <a:off x="781549" y="4407097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CFB81D4-DEF3-3DEB-C08E-79D1B81F9DDE}"/>
              </a:ext>
            </a:extLst>
          </p:cNvPr>
          <p:cNvSpPr txBox="1"/>
          <p:nvPr/>
        </p:nvSpPr>
        <p:spPr>
          <a:xfrm>
            <a:off x="781549" y="5401716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4B3A698-8271-4B6E-F0D9-35AFC365C7B5}"/>
              </a:ext>
            </a:extLst>
          </p:cNvPr>
          <p:cNvSpPr txBox="1"/>
          <p:nvPr/>
        </p:nvSpPr>
        <p:spPr>
          <a:xfrm>
            <a:off x="2021146" y="3623048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0811509-A8BE-094B-A93D-96ECDAFE024A}"/>
              </a:ext>
            </a:extLst>
          </p:cNvPr>
          <p:cNvSpPr txBox="1"/>
          <p:nvPr/>
        </p:nvSpPr>
        <p:spPr>
          <a:xfrm>
            <a:off x="4038262" y="3623048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D104B54-079B-02A6-8095-13C41F990502}"/>
              </a:ext>
            </a:extLst>
          </p:cNvPr>
          <p:cNvSpPr txBox="1"/>
          <p:nvPr/>
        </p:nvSpPr>
        <p:spPr>
          <a:xfrm>
            <a:off x="2253372" y="3147255"/>
            <a:ext cx="21889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7D69DC-4851-F3F5-F0B4-6858B101E8BB}"/>
              </a:ext>
            </a:extLst>
          </p:cNvPr>
          <p:cNvSpPr txBox="1"/>
          <p:nvPr/>
        </p:nvSpPr>
        <p:spPr>
          <a:xfrm>
            <a:off x="1240429" y="98813"/>
            <a:ext cx="1003634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RK4 Error Order with Even More Complicated BNN System</a:t>
            </a:r>
          </a:p>
        </p:txBody>
      </p:sp>
    </p:spTree>
    <p:extLst>
      <p:ext uri="{BB962C8B-B14F-4D97-AF65-F5344CB8AC3E}">
        <p14:creationId xmlns:p14="http://schemas.microsoft.com/office/powerpoint/2010/main" val="19043617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A92790-7F56-FED7-C9CA-3387DC954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D780400-5DA3-790F-1170-1F13ED36AD5B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77CEAE-D513-84A4-A42F-871C295E4DBE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E314E15-0498-DD34-D857-AD48958D2CF2}"/>
                  </a:ext>
                </a:extLst>
              </p:cNvPr>
              <p:cNvSpPr txBox="1"/>
              <p:nvPr/>
            </p:nvSpPr>
            <p:spPr>
              <a:xfrm>
                <a:off x="1856448" y="104381"/>
                <a:ext cx="8961319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What’s More Important…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𝚫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𝒕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or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𝑻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?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E314E15-0498-DD34-D857-AD48958D2C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6448" y="104381"/>
                <a:ext cx="8961319" cy="1323439"/>
              </a:xfrm>
              <a:prstGeom prst="rect">
                <a:avLst/>
              </a:prstGeom>
              <a:blipFill>
                <a:blip r:embed="rId3"/>
                <a:stretch>
                  <a:fillRect t="-8295" b="-188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A5382727-6515-48C1-4DD0-9939553A5BA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5716" y="1859709"/>
            <a:ext cx="7979879" cy="478792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B067EE6-D62C-A956-76DE-FC3FB097F7AC}"/>
                  </a:ext>
                </a:extLst>
              </p:cNvPr>
              <p:cNvSpPr txBox="1"/>
              <p:nvPr/>
            </p:nvSpPr>
            <p:spPr>
              <a:xfrm>
                <a:off x="8123454" y="2639552"/>
                <a:ext cx="4020688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All Systems starting at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99,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=.99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B067EE6-D62C-A956-76DE-FC3FB097F7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3454" y="2639552"/>
                <a:ext cx="4020688" cy="830997"/>
              </a:xfrm>
              <a:prstGeom prst="rect">
                <a:avLst/>
              </a:prstGeom>
              <a:blipFill>
                <a:blip r:embed="rId5"/>
                <a:stretch>
                  <a:fillRect l="-2428" t="-5882" b="-51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CC0C0FD7-354E-8B52-1A92-65B4DEF9E241}"/>
              </a:ext>
            </a:extLst>
          </p:cNvPr>
          <p:cNvSpPr txBox="1"/>
          <p:nvPr/>
        </p:nvSpPr>
        <p:spPr>
          <a:xfrm>
            <a:off x="8889358" y="1894894"/>
            <a:ext cx="194189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u="sng" dirty="0"/>
              <a:t>RK 4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5170563-2F1C-AC07-9EBC-155D6D4FE3FF}"/>
                  </a:ext>
                </a:extLst>
              </p:cNvPr>
              <p:cNvSpPr txBox="1"/>
              <p:nvPr/>
            </p:nvSpPr>
            <p:spPr>
              <a:xfrm>
                <a:off x="8596162" y="5322077"/>
                <a:ext cx="3075272" cy="1015663"/>
              </a:xfrm>
              <a:prstGeom prst="rect">
                <a:avLst/>
              </a:prstGeom>
              <a:solidFill>
                <a:srgbClr val="FFFF00"/>
              </a:solidFill>
              <a:ln w="3810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l-GR" sz="2000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𝛥</m:t>
                    </m:r>
                    <m:r>
                      <a:rPr lang="en-US" sz="2000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2000" dirty="0"/>
                  <a:t> doesn’t seem to matter so long as Jacobian is stable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5170563-2F1C-AC07-9EBC-155D6D4FE3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96162" y="5322077"/>
                <a:ext cx="3075272" cy="1015663"/>
              </a:xfrm>
              <a:prstGeom prst="rect">
                <a:avLst/>
              </a:prstGeom>
              <a:blipFill>
                <a:blip r:embed="rId6"/>
                <a:stretch>
                  <a:fillRect t="-578" r="-2348" b="-7514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F245A90-0F70-9110-929F-771472056B57}"/>
                  </a:ext>
                </a:extLst>
              </p:cNvPr>
              <p:cNvSpPr txBox="1"/>
              <p:nvPr/>
            </p:nvSpPr>
            <p:spPr>
              <a:xfrm>
                <a:off x="8075595" y="3568291"/>
                <a:ext cx="4020688" cy="152246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Mixed strategy Nash equilibrium at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F245A90-0F70-9110-929F-771472056B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5595" y="3568291"/>
                <a:ext cx="4020688" cy="1522468"/>
              </a:xfrm>
              <a:prstGeom prst="rect">
                <a:avLst/>
              </a:prstGeom>
              <a:blipFill>
                <a:blip r:embed="rId7"/>
                <a:stretch>
                  <a:fillRect l="-2428" t="-32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2767395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D1C8E8-F312-6188-D46D-B7748C976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0596AB0-527E-A98E-E705-E0010A3B975E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57EC79F-F698-3845-4EAB-E6B40C42C8FE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5A08A88-F91C-ABE3-9BB6-ADF8713F1E0D}"/>
              </a:ext>
            </a:extLst>
          </p:cNvPr>
          <p:cNvSpPr txBox="1"/>
          <p:nvPr/>
        </p:nvSpPr>
        <p:spPr>
          <a:xfrm>
            <a:off x="1856448" y="104381"/>
            <a:ext cx="896131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Fictitious Play with Continuous Strategies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53DD4BA-4259-6581-8ECA-CF28FBF6EFC2}"/>
                  </a:ext>
                </a:extLst>
              </p:cNvPr>
              <p:cNvSpPr txBox="1"/>
              <p:nvPr/>
            </p:nvSpPr>
            <p:spPr>
              <a:xfrm>
                <a:off x="137397" y="1710813"/>
                <a:ext cx="11917205" cy="49954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Danksin [1954] proved that simultaneous fictitious play for continuous strategy games converges for compact strategy spaces and continuous ordinal potential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Φ</m:t>
                    </m:r>
                  </m:oMath>
                </a14:m>
                <a:endParaRPr lang="en-US" sz="2400" dirty="0"/>
              </a:p>
              <a:p>
                <a:endParaRPr lang="en-US" sz="2400" dirty="0"/>
              </a:p>
              <a:p>
                <a:r>
                  <a:rPr lang="en-US" sz="2400" dirty="0"/>
                  <a:t>At each step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400" dirty="0"/>
                  <a:t>, choose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400" dirty="0"/>
                  <a:t> such that</a:t>
                </a:r>
              </a:p>
              <a:p>
                <a:pPr>
                  <a:spcAft>
                    <a:spcPts val="12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000" b="0" i="0" smtClean="0">
                                  <a:latin typeface="Cambria Math" panose="02040503050406030204" pitchFamily="18" charset="0"/>
                                </a:rPr>
                                <m:t>arg</m:t>
                              </m:r>
                              <m:r>
                                <a:rPr lang="en-US" sz="2000" b="0" i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a:rPr lang="el-GR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Φ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e>
                      </m:func>
                    </m:oMath>
                  </m:oMathPara>
                </a14:m>
                <a:endParaRPr lang="en-US" sz="2000" dirty="0"/>
              </a:p>
              <a:p>
                <a:pPr>
                  <a:spcAft>
                    <a:spcPts val="12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000" b="0" i="0" smtClean="0">
                                  <a:latin typeface="Cambria Math" panose="02040503050406030204" pitchFamily="18" charset="0"/>
                                </a:rPr>
                                <m:t>arg</m:t>
                              </m:r>
                              <m:r>
                                <a:rPr lang="en-US" sz="2000" b="0" i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200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a:rPr lang="el-GR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Φ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e>
                      </m:func>
                    </m:oMath>
                  </m:oMathPara>
                </a14:m>
                <a:endParaRPr lang="en-US" sz="2000" dirty="0"/>
              </a:p>
              <a:p>
                <a:pPr>
                  <a:spcAft>
                    <a:spcPts val="1200"/>
                  </a:spcAft>
                </a:pPr>
                <a:r>
                  <a:rPr lang="en-US" sz="2400" dirty="0"/>
                  <a:t>Then,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pt-BR" sz="20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pt-BR" sz="200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pt-BR" sz="200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t-BR" sz="2000" i="1" smtClean="0">
                                  <a:latin typeface="Cambria Math" panose="02040503050406030204" pitchFamily="18" charset="0"/>
                                </a:rPr>
                                <m:t>→</m:t>
                              </m:r>
                              <m:r>
                                <a:rPr lang="pt-BR" sz="2000" i="1" smtClean="0">
                                  <a:latin typeface="Cambria Math" panose="02040503050406030204" pitchFamily="18" charset="0"/>
                                </a:rPr>
                                <m:t>∞</m:t>
                              </m:r>
                            </m:lim>
                          </m:limLow>
                          <m:f>
                            <m:f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den>
                          </m:f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brk m:alnAt="23"/>
                                </m:rPr>
                                <a:rPr lang="en-US" sz="20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a:rPr lang="el-GR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Φ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func>
                            <m:func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pt-BR" sz="2000">
                                      <a:latin typeface="Cambria Math" panose="02040503050406030204" pitchFamily="18" charset="0"/>
                                    </a:rPr>
                                    <m:t>lim</m:t>
                                  </m:r>
                                </m:e>
                                <m:lim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→</m:t>
                                  </m:r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∞</m:t>
                                  </m:r>
                                </m:lim>
                              </m:limLow>
                              <m:f>
                                <m:fPr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den>
                              </m:f>
                            </m:fName>
                            <m:e>
                              <m:nary>
                                <m:naryPr>
                                  <m:chr m:val="∑"/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m:rPr>
                                      <m:brk m:alnAt="23"/>
                                    </m:r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Φ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sSub>
                                    <m:sSubPr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nary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</m:e>
                          </m:func>
                        </m:e>
                      </m:func>
                      <m:r>
                        <m:rPr>
                          <m:sty m:val="p"/>
                        </m:rPr>
                        <a:rPr lang="en-US" sz="2000" b="0" i="0" smtClean="0">
                          <a:latin typeface="Cambria Math" panose="02040503050406030204" pitchFamily="18" charset="0"/>
                        </a:rPr>
                        <m:t>Value</m:t>
                      </m:r>
                      <m:r>
                        <a:rPr lang="en-US" sz="20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2000" b="0" i="0" smtClean="0">
                          <a:latin typeface="Cambria Math" panose="02040503050406030204" pitchFamily="18" charset="0"/>
                        </a:rPr>
                        <m:t>of</m:t>
                      </m:r>
                      <m:r>
                        <a:rPr lang="en-US" sz="20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2000" b="0" i="0" smtClean="0">
                          <a:latin typeface="Cambria Math" panose="02040503050406030204" pitchFamily="18" charset="0"/>
                        </a:rPr>
                        <m:t>the</m:t>
                      </m:r>
                      <m:r>
                        <a:rPr lang="en-US" sz="20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2000" b="0" i="0" smtClean="0">
                          <a:latin typeface="Cambria Math" panose="02040503050406030204" pitchFamily="18" charset="0"/>
                        </a:rPr>
                        <m:t>Game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53DD4BA-4259-6581-8ECA-CF28FBF6EF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397" y="1710813"/>
                <a:ext cx="11917205" cy="4995406"/>
              </a:xfrm>
              <a:prstGeom prst="rect">
                <a:avLst/>
              </a:prstGeom>
              <a:blipFill>
                <a:blip r:embed="rId3"/>
                <a:stretch>
                  <a:fillRect l="-819" t="-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502877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0F33E4-CED1-5254-46E9-721BA18B9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1FDACCB-FB90-7C6C-29D7-BF9ACB4C90FA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050EC31-0E62-378E-B914-4C984027AAEF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2CE2A4-2E8A-5DA7-D907-AAA474AABFF7}"/>
              </a:ext>
            </a:extLst>
          </p:cNvPr>
          <p:cNvSpPr txBox="1"/>
          <p:nvPr/>
        </p:nvSpPr>
        <p:spPr>
          <a:xfrm>
            <a:off x="1856448" y="104381"/>
            <a:ext cx="896131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Simultaneous Fictitious Play with Continuous Strategies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E9BADE9-436C-0BFD-6B0D-34528F533FF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043"/>
          <a:stretch>
            <a:fillRect/>
          </a:stretch>
        </p:blipFill>
        <p:spPr>
          <a:xfrm>
            <a:off x="674216" y="1931654"/>
            <a:ext cx="4938656" cy="3811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5107B93-A350-7806-AB6B-0B4480ADA07B}"/>
                  </a:ext>
                </a:extLst>
              </p:cNvPr>
              <p:cNvSpPr txBox="1"/>
              <p:nvPr/>
            </p:nvSpPr>
            <p:spPr>
              <a:xfrm>
                <a:off x="1110715" y="5742654"/>
                <a:ext cx="3776899" cy="78380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5107B93-A350-7806-AB6B-0B4480ADA0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0715" y="5742654"/>
                <a:ext cx="3776899" cy="78380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731B891-20F1-A5AB-2367-8770DAD9E8BC}"/>
                  </a:ext>
                </a:extLst>
              </p:cNvPr>
              <p:cNvSpPr txBox="1"/>
              <p:nvPr/>
            </p:nvSpPr>
            <p:spPr>
              <a:xfrm>
                <a:off x="6096000" y="1931654"/>
                <a:ext cx="102669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u="sng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en-US" sz="2400" b="0" i="1" u="sng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400" b="0" i="1" u="sng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400" u="sng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731B891-20F1-A5AB-2367-8770DAD9E8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1931654"/>
                <a:ext cx="1026695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1F28531-0059-4F81-3215-4CB9710E77A5}"/>
                  </a:ext>
                </a:extLst>
              </p:cNvPr>
              <p:cNvSpPr txBox="1"/>
              <p:nvPr/>
            </p:nvSpPr>
            <p:spPr>
              <a:xfrm>
                <a:off x="6096000" y="2736503"/>
                <a:ext cx="102669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u="sng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en-US" sz="2400" b="0" i="1" u="sng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400" b="0" i="1" u="sng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u="sng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1F28531-0059-4F81-3215-4CB9710E77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2736503"/>
                <a:ext cx="1026695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3CB60FD-ACB3-86AB-6D51-06CE5B8550D8}"/>
                  </a:ext>
                </a:extLst>
              </p:cNvPr>
              <p:cNvSpPr txBox="1"/>
              <p:nvPr/>
            </p:nvSpPr>
            <p:spPr>
              <a:xfrm>
                <a:off x="7605823" y="2148940"/>
                <a:ext cx="1451009" cy="78380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3CB60FD-ACB3-86AB-6D51-06CE5B8550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5823" y="2148940"/>
                <a:ext cx="1451009" cy="78380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4828579-B334-C60B-B5B9-5682066C0A91}"/>
                  </a:ext>
                </a:extLst>
              </p:cNvPr>
              <p:cNvSpPr txBox="1"/>
              <p:nvPr/>
            </p:nvSpPr>
            <p:spPr>
              <a:xfrm>
                <a:off x="5900670" y="3200764"/>
                <a:ext cx="4364794" cy="88171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arg</m:t>
                          </m:r>
                          <m:r>
                            <a:rPr lang="en-US" sz="24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max</m:t>
                          </m:r>
                          <m: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  <m:li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[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]</m:t>
                          </m:r>
                        </m:lim>
                      </m:limLow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f>
                            <m:f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8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4828579-B334-C60B-B5B9-5682066C0A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0670" y="3200764"/>
                <a:ext cx="4364794" cy="88171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0A77A39B-1C4E-B1D6-D3E3-27BBA38B8A5C}"/>
                  </a:ext>
                </a:extLst>
              </p:cNvPr>
              <p:cNvSpPr txBox="1"/>
              <p:nvPr/>
            </p:nvSpPr>
            <p:spPr>
              <a:xfrm>
                <a:off x="9539960" y="2173723"/>
                <a:ext cx="1451009" cy="78380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0A77A39B-1C4E-B1D6-D3E3-27BBA38B8A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39960" y="2173723"/>
                <a:ext cx="1451009" cy="78380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BD12BD6-6FBC-E0DF-9528-C1E449556F14}"/>
                  </a:ext>
                </a:extLst>
              </p:cNvPr>
              <p:cNvSpPr txBox="1"/>
              <p:nvPr/>
            </p:nvSpPr>
            <p:spPr>
              <a:xfrm>
                <a:off x="10663789" y="3410789"/>
                <a:ext cx="120863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BD12BD6-6FBC-E0DF-9528-C1E449556F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3789" y="3410789"/>
                <a:ext cx="1208632" cy="46166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Arrow: Right 18">
            <a:extLst>
              <a:ext uri="{FF2B5EF4-FFF2-40B4-BE49-F238E27FC236}">
                <a16:creationId xmlns:a16="http://schemas.microsoft.com/office/drawing/2014/main" id="{07FD5688-49E7-794C-D397-CA93FEA70088}"/>
              </a:ext>
            </a:extLst>
          </p:cNvPr>
          <p:cNvSpPr/>
          <p:nvPr/>
        </p:nvSpPr>
        <p:spPr>
          <a:xfrm>
            <a:off x="10138835" y="3471354"/>
            <a:ext cx="442762" cy="365760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B107C8C-814E-1C42-0180-C1DC516738A7}"/>
                  </a:ext>
                </a:extLst>
              </p:cNvPr>
              <p:cNvSpPr txBox="1"/>
              <p:nvPr/>
            </p:nvSpPr>
            <p:spPr>
              <a:xfrm>
                <a:off x="5296354" y="4038722"/>
                <a:ext cx="4364794" cy="8746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arg</m:t>
                          </m:r>
                          <m:r>
                            <a:rPr lang="en-US" sz="24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max</m:t>
                          </m:r>
                          <m: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  <m:li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∈[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]</m:t>
                          </m:r>
                        </m:lim>
                      </m:limLow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B107C8C-814E-1C42-0180-C1DC516738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6354" y="4038722"/>
                <a:ext cx="4364794" cy="874663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399E82A-5061-A9C2-7BF8-92EF7025FAD1}"/>
                  </a:ext>
                </a:extLst>
              </p:cNvPr>
              <p:cNvSpPr txBox="1"/>
              <p:nvPr/>
            </p:nvSpPr>
            <p:spPr>
              <a:xfrm>
                <a:off x="9473703" y="4248747"/>
                <a:ext cx="133026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399E82A-5061-A9C2-7BF8-92EF7025FA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73703" y="4248747"/>
                <a:ext cx="1330263" cy="461665"/>
              </a:xfrm>
              <a:prstGeom prst="rect">
                <a:avLst/>
              </a:prstGeom>
              <a:blipFill>
                <a:blip r:embed="rId12"/>
                <a:stretch>
                  <a:fillRect b="-78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Arrow: Right 21">
            <a:extLst>
              <a:ext uri="{FF2B5EF4-FFF2-40B4-BE49-F238E27FC236}">
                <a16:creationId xmlns:a16="http://schemas.microsoft.com/office/drawing/2014/main" id="{1780E99B-106C-1BE4-56F8-0781B47103AC}"/>
              </a:ext>
            </a:extLst>
          </p:cNvPr>
          <p:cNvSpPr/>
          <p:nvPr/>
        </p:nvSpPr>
        <p:spPr>
          <a:xfrm>
            <a:off x="8945302" y="4293173"/>
            <a:ext cx="442762" cy="365760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424A35D0-F2AB-05DC-7B19-31451C8F112F}"/>
                  </a:ext>
                </a:extLst>
              </p:cNvPr>
              <p:cNvSpPr txBox="1"/>
              <p:nvPr/>
            </p:nvSpPr>
            <p:spPr>
              <a:xfrm>
                <a:off x="6095999" y="4841642"/>
                <a:ext cx="102669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u="sng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en-US" sz="2400" b="0" i="1" u="sng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400" b="0" i="1" u="sng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US" sz="2400" u="sng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424A35D0-F2AB-05DC-7B19-31451C8F11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999" y="4841642"/>
                <a:ext cx="1026695" cy="461665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D803DC5-FA28-9AFD-8846-BFD4CCBE4D97}"/>
                  </a:ext>
                </a:extLst>
              </p:cNvPr>
              <p:cNvSpPr txBox="1"/>
              <p:nvPr/>
            </p:nvSpPr>
            <p:spPr>
              <a:xfrm>
                <a:off x="5907085" y="5269449"/>
                <a:ext cx="5180615" cy="9221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arg</m:t>
                          </m:r>
                          <m:r>
                            <a:rPr lang="en-US" sz="24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max</m:t>
                          </m:r>
                          <m: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  <m:li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lim>
                      </m:limLow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m:rPr>
                          <m:sty m:val="p"/>
                        </m:rPr>
                        <a:rPr lang="el-GR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f>
                            <m:f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m:rPr>
                          <m:sty m:val="p"/>
                        </m:rPr>
                        <a:rPr lang="el-GR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D803DC5-FA28-9AFD-8846-BFD4CCBE4D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7085" y="5269449"/>
                <a:ext cx="5180615" cy="922176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91ADAF1-C02B-CEE3-5C74-0283F3566F65}"/>
                  </a:ext>
                </a:extLst>
              </p:cNvPr>
              <p:cNvSpPr txBox="1"/>
              <p:nvPr/>
            </p:nvSpPr>
            <p:spPr>
              <a:xfrm>
                <a:off x="6001541" y="6134556"/>
                <a:ext cx="121560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91ADAF1-C02B-CEE3-5C74-0283F3566F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1541" y="6134556"/>
                <a:ext cx="1215609" cy="461665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Oval 26">
            <a:extLst>
              <a:ext uri="{FF2B5EF4-FFF2-40B4-BE49-F238E27FC236}">
                <a16:creationId xmlns:a16="http://schemas.microsoft.com/office/drawing/2014/main" id="{C5812537-D19C-BFC8-6FB6-50BE5527969F}"/>
              </a:ext>
            </a:extLst>
          </p:cNvPr>
          <p:cNvSpPr/>
          <p:nvPr/>
        </p:nvSpPr>
        <p:spPr>
          <a:xfrm>
            <a:off x="2906349" y="3612987"/>
            <a:ext cx="154004" cy="144379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FE0556AE-788E-25AE-7CBE-D7EDBB72026C}"/>
              </a:ext>
            </a:extLst>
          </p:cNvPr>
          <p:cNvSpPr/>
          <p:nvPr/>
        </p:nvSpPr>
        <p:spPr>
          <a:xfrm>
            <a:off x="1126048" y="5197259"/>
            <a:ext cx="154004" cy="144379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EB7964A6-4E2A-A713-5D4B-238F5F048CF6}"/>
              </a:ext>
            </a:extLst>
          </p:cNvPr>
          <p:cNvCxnSpPr>
            <a:cxnSpLocks/>
          </p:cNvCxnSpPr>
          <p:nvPr/>
        </p:nvCxnSpPr>
        <p:spPr>
          <a:xfrm flipH="1">
            <a:off x="1280052" y="3681376"/>
            <a:ext cx="1626297" cy="151588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047354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F40B59-F540-9FF6-5BCE-49FCD0D50C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40DCD03-2C8C-2B98-1633-E34609348605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2087D52-BD5A-FC60-2903-E33C9732619B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306BB51-329D-ABA6-D79E-000B3DFA3C11}"/>
              </a:ext>
            </a:extLst>
          </p:cNvPr>
          <p:cNvSpPr txBox="1"/>
          <p:nvPr/>
        </p:nvSpPr>
        <p:spPr>
          <a:xfrm>
            <a:off x="0" y="104381"/>
            <a:ext cx="1197382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Simultaneous Fictitious Play with Cont. Strategies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729BDE4-4E14-C2E0-4AD8-12793643758B}"/>
                  </a:ext>
                </a:extLst>
              </p:cNvPr>
              <p:cNvSpPr txBox="1"/>
              <p:nvPr/>
            </p:nvSpPr>
            <p:spPr>
              <a:xfrm>
                <a:off x="-269508" y="6025141"/>
                <a:ext cx="554415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=−(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−.1(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−.65)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729BDE4-4E14-C2E0-4AD8-1279364375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69508" y="6025141"/>
                <a:ext cx="5544150" cy="461665"/>
              </a:xfrm>
              <a:prstGeom prst="rect">
                <a:avLst/>
              </a:prstGeom>
              <a:blipFill>
                <a:blip r:embed="rId3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TextBox 35">
            <a:extLst>
              <a:ext uri="{FF2B5EF4-FFF2-40B4-BE49-F238E27FC236}">
                <a16:creationId xmlns:a16="http://schemas.microsoft.com/office/drawing/2014/main" id="{80E7FAEC-BAE0-E198-3F03-F7D647DA377C}"/>
              </a:ext>
            </a:extLst>
          </p:cNvPr>
          <p:cNvSpPr txBox="1"/>
          <p:nvPr/>
        </p:nvSpPr>
        <p:spPr>
          <a:xfrm>
            <a:off x="-1" y="720862"/>
            <a:ext cx="1197382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A More Interesting Example</a:t>
            </a: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D5E7D90D-B98E-4E75-97A6-07AA00AED0C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5294"/>
          <a:stretch>
            <a:fillRect/>
          </a:stretch>
        </p:blipFill>
        <p:spPr>
          <a:xfrm>
            <a:off x="77002" y="1866768"/>
            <a:ext cx="5544151" cy="400241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580D838B-EC74-7B5F-5F2D-089FC695E4CE}"/>
                  </a:ext>
                </a:extLst>
              </p:cNvPr>
              <p:cNvSpPr txBox="1"/>
              <p:nvPr/>
            </p:nvSpPr>
            <p:spPr>
              <a:xfrm>
                <a:off x="6096000" y="1931654"/>
                <a:ext cx="102669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u="sng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en-US" sz="2400" b="0" i="1" u="sng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u="sng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580D838B-EC74-7B5F-5F2D-089FC695E4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1931654"/>
                <a:ext cx="1026695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DDB44DB4-A6B6-15B0-B539-3CC57F8AFE53}"/>
                  </a:ext>
                </a:extLst>
              </p:cNvPr>
              <p:cNvSpPr txBox="1"/>
              <p:nvPr/>
            </p:nvSpPr>
            <p:spPr>
              <a:xfrm>
                <a:off x="6096000" y="2736503"/>
                <a:ext cx="102669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u="sng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en-US" sz="2400" b="0" i="1" u="sng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400" u="sng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DDB44DB4-A6B6-15B0-B539-3CC57F8AFE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2736503"/>
                <a:ext cx="1026695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8FB46F96-905E-A80C-ECBF-BB5BD2DA516E}"/>
                  </a:ext>
                </a:extLst>
              </p:cNvPr>
              <p:cNvSpPr txBox="1"/>
              <p:nvPr/>
            </p:nvSpPr>
            <p:spPr>
              <a:xfrm>
                <a:off x="7605823" y="2148940"/>
                <a:ext cx="1451009" cy="78380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8FB46F96-905E-A80C-ECBF-BB5BD2DA51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5823" y="2148940"/>
                <a:ext cx="1451009" cy="78380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959DFB0B-5897-E417-6BE9-CC31C013C792}"/>
                  </a:ext>
                </a:extLst>
              </p:cNvPr>
              <p:cNvSpPr txBox="1"/>
              <p:nvPr/>
            </p:nvSpPr>
            <p:spPr>
              <a:xfrm>
                <a:off x="5986912" y="3198168"/>
                <a:ext cx="5544150" cy="88171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arg</m:t>
                          </m:r>
                          <m:r>
                            <a:rPr lang="en-US" sz="24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max</m:t>
                          </m:r>
                          <m: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  <m:li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[0,1]</m:t>
                          </m:r>
                        </m:lim>
                      </m:limLow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−(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f>
                            <m:f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−.1(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−.65)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959DFB0B-5897-E417-6BE9-CC31C013C7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6912" y="3198168"/>
                <a:ext cx="5544150" cy="88171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B1AF3C1F-BB45-336C-5F51-A3133CE2C0CE}"/>
                  </a:ext>
                </a:extLst>
              </p:cNvPr>
              <p:cNvSpPr txBox="1"/>
              <p:nvPr/>
            </p:nvSpPr>
            <p:spPr>
              <a:xfrm>
                <a:off x="9539960" y="2173723"/>
                <a:ext cx="1451009" cy="78380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B1AF3C1F-BB45-336C-5F51-A3133CE2C0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39960" y="2173723"/>
                <a:ext cx="1451009" cy="78380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D4998ED2-E625-3D16-7D12-6292F535B49A}"/>
                  </a:ext>
                </a:extLst>
              </p:cNvPr>
              <p:cNvSpPr txBox="1"/>
              <p:nvPr/>
            </p:nvSpPr>
            <p:spPr>
              <a:xfrm>
                <a:off x="5986912" y="4004024"/>
                <a:ext cx="554415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≈.7044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D4998ED2-E625-3D16-7D12-6292F535B4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6912" y="4004024"/>
                <a:ext cx="5544150" cy="46166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EECF86EA-A32D-4947-A699-BA810A74A618}"/>
                  </a:ext>
                </a:extLst>
              </p:cNvPr>
              <p:cNvSpPr txBox="1"/>
              <p:nvPr/>
            </p:nvSpPr>
            <p:spPr>
              <a:xfrm>
                <a:off x="5457524" y="4420099"/>
                <a:ext cx="6734476" cy="88171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arg</m:t>
                          </m:r>
                          <m:r>
                            <a:rPr lang="en-US" sz="24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max</m:t>
                          </m:r>
                          <m: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  <m:li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[0,1]</m:t>
                          </m:r>
                        </m:lim>
                      </m:limLow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−(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−.1(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f>
                            <m:f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−.65)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EECF86EA-A32D-4947-A699-BA810A74A6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7524" y="4420099"/>
                <a:ext cx="6734476" cy="881716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E1C0AC57-AE4B-84D7-27BD-8D94582710AC}"/>
                  </a:ext>
                </a:extLst>
              </p:cNvPr>
              <p:cNvSpPr txBox="1"/>
              <p:nvPr/>
            </p:nvSpPr>
            <p:spPr>
              <a:xfrm>
                <a:off x="6052687" y="5445789"/>
                <a:ext cx="554415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=.25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E1C0AC57-AE4B-84D7-27BD-8D94582710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2687" y="5445789"/>
                <a:ext cx="5544150" cy="461665"/>
              </a:xfrm>
              <a:prstGeom prst="rect">
                <a:avLst/>
              </a:prstGeom>
              <a:blipFill>
                <a:blip r:embed="rId12"/>
                <a:stretch>
                  <a:fillRect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Oval 1">
            <a:extLst>
              <a:ext uri="{FF2B5EF4-FFF2-40B4-BE49-F238E27FC236}">
                <a16:creationId xmlns:a16="http://schemas.microsoft.com/office/drawing/2014/main" id="{435A29B4-0F25-F90F-5E9F-AE87BA4D542F}"/>
              </a:ext>
            </a:extLst>
          </p:cNvPr>
          <p:cNvSpPr/>
          <p:nvPr/>
        </p:nvSpPr>
        <p:spPr>
          <a:xfrm>
            <a:off x="2569463" y="3651408"/>
            <a:ext cx="154004" cy="144379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09FEA63-EE14-48B8-3C0C-FDD2EE0DE506}"/>
              </a:ext>
            </a:extLst>
          </p:cNvPr>
          <p:cNvSpPr/>
          <p:nvPr/>
        </p:nvSpPr>
        <p:spPr>
          <a:xfrm>
            <a:off x="3367427" y="4469122"/>
            <a:ext cx="154004" cy="144379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D48B666-D51A-8459-F5EC-6B67A7E1766A}"/>
              </a:ext>
            </a:extLst>
          </p:cNvPr>
          <p:cNvCxnSpPr>
            <a:cxnSpLocks/>
          </p:cNvCxnSpPr>
          <p:nvPr/>
        </p:nvCxnSpPr>
        <p:spPr>
          <a:xfrm>
            <a:off x="2711055" y="3786162"/>
            <a:ext cx="669300" cy="69447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39208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631C4-AAFE-131D-A09E-AF271254A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4AF1D69-7351-0D2E-CC93-F135F1CB21D1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BB5FC5C-EB47-B2DD-48BF-615CC4A91337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546E971-4931-B05B-3971-A4C06D68F807}"/>
              </a:ext>
            </a:extLst>
          </p:cNvPr>
          <p:cNvSpPr txBox="1"/>
          <p:nvPr/>
        </p:nvSpPr>
        <p:spPr>
          <a:xfrm>
            <a:off x="0" y="104381"/>
            <a:ext cx="1197382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Simultaneous Fictitious Play with Cont. Strategies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589ACFE-1084-7AD3-3AC7-8D86751B2A7A}"/>
                  </a:ext>
                </a:extLst>
              </p:cNvPr>
              <p:cNvSpPr txBox="1"/>
              <p:nvPr/>
            </p:nvSpPr>
            <p:spPr>
              <a:xfrm>
                <a:off x="-269508" y="6025141"/>
                <a:ext cx="554415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=−(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−.1(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−.65)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589ACFE-1084-7AD3-3AC7-8D86751B2A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69508" y="6025141"/>
                <a:ext cx="5544150" cy="461665"/>
              </a:xfrm>
              <a:prstGeom prst="rect">
                <a:avLst/>
              </a:prstGeom>
              <a:blipFill>
                <a:blip r:embed="rId3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TextBox 35">
            <a:extLst>
              <a:ext uri="{FF2B5EF4-FFF2-40B4-BE49-F238E27FC236}">
                <a16:creationId xmlns:a16="http://schemas.microsoft.com/office/drawing/2014/main" id="{92F7A34A-997A-8F84-C6E1-50AE3CAFACEA}"/>
              </a:ext>
            </a:extLst>
          </p:cNvPr>
          <p:cNvSpPr txBox="1"/>
          <p:nvPr/>
        </p:nvSpPr>
        <p:spPr>
          <a:xfrm>
            <a:off x="-1" y="720862"/>
            <a:ext cx="1197382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A More Interesting Example</a:t>
            </a: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F60167BE-3F6E-83F2-4B05-6F158B44D54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5294"/>
          <a:stretch>
            <a:fillRect/>
          </a:stretch>
        </p:blipFill>
        <p:spPr>
          <a:xfrm>
            <a:off x="77002" y="1866768"/>
            <a:ext cx="5544151" cy="400241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8A68EF0-178B-D0C1-EFAC-3D09FB3C0AC8}"/>
                  </a:ext>
                </a:extLst>
              </p:cNvPr>
              <p:cNvSpPr txBox="1"/>
              <p:nvPr/>
            </p:nvSpPr>
            <p:spPr>
              <a:xfrm>
                <a:off x="6096000" y="1931654"/>
                <a:ext cx="102669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u="sng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en-US" sz="2400" b="0" i="1" u="sng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sz="2400" u="sng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8A68EF0-178B-D0C1-EFAC-3D09FB3C0A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1931654"/>
                <a:ext cx="1026695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917CDC0E-3098-2C4D-05D2-0CCD74529099}"/>
                  </a:ext>
                </a:extLst>
              </p:cNvPr>
              <p:cNvSpPr txBox="1"/>
              <p:nvPr/>
            </p:nvSpPr>
            <p:spPr>
              <a:xfrm>
                <a:off x="6609347" y="2417966"/>
                <a:ext cx="177105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≈.7044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917CDC0E-3098-2C4D-05D2-0CCD745290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9347" y="2417966"/>
                <a:ext cx="1771050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ECBECCE9-E2A8-06FC-64FE-A04A9FDC11DE}"/>
                  </a:ext>
                </a:extLst>
              </p:cNvPr>
              <p:cNvSpPr txBox="1"/>
              <p:nvPr/>
            </p:nvSpPr>
            <p:spPr>
              <a:xfrm>
                <a:off x="8791073" y="2393319"/>
                <a:ext cx="177105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=.25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ECBECCE9-E2A8-06FC-64FE-A04A9FDC11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1073" y="2393319"/>
                <a:ext cx="1771050" cy="461665"/>
              </a:xfrm>
              <a:prstGeom prst="rect">
                <a:avLst/>
              </a:prstGeom>
              <a:blipFill>
                <a:blip r:embed="rId7"/>
                <a:stretch>
                  <a:fillRect b="-9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63D4567-8A98-40A2-AA34-27D429B3AA41}"/>
                  </a:ext>
                </a:extLst>
              </p:cNvPr>
              <p:cNvSpPr txBox="1"/>
              <p:nvPr/>
            </p:nvSpPr>
            <p:spPr>
              <a:xfrm>
                <a:off x="5621153" y="2953642"/>
                <a:ext cx="6227546" cy="15731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arg</m:t>
                          </m:r>
                          <m:r>
                            <a:rPr lang="en-US" sz="24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max</m:t>
                          </m:r>
                          <m: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  <m:li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[0,1]</m:t>
                          </m:r>
                        </m:lim>
                      </m:limLow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[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−(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f>
                            <m:f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−.1</m:t>
                      </m:r>
                      <m:d>
                        <m:dPr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−.65)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4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[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−(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.25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−.1</m:t>
                      </m:r>
                      <m:d>
                        <m:dPr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−.65)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63D4567-8A98-40A2-AA34-27D429B3AA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1153" y="2953642"/>
                <a:ext cx="6227546" cy="157318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6F80EDD-01F8-1644-0CA3-3C37CF556896}"/>
                  </a:ext>
                </a:extLst>
              </p:cNvPr>
              <p:cNvSpPr txBox="1"/>
              <p:nvPr/>
            </p:nvSpPr>
            <p:spPr>
              <a:xfrm>
                <a:off x="5621153" y="4682785"/>
                <a:ext cx="6227546" cy="15731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arg</m:t>
                          </m:r>
                          <m:r>
                            <a:rPr lang="en-US" sz="24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max</m:t>
                          </m:r>
                          <m: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  <m:li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[0,1]</m:t>
                          </m:r>
                        </m:lim>
                      </m:limLow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[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−(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−.1</m:t>
                      </m:r>
                      <m:d>
                        <m:dPr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−.65)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4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[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−(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.7044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−.1</m:t>
                      </m:r>
                      <m:d>
                        <m:dPr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.7044−.65)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6F80EDD-01F8-1644-0CA3-3C37CF5568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1153" y="4682785"/>
                <a:ext cx="6227546" cy="157318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5DE85D5-314C-8562-11FB-40E060574F6F}"/>
                  </a:ext>
                </a:extLst>
              </p:cNvPr>
              <p:cNvSpPr txBox="1"/>
              <p:nvPr/>
            </p:nvSpPr>
            <p:spPr>
              <a:xfrm>
                <a:off x="6609347" y="6291954"/>
                <a:ext cx="177105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≈.615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5DE85D5-314C-8562-11FB-40E060574F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9347" y="6291954"/>
                <a:ext cx="1771050" cy="46166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C3615BB-21D4-EFF5-43EB-9C55A86C60CB}"/>
                  </a:ext>
                </a:extLst>
              </p:cNvPr>
              <p:cNvSpPr txBox="1"/>
              <p:nvPr/>
            </p:nvSpPr>
            <p:spPr>
              <a:xfrm>
                <a:off x="8807116" y="6291954"/>
                <a:ext cx="177105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≈.3731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C3615BB-21D4-EFF5-43EB-9C55A86C60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07116" y="6291954"/>
                <a:ext cx="1771050" cy="461665"/>
              </a:xfrm>
              <a:prstGeom prst="rect">
                <a:avLst/>
              </a:prstGeom>
              <a:blipFill>
                <a:blip r:embed="rId11"/>
                <a:stretch>
                  <a:fillRect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Oval 12">
            <a:extLst>
              <a:ext uri="{FF2B5EF4-FFF2-40B4-BE49-F238E27FC236}">
                <a16:creationId xmlns:a16="http://schemas.microsoft.com/office/drawing/2014/main" id="{FED0461A-47D3-A4C6-6F1F-821409943808}"/>
              </a:ext>
            </a:extLst>
          </p:cNvPr>
          <p:cNvSpPr/>
          <p:nvPr/>
        </p:nvSpPr>
        <p:spPr>
          <a:xfrm>
            <a:off x="3367427" y="4469122"/>
            <a:ext cx="154004" cy="144379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F89DCDF8-FF16-0F67-10F9-2691534B9B1F}"/>
              </a:ext>
            </a:extLst>
          </p:cNvPr>
          <p:cNvSpPr/>
          <p:nvPr/>
        </p:nvSpPr>
        <p:spPr>
          <a:xfrm>
            <a:off x="2980812" y="4072882"/>
            <a:ext cx="154004" cy="144379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2C31775-1CA5-AE38-7C40-0F77EF92AA3F}"/>
              </a:ext>
            </a:extLst>
          </p:cNvPr>
          <p:cNvCxnSpPr>
            <a:cxnSpLocks/>
            <a:stCxn id="13" idx="1"/>
            <a:endCxn id="14" idx="5"/>
          </p:cNvCxnSpPr>
          <p:nvPr/>
        </p:nvCxnSpPr>
        <p:spPr>
          <a:xfrm flipH="1" flipV="1">
            <a:off x="3112263" y="4196117"/>
            <a:ext cx="277717" cy="29414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72245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AC45A9-8738-A7A1-5476-42A42AD94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D1F0DDD-332F-810F-E011-64E111BA1BF7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5068E02-83AD-43F5-A372-5198E5E35C8E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21077B8-246D-02C1-84B8-27519BB48EBA}"/>
              </a:ext>
            </a:extLst>
          </p:cNvPr>
          <p:cNvSpPr txBox="1"/>
          <p:nvPr/>
        </p:nvSpPr>
        <p:spPr>
          <a:xfrm>
            <a:off x="0" y="104381"/>
            <a:ext cx="1197382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Simultaneous Fictitious Play with Cont. Strategies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254E5A2-5313-4064-0B1E-B5B9402C6A2F}"/>
                  </a:ext>
                </a:extLst>
              </p:cNvPr>
              <p:cNvSpPr txBox="1"/>
              <p:nvPr/>
            </p:nvSpPr>
            <p:spPr>
              <a:xfrm>
                <a:off x="-269508" y="6025141"/>
                <a:ext cx="554415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=−(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−.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−.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65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254E5A2-5313-4064-0B1E-B5B9402C6A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69508" y="6025141"/>
                <a:ext cx="5544150" cy="461665"/>
              </a:xfrm>
              <a:prstGeom prst="rect">
                <a:avLst/>
              </a:prstGeom>
              <a:blipFill>
                <a:blip r:embed="rId3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TextBox 35">
            <a:extLst>
              <a:ext uri="{FF2B5EF4-FFF2-40B4-BE49-F238E27FC236}">
                <a16:creationId xmlns:a16="http://schemas.microsoft.com/office/drawing/2014/main" id="{DEBDD47E-0A10-87D8-AEE8-A89110ED282F}"/>
              </a:ext>
            </a:extLst>
          </p:cNvPr>
          <p:cNvSpPr txBox="1"/>
          <p:nvPr/>
        </p:nvSpPr>
        <p:spPr>
          <a:xfrm>
            <a:off x="-1" y="720862"/>
            <a:ext cx="1197382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A More Interesting Example</a:t>
            </a: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0463ED21-EFE1-0777-E65B-394020F7E7E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5294"/>
          <a:stretch>
            <a:fillRect/>
          </a:stretch>
        </p:blipFill>
        <p:spPr>
          <a:xfrm>
            <a:off x="77002" y="1866768"/>
            <a:ext cx="5544151" cy="400241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C4C17B93-9586-3E51-73E8-B6A46CC95360}"/>
                  </a:ext>
                </a:extLst>
              </p:cNvPr>
              <p:cNvSpPr txBox="1"/>
              <p:nvPr/>
            </p:nvSpPr>
            <p:spPr>
              <a:xfrm>
                <a:off x="6096000" y="1931654"/>
                <a:ext cx="102669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u="sng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en-US" sz="2400" b="0" i="1" u="sng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400" b="0" i="1" u="sng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US" sz="2400" u="sng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C4C17B93-9586-3E51-73E8-B6A46CC953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1931654"/>
                <a:ext cx="1026695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09C0C508-D16A-DD7E-453E-B96CC2A96363}"/>
                  </a:ext>
                </a:extLst>
              </p:cNvPr>
              <p:cNvSpPr txBox="1"/>
              <p:nvPr/>
            </p:nvSpPr>
            <p:spPr>
              <a:xfrm>
                <a:off x="6609347" y="2417966"/>
                <a:ext cx="177105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≈.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7044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09C0C508-D16A-DD7E-453E-B96CC2A963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9347" y="2417966"/>
                <a:ext cx="1771050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354D5A1A-A042-4A9F-9CAD-48C63CE4DBD1}"/>
                  </a:ext>
                </a:extLst>
              </p:cNvPr>
              <p:cNvSpPr txBox="1"/>
              <p:nvPr/>
            </p:nvSpPr>
            <p:spPr>
              <a:xfrm>
                <a:off x="8791073" y="2393319"/>
                <a:ext cx="177105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=.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25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354D5A1A-A042-4A9F-9CAD-48C63CE4DB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1073" y="2393319"/>
                <a:ext cx="1771050" cy="461665"/>
              </a:xfrm>
              <a:prstGeom prst="rect">
                <a:avLst/>
              </a:prstGeom>
              <a:blipFill>
                <a:blip r:embed="rId7"/>
                <a:stretch>
                  <a:fillRect b="-9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B0540AF-7274-4AD6-11E0-C6FDA52A2020}"/>
                  </a:ext>
                </a:extLst>
              </p:cNvPr>
              <p:cNvSpPr txBox="1"/>
              <p:nvPr/>
            </p:nvSpPr>
            <p:spPr>
              <a:xfrm>
                <a:off x="5621153" y="2953642"/>
                <a:ext cx="6227546" cy="15731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arg</m:t>
                          </m:r>
                          <m:r>
                            <a:rPr lang="en-US" sz="24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max</m:t>
                          </m:r>
                          <m: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  <m:li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[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]</m:t>
                          </m:r>
                        </m:lim>
                      </m:limLow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[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−(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f>
                            <m:f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−.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d>
                        <m:dPr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−.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65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4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[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−(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25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−.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d>
                        <m:dPr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−.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65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B0540AF-7274-4AD6-11E0-C6FDA52A20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1153" y="2953642"/>
                <a:ext cx="6227546" cy="157318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51BFFB7-3D72-B27A-4E94-671369884252}"/>
                  </a:ext>
                </a:extLst>
              </p:cNvPr>
              <p:cNvSpPr txBox="1"/>
              <p:nvPr/>
            </p:nvSpPr>
            <p:spPr>
              <a:xfrm>
                <a:off x="5621153" y="4682785"/>
                <a:ext cx="6227546" cy="15731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arg</m:t>
                          </m:r>
                          <m:r>
                            <a:rPr lang="en-US" sz="24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max</m:t>
                          </m:r>
                          <m: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  <m:li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[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]</m:t>
                          </m:r>
                        </m:lim>
                      </m:limLow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[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−(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−.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d>
                        <m:dPr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−.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65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4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[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−(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7044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−.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d>
                        <m:dPr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7044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−.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65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51BFFB7-3D72-B27A-4E94-6713698842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1153" y="4682785"/>
                <a:ext cx="6227546" cy="157318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14D42FE-3585-EB5C-2BE4-83B9AFE638F0}"/>
                  </a:ext>
                </a:extLst>
              </p:cNvPr>
              <p:cNvSpPr txBox="1"/>
              <p:nvPr/>
            </p:nvSpPr>
            <p:spPr>
              <a:xfrm>
                <a:off x="6609347" y="6291954"/>
                <a:ext cx="177105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≈.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615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14D42FE-3585-EB5C-2BE4-83B9AFE638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9347" y="6291954"/>
                <a:ext cx="1771050" cy="46166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462C3B0-F989-D304-5566-FD3E4E87CA8F}"/>
                  </a:ext>
                </a:extLst>
              </p:cNvPr>
              <p:cNvSpPr txBox="1"/>
              <p:nvPr/>
            </p:nvSpPr>
            <p:spPr>
              <a:xfrm>
                <a:off x="8807116" y="6291954"/>
                <a:ext cx="177105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≈.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3731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462C3B0-F989-D304-5566-FD3E4E87CA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07116" y="6291954"/>
                <a:ext cx="1771050" cy="461665"/>
              </a:xfrm>
              <a:prstGeom prst="rect">
                <a:avLst/>
              </a:prstGeom>
              <a:blipFill>
                <a:blip r:embed="rId11"/>
                <a:stretch>
                  <a:fillRect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Oval 12">
            <a:extLst>
              <a:ext uri="{FF2B5EF4-FFF2-40B4-BE49-F238E27FC236}">
                <a16:creationId xmlns:a16="http://schemas.microsoft.com/office/drawing/2014/main" id="{CFECB09D-7F2C-60DB-1489-D6A2ED20FD9E}"/>
              </a:ext>
            </a:extLst>
          </p:cNvPr>
          <p:cNvSpPr/>
          <p:nvPr/>
        </p:nvSpPr>
        <p:spPr>
          <a:xfrm>
            <a:off x="3367427" y="4469122"/>
            <a:ext cx="154004" cy="144379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B10A3D5-58A6-D02E-9753-B249C2004F15}"/>
              </a:ext>
            </a:extLst>
          </p:cNvPr>
          <p:cNvSpPr/>
          <p:nvPr/>
        </p:nvSpPr>
        <p:spPr>
          <a:xfrm>
            <a:off x="2980812" y="4072882"/>
            <a:ext cx="154004" cy="144379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7697B8A-2B44-6D2E-C4ED-4EAE00988CBC}"/>
              </a:ext>
            </a:extLst>
          </p:cNvPr>
          <p:cNvCxnSpPr>
            <a:cxnSpLocks/>
            <a:stCxn id="13" idx="1"/>
            <a:endCxn id="14" idx="5"/>
          </p:cNvCxnSpPr>
          <p:nvPr/>
        </p:nvCxnSpPr>
        <p:spPr>
          <a:xfrm flipH="1" flipV="1">
            <a:off x="3112263" y="4196117"/>
            <a:ext cx="277717" cy="29414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98235A69-1315-A221-0ABF-8F151D1248C1}"/>
              </a:ext>
            </a:extLst>
          </p:cNvPr>
          <p:cNvSpPr/>
          <p:nvPr/>
        </p:nvSpPr>
        <p:spPr>
          <a:xfrm>
            <a:off x="3176621" y="3864560"/>
            <a:ext cx="154004" cy="144379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9987416-EFCF-9B0C-9D19-F88D5A64DB1A}"/>
                  </a:ext>
                </a:extLst>
              </p:cNvPr>
              <p:cNvSpPr txBox="1"/>
              <p:nvPr/>
            </p:nvSpPr>
            <p:spPr>
              <a:xfrm>
                <a:off x="7096225" y="4968515"/>
                <a:ext cx="3075272" cy="1323439"/>
              </a:xfrm>
              <a:prstGeom prst="rect">
                <a:avLst/>
              </a:prstGeom>
              <a:solidFill>
                <a:srgbClr val="FFFF00"/>
              </a:solidFill>
              <a:ln w="3810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dirty="0"/>
                  <a:t>Simultaneous Fictitious Play Converges to the Actual Solution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(.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65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,.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4225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9987416-EFCF-9B0C-9D19-F88D5A64DB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6225" y="4968515"/>
                <a:ext cx="3075272" cy="1323439"/>
              </a:xfrm>
              <a:prstGeom prst="rect">
                <a:avLst/>
              </a:prstGeom>
              <a:blipFill>
                <a:blip r:embed="rId12"/>
                <a:stretch>
                  <a:fillRect t="-897" b="-2691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6741692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7B851-1A88-56F4-8D49-F5F08069F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26E6AAF-E976-4002-6A39-A6841AB25233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6CBDA7D-354C-B957-6725-9DE60F615EB1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D9C900-2174-0D1D-5C50-AA1750F2263A}"/>
              </a:ext>
            </a:extLst>
          </p:cNvPr>
          <p:cNvSpPr txBox="1"/>
          <p:nvPr/>
        </p:nvSpPr>
        <p:spPr>
          <a:xfrm>
            <a:off x="1856448" y="104381"/>
            <a:ext cx="896131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Fictitious Play with Continuous Strategies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D194A5C-5655-922A-D2CB-B9BCE920FCC9}"/>
              </a:ext>
            </a:extLst>
          </p:cNvPr>
          <p:cNvSpPr txBox="1"/>
          <p:nvPr/>
        </p:nvSpPr>
        <p:spPr>
          <a:xfrm>
            <a:off x="223787" y="1925401"/>
            <a:ext cx="1125915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Which converges faster: alternating fictitious play or simultaneous?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D3E49EC-0284-6BF8-A074-1290D46F17B4}"/>
              </a:ext>
            </a:extLst>
          </p:cNvPr>
          <p:cNvSpPr txBox="1"/>
          <p:nvPr/>
        </p:nvSpPr>
        <p:spPr>
          <a:xfrm>
            <a:off x="223787" y="2601654"/>
            <a:ext cx="1125915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No universal answer, although alternating fictitious play has stronger convergence guarantees and can avoid “cycling”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97840DF-5863-2280-D6DC-75DF67FBA16F}"/>
              </a:ext>
            </a:extLst>
          </p:cNvPr>
          <p:cNvSpPr txBox="1"/>
          <p:nvPr/>
        </p:nvSpPr>
        <p:spPr>
          <a:xfrm>
            <a:off x="223787" y="3720512"/>
            <a:ext cx="485033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Related to open area in AI research: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0B281EF-56F5-CAF0-C894-A0A9A82E3956}"/>
              </a:ext>
            </a:extLst>
          </p:cNvPr>
          <p:cNvSpPr txBox="1"/>
          <p:nvPr/>
        </p:nvSpPr>
        <p:spPr>
          <a:xfrm>
            <a:off x="482064" y="4932688"/>
            <a:ext cx="363754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Neural Fictitious Self-Play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F5DEAF3-5491-F364-A14C-F2891A6B2A80}"/>
              </a:ext>
            </a:extLst>
          </p:cNvPr>
          <p:cNvSpPr txBox="1"/>
          <p:nvPr/>
        </p:nvSpPr>
        <p:spPr>
          <a:xfrm>
            <a:off x="482064" y="4326600"/>
            <a:ext cx="499471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Multi-Agent Reinforcement Learning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42030FF5-4F4D-7520-38E7-6754A667AD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8711" y="4077796"/>
            <a:ext cx="1886455" cy="2675823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D87CDCFD-EB7D-BD3A-6EFD-4FAC0AB2F3C5}"/>
              </a:ext>
            </a:extLst>
          </p:cNvPr>
          <p:cNvSpPr txBox="1"/>
          <p:nvPr/>
        </p:nvSpPr>
        <p:spPr>
          <a:xfrm>
            <a:off x="482064" y="5904536"/>
            <a:ext cx="9422333" cy="461665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2400" dirty="0"/>
              <a:t>FP more accurately models how agents arrive at optimal strategies</a:t>
            </a:r>
          </a:p>
        </p:txBody>
      </p:sp>
    </p:spTree>
    <p:extLst>
      <p:ext uri="{BB962C8B-B14F-4D97-AF65-F5344CB8AC3E}">
        <p14:creationId xmlns:p14="http://schemas.microsoft.com/office/powerpoint/2010/main" val="152113713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4B82A7-600E-DDE7-231C-0558642B0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D163234-B39D-BE2B-1A13-3F5EF7C828A9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DF7BAB3-1140-166D-6382-49FCD9E3A9E8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E8B52D-EE01-8531-66AE-02D57B38EE5A}"/>
              </a:ext>
            </a:extLst>
          </p:cNvPr>
          <p:cNvSpPr txBox="1"/>
          <p:nvPr/>
        </p:nvSpPr>
        <p:spPr>
          <a:xfrm>
            <a:off x="1894949" y="335516"/>
            <a:ext cx="896131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The Advantage of Fictitious Play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61D4871-72C6-576A-C936-4017B17FD45D}"/>
              </a:ext>
            </a:extLst>
          </p:cNvPr>
          <p:cNvSpPr txBox="1"/>
          <p:nvPr/>
        </p:nvSpPr>
        <p:spPr>
          <a:xfrm>
            <a:off x="1222007" y="1710813"/>
            <a:ext cx="9747986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/>
              <a:t>“Nash equilibrium assumes that players can solve highly complex fixed-point problems, which is implausible as a model of actual human reasoning.”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F61C1BD7-1E2C-9883-0CD5-FEE4A4FA63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3338" y="3280473"/>
            <a:ext cx="5968866" cy="3121717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FF4443A6-F582-4D4B-751E-56B5882F81F5}"/>
              </a:ext>
            </a:extLst>
          </p:cNvPr>
          <p:cNvSpPr txBox="1"/>
          <p:nvPr/>
        </p:nvSpPr>
        <p:spPr>
          <a:xfrm>
            <a:off x="-154005" y="6488668"/>
            <a:ext cx="119064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What if we used Ockham’s Razor and limited complexity of learned strategies? Maybe with information theory?</a:t>
            </a:r>
          </a:p>
        </p:txBody>
      </p:sp>
    </p:spTree>
    <p:extLst>
      <p:ext uri="{BB962C8B-B14F-4D97-AF65-F5344CB8AC3E}">
        <p14:creationId xmlns:p14="http://schemas.microsoft.com/office/powerpoint/2010/main" val="357277440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97721E-8DBD-E355-53F8-F45CE63A8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7A62D23-2B8D-D3B9-B918-9DDFEB029BAD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98AE697-502D-60AF-ED17-3EBD9FAACFC1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23DA39-CBC9-CF52-B613-55A55D3B2385}"/>
              </a:ext>
            </a:extLst>
          </p:cNvPr>
          <p:cNvSpPr txBox="1"/>
          <p:nvPr/>
        </p:nvSpPr>
        <p:spPr>
          <a:xfrm>
            <a:off x="1856448" y="104381"/>
            <a:ext cx="896131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Fictitious Play with Continuous Strategies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A53B256-9353-CDD9-33E8-E10068D1B502}"/>
                  </a:ext>
                </a:extLst>
              </p:cNvPr>
              <p:cNvSpPr txBox="1"/>
              <p:nvPr/>
            </p:nvSpPr>
            <p:spPr>
              <a:xfrm>
                <a:off x="223787" y="1925401"/>
                <a:ext cx="11259152" cy="179972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What if we assumed that each player had a probability measure?</a:t>
                </a:r>
              </a:p>
              <a:p>
                <a:endParaRPr lang="en-US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𝐸𝑉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∬"/>
                          <m:limLoc m:val="undOvr"/>
                          <m:subHide m:val="on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A53B256-9353-CDD9-33E8-E10068D1B5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787" y="1925401"/>
                <a:ext cx="11259152" cy="1799723"/>
              </a:xfrm>
              <a:prstGeom prst="rect">
                <a:avLst/>
              </a:prstGeom>
              <a:blipFill>
                <a:blip r:embed="rId3"/>
                <a:stretch>
                  <a:fillRect l="-866" t="-27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D41F3AC-07D2-4D7E-0EE8-143E56CFCF6C}"/>
                  </a:ext>
                </a:extLst>
              </p:cNvPr>
              <p:cNvSpPr txBox="1"/>
              <p:nvPr/>
            </p:nvSpPr>
            <p:spPr>
              <a:xfrm>
                <a:off x="386386" y="5039050"/>
                <a:ext cx="11394936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Continuously differentiable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Φ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dirty="0"/>
                  <a:t>functions would allow us to use Euler Lagrange equations to update our probability densities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D41F3AC-07D2-4D7E-0EE8-143E56CFCF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386" y="5039050"/>
                <a:ext cx="11394936" cy="830997"/>
              </a:xfrm>
              <a:prstGeom prst="rect">
                <a:avLst/>
              </a:prstGeom>
              <a:blipFill>
                <a:blip r:embed="rId4"/>
                <a:stretch>
                  <a:fillRect l="-802" t="-5882" b="-16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A9E0FAA-1B9E-1D38-FE59-FF58C33D87B9}"/>
                  </a:ext>
                </a:extLst>
              </p:cNvPr>
              <p:cNvSpPr txBox="1"/>
              <p:nvPr/>
            </p:nvSpPr>
            <p:spPr>
              <a:xfrm>
                <a:off x="2725326" y="5796940"/>
                <a:ext cx="6107228" cy="10610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l-GR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arg</m:t>
                              </m:r>
                              <m:r>
                                <a:rPr lang="en-US" sz="24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24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lim>
                          </m:limLow>
                        </m:fName>
                        <m:e>
                          <m:nary>
                            <m:naryPr>
                              <m:chr m:val="∬"/>
                              <m:limLoc m:val="undOvr"/>
                              <m:subHide m:val="on"/>
                              <m:sup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r>
                                <m:rPr>
                                  <m:sty m:val="p"/>
                                </m:rP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Φ</m:t>
                              </m:r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d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  <m:sSubSup>
                                <m:sSubSupPr>
                                  <m:ctrlPr>
                                    <a:rPr lang="el-GR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p>
                              </m:sSub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e>
                      </m:func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A9E0FAA-1B9E-1D38-FE59-FF58C33D87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5326" y="5796940"/>
                <a:ext cx="6107228" cy="106106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0A2294D-D9AD-3064-30D4-861596FEAFAC}"/>
                  </a:ext>
                </a:extLst>
              </p:cNvPr>
              <p:cNvSpPr txBox="1"/>
              <p:nvPr/>
            </p:nvSpPr>
            <p:spPr>
              <a:xfrm>
                <a:off x="290134" y="3555847"/>
                <a:ext cx="11259152" cy="143039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Since the partial derivative of</a:t>
                </a:r>
                <a:r>
                  <a:rPr lang="el-GR" sz="2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Φ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with respect to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400" dirty="0"/>
                  <a:t> are equivalent: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arg</m:t>
                          </m:r>
                          <m:r>
                            <a:rPr lang="en-US" sz="24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lim>
                      </m:limLow>
                      <m:nary>
                        <m:naryPr>
                          <m:chr m:val="∬"/>
                          <m:limLoc m:val="undOvr"/>
                          <m:subHide m:val="on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arg</m:t>
                          </m:r>
                          <m:r>
                            <a:rPr lang="en-US" sz="24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lim>
                      </m:limLow>
                      <m:nary>
                        <m:naryPr>
                          <m:chr m:val="∬"/>
                          <m:limLoc m:val="undOvr"/>
                          <m:subHide m:val="on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m:rPr>
                              <m:sty m:val="p"/>
                            </m:r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Φ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0A2294D-D9AD-3064-30D4-861596FEAF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134" y="3555847"/>
                <a:ext cx="11259152" cy="1430392"/>
              </a:xfrm>
              <a:prstGeom prst="rect">
                <a:avLst/>
              </a:prstGeom>
              <a:blipFill>
                <a:blip r:embed="rId6"/>
                <a:stretch>
                  <a:fillRect l="-866" t="-34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3253037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09ADB0-61B9-93F4-644F-3B57383D86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BF61374-5A93-FB4D-01EC-083278929227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65FD0C9-23A7-40B2-86C7-2752921F1F05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26B013-BDDC-2CFD-4D3A-5C648CA94508}"/>
              </a:ext>
            </a:extLst>
          </p:cNvPr>
          <p:cNvSpPr txBox="1"/>
          <p:nvPr/>
        </p:nvSpPr>
        <p:spPr>
          <a:xfrm>
            <a:off x="1856448" y="104381"/>
            <a:ext cx="896131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Fictitious Play with Continuous Strategies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F74156C-4F62-6DD8-CFCC-85A730E8CE92}"/>
                  </a:ext>
                </a:extLst>
              </p:cNvPr>
              <p:cNvSpPr txBox="1"/>
              <p:nvPr/>
            </p:nvSpPr>
            <p:spPr>
              <a:xfrm>
                <a:off x="222757" y="1804961"/>
                <a:ext cx="11394936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Continuously differentiable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Φ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dirty="0"/>
                  <a:t>functions would allow us to use Euler Lagrange equations to update our probability densities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F74156C-4F62-6DD8-CFCC-85A730E8CE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757" y="1804961"/>
                <a:ext cx="11394936" cy="830997"/>
              </a:xfrm>
              <a:prstGeom prst="rect">
                <a:avLst/>
              </a:prstGeom>
              <a:blipFill>
                <a:blip r:embed="rId3"/>
                <a:stretch>
                  <a:fillRect l="-856" t="-5882" b="-16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240CDBC-E476-5DFD-66DD-93B9AD7B137E}"/>
                  </a:ext>
                </a:extLst>
              </p:cNvPr>
              <p:cNvSpPr txBox="1"/>
              <p:nvPr/>
            </p:nvSpPr>
            <p:spPr>
              <a:xfrm>
                <a:off x="2561697" y="2562851"/>
                <a:ext cx="6107228" cy="10610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l-GR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sup>
                      </m:sSubSup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arg</m:t>
                              </m:r>
                              <m:r>
                                <a:rPr lang="en-US" sz="24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24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lim>
                          </m:limLow>
                        </m:fName>
                        <m:e>
                          <m:nary>
                            <m:naryPr>
                              <m:chr m:val="∬"/>
                              <m:limLoc m:val="undOvr"/>
                              <m:subHide m:val="on"/>
                              <m:sup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r>
                                <m:rPr>
                                  <m:sty m:val="p"/>
                                </m:rP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Φ</m:t>
                              </m:r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d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  <m:sSubSup>
                                <m:sSubSupPr>
                                  <m:ctrlPr>
                                    <a:rPr lang="el-GR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p>
                              </m:sSub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e>
                      </m:func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240CDBC-E476-5DFD-66DD-93B9AD7B13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61697" y="2562851"/>
                <a:ext cx="6107228" cy="106106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AF9813A2-F6B8-E9D0-D5FE-123B5DBB8D36}"/>
              </a:ext>
            </a:extLst>
          </p:cNvPr>
          <p:cNvSpPr txBox="1"/>
          <p:nvPr/>
        </p:nvSpPr>
        <p:spPr>
          <a:xfrm>
            <a:off x="222757" y="3550804"/>
            <a:ext cx="113949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But…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0CF31EA-4A70-33EF-D1CD-D89E878A3AAA}"/>
                  </a:ext>
                </a:extLst>
              </p:cNvPr>
              <p:cNvSpPr txBox="1"/>
              <p:nvPr/>
            </p:nvSpPr>
            <p:spPr>
              <a:xfrm>
                <a:off x="298155" y="4222043"/>
                <a:ext cx="11394936" cy="176086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sup>
                    </m:sSubSup>
                  </m:oMath>
                </a14:m>
                <a:r>
                  <a:rPr lang="en-US" sz="2400" dirty="0"/>
                  <a:t> is just a Dirac measure with its entire mass centered at</a:t>
                </a:r>
              </a:p>
              <a:p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limLow>
                      <m:limLow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arg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max</m:t>
                        </m:r>
                      </m:e>
                      <m:lim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lim>
                    </m:limLow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Φ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</m:d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sSubSup>
                          <m:sSubSupPr>
                            <m:ctrl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p>
                        </m:sSub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endParaRPr lang="en-US" sz="2400" dirty="0"/>
              </a:p>
              <a:p>
                <a:endParaRPr lang="en-US" sz="2400" dirty="0"/>
              </a:p>
              <a:p>
                <a:r>
                  <a:rPr lang="en-US" sz="2400" dirty="0"/>
                  <a:t>We know this </a:t>
                </a:r>
                <a:r>
                  <a:rPr lang="en-US" sz="2400" dirty="0" err="1"/>
                  <a:t>arg</a:t>
                </a:r>
                <a:r>
                  <a:rPr lang="en-US" sz="2400" dirty="0"/>
                  <a:t> max is attained because of the compactness of the strategy sets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0CF31EA-4A70-33EF-D1CD-D89E878A3A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155" y="4222043"/>
                <a:ext cx="11394936" cy="1760867"/>
              </a:xfrm>
              <a:prstGeom prst="rect">
                <a:avLst/>
              </a:prstGeom>
              <a:blipFill>
                <a:blip r:embed="rId5"/>
                <a:stretch>
                  <a:fillRect l="-856" t="-20833" b="-107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3753438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E123D-E870-499E-02BE-7F01A8C53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B6FFA0E-4D19-DF5D-5DBA-170CDD16D855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2131D62-BBAC-7E52-A438-8FBF67B4BE18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BF9E7D-345A-FEA1-3474-421476A7D6B1}"/>
              </a:ext>
            </a:extLst>
          </p:cNvPr>
          <p:cNvSpPr txBox="1"/>
          <p:nvPr/>
        </p:nvSpPr>
        <p:spPr>
          <a:xfrm>
            <a:off x="1817947" y="295884"/>
            <a:ext cx="896131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Fluid Dynamics and Game Theory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5D29ED0-D947-B984-B846-0DB79E36BDE7}"/>
              </a:ext>
            </a:extLst>
          </p:cNvPr>
          <p:cNvSpPr txBox="1"/>
          <p:nvPr/>
        </p:nvSpPr>
        <p:spPr>
          <a:xfrm>
            <a:off x="223787" y="1925401"/>
            <a:ext cx="1125915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Most prominent connection is mean field game theory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29CB736-AC14-AFC7-1919-6ABF1DDF515E}"/>
              </a:ext>
            </a:extLst>
          </p:cNvPr>
          <p:cNvSpPr txBox="1"/>
          <p:nvPr/>
        </p:nvSpPr>
        <p:spPr>
          <a:xfrm>
            <a:off x="223787" y="2501313"/>
            <a:ext cx="11259152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Luo and Song established the equivalence between Mean Field Games and a class of PDE systems closely related to </a:t>
            </a:r>
            <a:r>
              <a:rPr lang="en-US" sz="2400" u="sng" dirty="0"/>
              <a:t>compressible</a:t>
            </a:r>
            <a:r>
              <a:rPr lang="en-US" sz="2400" dirty="0"/>
              <a:t> Navier-Stokes equations</a:t>
            </a:r>
          </a:p>
          <a:p>
            <a:endParaRPr lang="en-US" sz="2400" dirty="0"/>
          </a:p>
          <a:p>
            <a:r>
              <a:rPr lang="en-US" sz="2400" dirty="0"/>
              <a:t>Uncertainty prevents “density collapse” on previous slide. This uncertainty is added by updating each individual by an independent stochastic differential equation</a:t>
            </a:r>
          </a:p>
          <a:p>
            <a:endParaRPr lang="en-US" sz="24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4A8CCCA-CF6F-A490-F403-122AA752FE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5358" y="4532452"/>
            <a:ext cx="3909011" cy="55436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ED8EDAC-D8C5-B3C4-74F8-02574187E772}"/>
              </a:ext>
            </a:extLst>
          </p:cNvPr>
          <p:cNvSpPr txBox="1"/>
          <p:nvPr/>
        </p:nvSpPr>
        <p:spPr>
          <a:xfrm>
            <a:off x="5118635" y="5320592"/>
            <a:ext cx="97736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/>
              <a:t>control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F308FF6-83E6-4460-B094-870FB98F03DF}"/>
              </a:ext>
            </a:extLst>
          </p:cNvPr>
          <p:cNvSpPr txBox="1"/>
          <p:nvPr/>
        </p:nvSpPr>
        <p:spPr>
          <a:xfrm>
            <a:off x="4078104" y="5320592"/>
            <a:ext cx="97736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/>
              <a:t>state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79A3E02-FCFB-DF44-A3F7-DA23C4D10F38}"/>
              </a:ext>
            </a:extLst>
          </p:cNvPr>
          <p:cNvSpPr txBox="1"/>
          <p:nvPr/>
        </p:nvSpPr>
        <p:spPr>
          <a:xfrm>
            <a:off x="6298606" y="5320592"/>
            <a:ext cx="147860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/>
              <a:t>population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B37D1C4-5C3E-94D8-99F3-116473C51D19}"/>
              </a:ext>
            </a:extLst>
          </p:cNvPr>
          <p:cNvCxnSpPr>
            <a:stCxn id="14" idx="0"/>
          </p:cNvCxnSpPr>
          <p:nvPr/>
        </p:nvCxnSpPr>
        <p:spPr>
          <a:xfrm flipV="1">
            <a:off x="4566787" y="5014762"/>
            <a:ext cx="621230" cy="30583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C96B630-6505-A3D2-CAC9-C63F0F621585}"/>
              </a:ext>
            </a:extLst>
          </p:cNvPr>
          <p:cNvCxnSpPr>
            <a:cxnSpLocks/>
          </p:cNvCxnSpPr>
          <p:nvPr/>
        </p:nvCxnSpPr>
        <p:spPr>
          <a:xfrm flipH="1" flipV="1">
            <a:off x="5676700" y="5014762"/>
            <a:ext cx="42746" cy="30583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BA9654B-794D-57B9-88C7-F6D44B9A46A0}"/>
              </a:ext>
            </a:extLst>
          </p:cNvPr>
          <p:cNvCxnSpPr>
            <a:cxnSpLocks/>
          </p:cNvCxnSpPr>
          <p:nvPr/>
        </p:nvCxnSpPr>
        <p:spPr>
          <a:xfrm flipH="1" flipV="1">
            <a:off x="6220158" y="5029363"/>
            <a:ext cx="715771" cy="36363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435192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7348EC-A466-CBC2-4965-76A9BD3B3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61F9460-9A80-B86C-0EF8-75F4529F217D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1043ADF-F460-CEB6-91B9-925F96ECC36A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5E73E3-5DEB-F76C-2F9A-07DE7A971998}"/>
              </a:ext>
            </a:extLst>
          </p:cNvPr>
          <p:cNvSpPr txBox="1"/>
          <p:nvPr/>
        </p:nvSpPr>
        <p:spPr>
          <a:xfrm>
            <a:off x="1817947" y="295884"/>
            <a:ext cx="896131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Fluid Dynamics and Game Theory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A144E92-FBA8-443C-B79F-3ED3ECA78B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7306" y="1910685"/>
            <a:ext cx="5778895" cy="151831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3035B27-28D4-A324-7D98-95600A4EBF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87306" y="3910150"/>
            <a:ext cx="7836332" cy="1412621"/>
          </a:xfrm>
          <a:prstGeom prst="rect">
            <a:avLst/>
          </a:prstGeom>
        </p:spPr>
      </p:pic>
      <p:sp>
        <p:nvSpPr>
          <p:cNvPr id="11" name="Right Brace 10">
            <a:extLst>
              <a:ext uri="{FF2B5EF4-FFF2-40B4-BE49-F238E27FC236}">
                <a16:creationId xmlns:a16="http://schemas.microsoft.com/office/drawing/2014/main" id="{C87D1654-37FE-6199-6942-E432FE36A032}"/>
              </a:ext>
            </a:extLst>
          </p:cNvPr>
          <p:cNvSpPr/>
          <p:nvPr/>
        </p:nvSpPr>
        <p:spPr>
          <a:xfrm rot="10800000">
            <a:off x="2916455" y="1910685"/>
            <a:ext cx="240631" cy="1412621"/>
          </a:xfrm>
          <a:prstGeom prst="rightBrace">
            <a:avLst>
              <a:gd name="adj1" fmla="val 8333"/>
              <a:gd name="adj2" fmla="val 52726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ight Brace 11">
            <a:extLst>
              <a:ext uri="{FF2B5EF4-FFF2-40B4-BE49-F238E27FC236}">
                <a16:creationId xmlns:a16="http://schemas.microsoft.com/office/drawing/2014/main" id="{50D4B92B-07F1-E127-4910-F9D625357030}"/>
              </a:ext>
            </a:extLst>
          </p:cNvPr>
          <p:cNvSpPr/>
          <p:nvPr/>
        </p:nvSpPr>
        <p:spPr>
          <a:xfrm rot="10800000">
            <a:off x="2966990" y="3980372"/>
            <a:ext cx="240631" cy="1412621"/>
          </a:xfrm>
          <a:prstGeom prst="rightBrace">
            <a:avLst>
              <a:gd name="adj1" fmla="val 8333"/>
              <a:gd name="adj2" fmla="val 52726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1C4DAD6-A58F-3997-D4F3-ACFCF6589691}"/>
              </a:ext>
            </a:extLst>
          </p:cNvPr>
          <p:cNvSpPr txBox="1"/>
          <p:nvPr/>
        </p:nvSpPr>
        <p:spPr>
          <a:xfrm>
            <a:off x="502924" y="2149176"/>
            <a:ext cx="246406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/>
              <a:t>Compressible </a:t>
            </a:r>
            <a:r>
              <a:rPr lang="en-US" sz="2400" dirty="0"/>
              <a:t>Navier Stokes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F2BBA56-448A-ED26-F8B9-A3C97E6422A2}"/>
              </a:ext>
            </a:extLst>
          </p:cNvPr>
          <p:cNvSpPr txBox="1"/>
          <p:nvPr/>
        </p:nvSpPr>
        <p:spPr>
          <a:xfrm>
            <a:off x="563082" y="4200961"/>
            <a:ext cx="246406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Considered PDE Systems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4905910D-B945-C4E5-D9C4-9F37E8128D8B}"/>
              </a:ext>
            </a:extLst>
          </p:cNvPr>
          <p:cNvSpPr/>
          <p:nvPr/>
        </p:nvSpPr>
        <p:spPr>
          <a:xfrm>
            <a:off x="5248176" y="4446872"/>
            <a:ext cx="907983" cy="375385"/>
          </a:xfrm>
          <a:prstGeom prst="roundRect">
            <a:avLst/>
          </a:prstGeom>
          <a:solidFill>
            <a:srgbClr val="FFFF00">
              <a:alpha val="3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D31AF73-A0C4-C3CF-D971-60AF8955B8DA}"/>
              </a:ext>
            </a:extLst>
          </p:cNvPr>
          <p:cNvSpPr txBox="1"/>
          <p:nvPr/>
        </p:nvSpPr>
        <p:spPr>
          <a:xfrm>
            <a:off x="4439117" y="5322771"/>
            <a:ext cx="3075272" cy="707886"/>
          </a:xfrm>
          <a:prstGeom prst="rect">
            <a:avLst/>
          </a:prstGeom>
          <a:solidFill>
            <a:srgbClr val="FFFF00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Fokker Planck Equation to represent white noise</a:t>
            </a:r>
          </a:p>
        </p:txBody>
      </p:sp>
    </p:spTree>
    <p:extLst>
      <p:ext uri="{BB962C8B-B14F-4D97-AF65-F5344CB8AC3E}">
        <p14:creationId xmlns:p14="http://schemas.microsoft.com/office/powerpoint/2010/main" val="159421469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18E00C-0EA4-A2F1-9C64-C42AF15CA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9FB67FE-A524-1D75-0055-C87E1732A11C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54B66F4-BDF8-9EB4-5166-016062E6DDAF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F9950D-02E5-4116-C12A-BDD49C1FC036}"/>
              </a:ext>
            </a:extLst>
          </p:cNvPr>
          <p:cNvSpPr txBox="1"/>
          <p:nvPr/>
        </p:nvSpPr>
        <p:spPr>
          <a:xfrm>
            <a:off x="1817947" y="295884"/>
            <a:ext cx="896131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Fluid Dynamics and Game Theory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4889581-4D6E-4B2F-C142-E8D62A8A3E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6300" y="1840718"/>
            <a:ext cx="7836332" cy="1412621"/>
          </a:xfrm>
          <a:prstGeom prst="rect">
            <a:avLst/>
          </a:prstGeom>
        </p:spPr>
      </p:pic>
      <p:sp>
        <p:nvSpPr>
          <p:cNvPr id="12" name="Right Brace 11">
            <a:extLst>
              <a:ext uri="{FF2B5EF4-FFF2-40B4-BE49-F238E27FC236}">
                <a16:creationId xmlns:a16="http://schemas.microsoft.com/office/drawing/2014/main" id="{F9228A83-0FB7-C671-F86C-1EF648BBF8A3}"/>
              </a:ext>
            </a:extLst>
          </p:cNvPr>
          <p:cNvSpPr/>
          <p:nvPr/>
        </p:nvSpPr>
        <p:spPr>
          <a:xfrm rot="10800000">
            <a:off x="2735984" y="1910940"/>
            <a:ext cx="240631" cy="1412621"/>
          </a:xfrm>
          <a:prstGeom prst="rightBrace">
            <a:avLst>
              <a:gd name="adj1" fmla="val 8333"/>
              <a:gd name="adj2" fmla="val 52726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7BBCDC0-8931-E9A6-1A1F-EC130BEA297D}"/>
              </a:ext>
            </a:extLst>
          </p:cNvPr>
          <p:cNvSpPr txBox="1"/>
          <p:nvPr/>
        </p:nvSpPr>
        <p:spPr>
          <a:xfrm>
            <a:off x="332076" y="2131529"/>
            <a:ext cx="246406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Considered PDE Systems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A469271F-7408-FFD8-001F-C60D5C35ADCD}"/>
              </a:ext>
            </a:extLst>
          </p:cNvPr>
          <p:cNvSpPr/>
          <p:nvPr/>
        </p:nvSpPr>
        <p:spPr>
          <a:xfrm>
            <a:off x="5017170" y="2377440"/>
            <a:ext cx="907983" cy="375385"/>
          </a:xfrm>
          <a:prstGeom prst="roundRect">
            <a:avLst/>
          </a:prstGeom>
          <a:solidFill>
            <a:srgbClr val="FFFF00">
              <a:alpha val="3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947D39F-42BC-C1DD-DB38-FB48EDCDF1D6}"/>
              </a:ext>
            </a:extLst>
          </p:cNvPr>
          <p:cNvSpPr txBox="1"/>
          <p:nvPr/>
        </p:nvSpPr>
        <p:spPr>
          <a:xfrm>
            <a:off x="8250721" y="2877526"/>
            <a:ext cx="3075272" cy="707886"/>
          </a:xfrm>
          <a:prstGeom prst="rect">
            <a:avLst/>
          </a:prstGeom>
          <a:solidFill>
            <a:srgbClr val="FFFF00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Fokker Planck Equation to represent white noise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C59ECB4-A5A8-41CA-6251-AFE70E68C9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3881" y="4135518"/>
            <a:ext cx="5659244" cy="177439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A77F41C-E2A1-BF37-853D-B05E0CCD272E}"/>
              </a:ext>
            </a:extLst>
          </p:cNvPr>
          <p:cNvSpPr txBox="1"/>
          <p:nvPr/>
        </p:nvSpPr>
        <p:spPr>
          <a:xfrm>
            <a:off x="585914" y="4561996"/>
            <a:ext cx="246406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Mean Field Game System</a:t>
            </a:r>
          </a:p>
        </p:txBody>
      </p:sp>
    </p:spTree>
    <p:extLst>
      <p:ext uri="{BB962C8B-B14F-4D97-AF65-F5344CB8AC3E}">
        <p14:creationId xmlns:p14="http://schemas.microsoft.com/office/powerpoint/2010/main" val="31038404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8500</TotalTime>
  <Words>1987</Words>
  <Application>Microsoft Office PowerPoint</Application>
  <PresentationFormat>Widescreen</PresentationFormat>
  <Paragraphs>452</Paragraphs>
  <Slides>33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8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Jacob Wyngaard</dc:creator>
  <cp:lastModifiedBy>Jacob Wyngaard</cp:lastModifiedBy>
  <cp:revision>74</cp:revision>
  <cp:lastPrinted>2025-08-21T02:00:35Z</cp:lastPrinted>
  <dcterms:created xsi:type="dcterms:W3CDTF">2025-08-20T23:47:39Z</dcterms:created>
  <dcterms:modified xsi:type="dcterms:W3CDTF">2026-04-15T03:26:47Z</dcterms:modified>
</cp:coreProperties>
</file>