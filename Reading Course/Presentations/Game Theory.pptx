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9" r:id="rId11"/>
    <p:sldId id="267" r:id="rId12"/>
    <p:sldId id="270" r:id="rId13"/>
    <p:sldId id="268" r:id="rId14"/>
    <p:sldId id="273" r:id="rId15"/>
    <p:sldId id="271" r:id="rId16"/>
    <p:sldId id="274" r:id="rId17"/>
    <p:sldId id="275" r:id="rId18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CDE6EF"/>
    <a:srgbClr val="FFFFFF"/>
    <a:srgbClr val="14A7D8"/>
    <a:srgbClr val="CDE6F0"/>
    <a:srgbClr val="FBDB0E"/>
    <a:srgbClr val="D5D6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94C834-BA7C-4860-AE55-F43DD4A6D1E1}" v="15" dt="2026-02-04T15:26:51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0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custSel addSld modSld sldOrd">
      <pc:chgData name="Jacob Wyngaard" userId="6181fcd471e98458" providerId="LiveId" clId="{788BA123-62C9-4DDC-86E5-A6BCA4600216}" dt="2026-02-04T15:27:03.229" v="768" actId="1076"/>
      <pc:docMkLst>
        <pc:docMk/>
      </pc:docMkLst>
      <pc:sldChg chg="modSp mod">
        <pc:chgData name="Jacob Wyngaard" userId="6181fcd471e98458" providerId="LiveId" clId="{788BA123-62C9-4DDC-86E5-A6BCA4600216}" dt="2026-02-04T15:13:50.880" v="75" actId="20577"/>
        <pc:sldMkLst>
          <pc:docMk/>
          <pc:sldMk cId="4108950933" sldId="260"/>
        </pc:sldMkLst>
        <pc:spChg chg="mod">
          <ac:chgData name="Jacob Wyngaard" userId="6181fcd471e98458" providerId="LiveId" clId="{788BA123-62C9-4DDC-86E5-A6BCA4600216}" dt="2026-02-04T15:13:50.880" v="75" actId="20577"/>
          <ac:spMkLst>
            <pc:docMk/>
            <pc:sldMk cId="4108950933" sldId="260"/>
            <ac:spMk id="13" creationId="{4C4463CE-EB27-6BC9-19B0-F86DF1591401}"/>
          </ac:spMkLst>
        </pc:spChg>
      </pc:sldChg>
      <pc:sldChg chg="addSp modSp add mod">
        <pc:chgData name="Jacob Wyngaard" userId="6181fcd471e98458" providerId="LiveId" clId="{788BA123-62C9-4DDC-86E5-A6BCA4600216}" dt="2026-02-04T15:19:18.343" v="316" actId="113"/>
        <pc:sldMkLst>
          <pc:docMk/>
          <pc:sldMk cId="777443482" sldId="261"/>
        </pc:sldMkLst>
        <pc:spChg chg="add mod">
          <ac:chgData name="Jacob Wyngaard" userId="6181fcd471e98458" providerId="LiveId" clId="{788BA123-62C9-4DDC-86E5-A6BCA4600216}" dt="2026-02-04T15:17:26.573" v="230" actId="1076"/>
          <ac:spMkLst>
            <pc:docMk/>
            <pc:sldMk cId="777443482" sldId="261"/>
            <ac:spMk id="3" creationId="{276B78A7-4A9E-4302-43F7-3E570EDC6DA6}"/>
          </ac:spMkLst>
        </pc:spChg>
        <pc:spChg chg="mod">
          <ac:chgData name="Jacob Wyngaard" userId="6181fcd471e98458" providerId="LiveId" clId="{788BA123-62C9-4DDC-86E5-A6BCA4600216}" dt="2026-02-04T15:16:56.008" v="214" actId="1076"/>
          <ac:spMkLst>
            <pc:docMk/>
            <pc:sldMk cId="777443482" sldId="261"/>
            <ac:spMk id="9" creationId="{B12EC489-1217-B879-0028-44B302CD725E}"/>
          </ac:spMkLst>
        </pc:spChg>
        <pc:spChg chg="mod">
          <ac:chgData name="Jacob Wyngaard" userId="6181fcd471e98458" providerId="LiveId" clId="{788BA123-62C9-4DDC-86E5-A6BCA4600216}" dt="2026-02-04T15:19:18.343" v="316" actId="113"/>
          <ac:spMkLst>
            <pc:docMk/>
            <pc:sldMk cId="777443482" sldId="261"/>
            <ac:spMk id="13" creationId="{600CB128-A158-C656-8960-AA9E01941096}"/>
          </ac:spMkLst>
        </pc:spChg>
        <pc:picChg chg="add mod modCrop">
          <ac:chgData name="Jacob Wyngaard" userId="6181fcd471e98458" providerId="LiveId" clId="{788BA123-62C9-4DDC-86E5-A6BCA4600216}" dt="2026-02-04T15:19:03.955" v="315" actId="1076"/>
          <ac:picMkLst>
            <pc:docMk/>
            <pc:sldMk cId="777443482" sldId="261"/>
            <ac:picMk id="4" creationId="{71CF8794-2C7B-7E3D-6257-11FBBD542455}"/>
          </ac:picMkLst>
        </pc:picChg>
      </pc:sldChg>
      <pc:sldChg chg="addSp delSp modSp add mod">
        <pc:chgData name="Jacob Wyngaard" userId="6181fcd471e98458" providerId="LiveId" clId="{788BA123-62C9-4DDC-86E5-A6BCA4600216}" dt="2026-02-04T15:25:09.464" v="623" actId="1076"/>
        <pc:sldMkLst>
          <pc:docMk/>
          <pc:sldMk cId="2344648309" sldId="262"/>
        </pc:sldMkLst>
        <pc:spChg chg="add mod">
          <ac:chgData name="Jacob Wyngaard" userId="6181fcd471e98458" providerId="LiveId" clId="{788BA123-62C9-4DDC-86E5-A6BCA4600216}" dt="2026-02-04T15:21:16.818" v="513" actId="1076"/>
          <ac:spMkLst>
            <pc:docMk/>
            <pc:sldMk cId="2344648309" sldId="262"/>
            <ac:spMk id="2" creationId="{BD5DC692-CA5D-BE1D-99A4-8C43D3D9B80B}"/>
          </ac:spMkLst>
        </pc:spChg>
        <pc:spChg chg="add del mod">
          <ac:chgData name="Jacob Wyngaard" userId="6181fcd471e98458" providerId="LiveId" clId="{788BA123-62C9-4DDC-86E5-A6BCA4600216}" dt="2026-02-04T15:22:41.888" v="516" actId="478"/>
          <ac:spMkLst>
            <pc:docMk/>
            <pc:sldMk cId="2344648309" sldId="262"/>
            <ac:spMk id="5" creationId="{7C2862F4-3E7D-8C91-815B-905B5BE5ADF7}"/>
          </ac:spMkLst>
        </pc:spChg>
        <pc:spChg chg="mod">
          <ac:chgData name="Jacob Wyngaard" userId="6181fcd471e98458" providerId="LiveId" clId="{788BA123-62C9-4DDC-86E5-A6BCA4600216}" dt="2026-02-04T15:20:25.776" v="478" actId="20577"/>
          <ac:spMkLst>
            <pc:docMk/>
            <pc:sldMk cId="2344648309" sldId="262"/>
            <ac:spMk id="13" creationId="{84386FCF-406B-836A-5526-023C70A4792B}"/>
          </ac:spMkLst>
        </pc:spChg>
        <pc:spChg chg="add mod">
          <ac:chgData name="Jacob Wyngaard" userId="6181fcd471e98458" providerId="LiveId" clId="{788BA123-62C9-4DDC-86E5-A6BCA4600216}" dt="2026-02-04T15:23:26.314" v="538" actId="1076"/>
          <ac:spMkLst>
            <pc:docMk/>
            <pc:sldMk cId="2344648309" sldId="262"/>
            <ac:spMk id="14" creationId="{E898F825-7B3F-A669-AA43-A259DE7F6CDC}"/>
          </ac:spMkLst>
        </pc:spChg>
        <pc:spChg chg="add mod">
          <ac:chgData name="Jacob Wyngaard" userId="6181fcd471e98458" providerId="LiveId" clId="{788BA123-62C9-4DDC-86E5-A6BCA4600216}" dt="2026-02-04T15:23:46.794" v="559" actId="1076"/>
          <ac:spMkLst>
            <pc:docMk/>
            <pc:sldMk cId="2344648309" sldId="262"/>
            <ac:spMk id="15" creationId="{C0375D12-85CC-B347-1413-9F0A2489CB80}"/>
          </ac:spMkLst>
        </pc:spChg>
        <pc:spChg chg="add mod">
          <ac:chgData name="Jacob Wyngaard" userId="6181fcd471e98458" providerId="LiveId" clId="{788BA123-62C9-4DDC-86E5-A6BCA4600216}" dt="2026-02-04T15:24:10.847" v="568" actId="1076"/>
          <ac:spMkLst>
            <pc:docMk/>
            <pc:sldMk cId="2344648309" sldId="262"/>
            <ac:spMk id="16" creationId="{C90D5962-D635-F03D-955B-34DF2C6FA8B3}"/>
          </ac:spMkLst>
        </pc:spChg>
        <pc:spChg chg="add mod">
          <ac:chgData name="Jacob Wyngaard" userId="6181fcd471e98458" providerId="LiveId" clId="{788BA123-62C9-4DDC-86E5-A6BCA4600216}" dt="2026-02-04T15:24:41.292" v="593" actId="1076"/>
          <ac:spMkLst>
            <pc:docMk/>
            <pc:sldMk cId="2344648309" sldId="262"/>
            <ac:spMk id="17" creationId="{8A3CABD1-101D-0978-2365-60E6A3F937D3}"/>
          </ac:spMkLst>
        </pc:spChg>
        <pc:spChg chg="add mod">
          <ac:chgData name="Jacob Wyngaard" userId="6181fcd471e98458" providerId="LiveId" clId="{788BA123-62C9-4DDC-86E5-A6BCA4600216}" dt="2026-02-04T15:24:48.789" v="596" actId="1076"/>
          <ac:spMkLst>
            <pc:docMk/>
            <pc:sldMk cId="2344648309" sldId="262"/>
            <ac:spMk id="18" creationId="{3853CBDA-F9B6-8E0E-00F3-A262A00C4E7A}"/>
          </ac:spMkLst>
        </pc:spChg>
        <pc:spChg chg="add mod">
          <ac:chgData name="Jacob Wyngaard" userId="6181fcd471e98458" providerId="LiveId" clId="{788BA123-62C9-4DDC-86E5-A6BCA4600216}" dt="2026-02-04T15:25:09.464" v="623" actId="1076"/>
          <ac:spMkLst>
            <pc:docMk/>
            <pc:sldMk cId="2344648309" sldId="262"/>
            <ac:spMk id="20" creationId="{3AD0A640-940D-B4DD-1732-CAFA6F622D4D}"/>
          </ac:spMkLst>
        </pc:spChg>
        <pc:picChg chg="mod">
          <ac:chgData name="Jacob Wyngaard" userId="6181fcd471e98458" providerId="LiveId" clId="{788BA123-62C9-4DDC-86E5-A6BCA4600216}" dt="2026-02-04T15:20:30.175" v="479" actId="1076"/>
          <ac:picMkLst>
            <pc:docMk/>
            <pc:sldMk cId="2344648309" sldId="262"/>
            <ac:picMk id="4" creationId="{C1057333-3BF6-9396-197D-398DDA3019FC}"/>
          </ac:picMkLst>
        </pc:picChg>
        <pc:cxnChg chg="add mod">
          <ac:chgData name="Jacob Wyngaard" userId="6181fcd471e98458" providerId="LiveId" clId="{788BA123-62C9-4DDC-86E5-A6BCA4600216}" dt="2026-02-04T15:22:55.286" v="520" actId="1076"/>
          <ac:cxnSpMkLst>
            <pc:docMk/>
            <pc:sldMk cId="2344648309" sldId="262"/>
            <ac:cxnSpMk id="10" creationId="{2EC70894-30E9-DD60-81BB-62CF4A63F308}"/>
          </ac:cxnSpMkLst>
        </pc:cxnChg>
        <pc:cxnChg chg="add mod">
          <ac:chgData name="Jacob Wyngaard" userId="6181fcd471e98458" providerId="LiveId" clId="{788BA123-62C9-4DDC-86E5-A6BCA4600216}" dt="2026-02-04T15:24:43.994" v="594" actId="14100"/>
          <ac:cxnSpMkLst>
            <pc:docMk/>
            <pc:sldMk cId="2344648309" sldId="262"/>
            <ac:cxnSpMk id="11" creationId="{6474C87D-36C5-AB7D-98F8-16E221F9C502}"/>
          </ac:cxnSpMkLst>
        </pc:cxnChg>
      </pc:sldChg>
      <pc:sldChg chg="addSp delSp modSp add mod ord">
        <pc:chgData name="Jacob Wyngaard" userId="6181fcd471e98458" providerId="LiveId" clId="{788BA123-62C9-4DDC-86E5-A6BCA4600216}" dt="2026-02-04T15:27:03.229" v="768" actId="1076"/>
        <pc:sldMkLst>
          <pc:docMk/>
          <pc:sldMk cId="1806092353" sldId="263"/>
        </pc:sldMkLst>
        <pc:spChg chg="mod">
          <ac:chgData name="Jacob Wyngaard" userId="6181fcd471e98458" providerId="LiveId" clId="{788BA123-62C9-4DDC-86E5-A6BCA4600216}" dt="2026-02-04T15:25:32.644" v="632" actId="20577"/>
          <ac:spMkLst>
            <pc:docMk/>
            <pc:sldMk cId="1806092353" sldId="263"/>
            <ac:spMk id="3" creationId="{3605DA8A-9C33-359E-35FB-CC992C283551}"/>
          </ac:spMkLst>
        </pc:spChg>
        <pc:spChg chg="mod">
          <ac:chgData name="Jacob Wyngaard" userId="6181fcd471e98458" providerId="LiveId" clId="{788BA123-62C9-4DDC-86E5-A6BCA4600216}" dt="2026-02-04T15:27:03.229" v="768" actId="1076"/>
          <ac:spMkLst>
            <pc:docMk/>
            <pc:sldMk cId="1806092353" sldId="263"/>
            <ac:spMk id="13" creationId="{4AB5411D-3FAB-22E3-CCD3-B4C0C7C69A27}"/>
          </ac:spMkLst>
        </pc:spChg>
        <pc:picChg chg="add mod">
          <ac:chgData name="Jacob Wyngaard" userId="6181fcd471e98458" providerId="LiveId" clId="{788BA123-62C9-4DDC-86E5-A6BCA4600216}" dt="2026-02-04T15:26:58.647" v="767" actId="1076"/>
          <ac:picMkLst>
            <pc:docMk/>
            <pc:sldMk cId="1806092353" sldId="263"/>
            <ac:picMk id="2" creationId="{28D91FEB-45AF-602E-F507-C24597E2F92D}"/>
          </ac:picMkLst>
        </pc:picChg>
        <pc:picChg chg="del">
          <ac:chgData name="Jacob Wyngaard" userId="6181fcd471e98458" providerId="LiveId" clId="{788BA123-62C9-4DDC-86E5-A6BCA4600216}" dt="2026-02-04T15:26:47.649" v="764" actId="478"/>
          <ac:picMkLst>
            <pc:docMk/>
            <pc:sldMk cId="1806092353" sldId="263"/>
            <ac:picMk id="4" creationId="{F9BB0D60-BF55-8D1F-DF45-EF2E1A5BEBF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23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ECD20-5480-79B8-FDAD-058331053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6B1AE-3177-D7F3-3661-59112C3BC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8A2D4-CE14-C561-B105-2575D789EA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79577F-179C-746F-1FB7-0DDC097CD8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233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996FF-2732-A21F-3B51-CBB031A61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05F6F7-D2AA-2B18-1A5A-819A271F8C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439B86-221C-DBA0-136E-5C737971F9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424AFD-78AF-10F1-1F51-12DD6123C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8507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DD79FD-A642-E42F-E595-E42D60512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315C2A-AE54-FCB5-8D30-B12648DB7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FD8D85-F0F4-CDD9-DA67-A263682915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2C53A4-C5A8-69F0-9B1B-AAA6554619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293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CDC89-E532-87B6-9D12-1B835BED9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9ECB09-FB31-C481-C69E-48EBC12FD8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5015F8-9BF7-C55E-A0A1-8325AF9307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8E106-14F3-BFD4-BF11-B0DA669329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951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C2ECA-3BAD-FC04-F016-4188F2EE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1D8B31-C44B-BC57-3F33-DA46A4596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C9CE30-4DDE-91CF-03D7-330943241D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3C9CD-F37C-7DAA-47EB-5F753844EC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8754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284C-5AC6-6C86-6076-BF3AFB1BD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EF70B-18D6-00CE-5B45-D923ED245D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9908BB-2AA8-A011-F2BD-D9AFEFDB8A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4237C-9E9C-DC84-4E96-8F7280DDD8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95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47169-A87A-2407-4A61-14AD1089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26C2A-9B5D-4E93-F932-4C17A038C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2F1935-1330-395D-6FC3-D4886A736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A8787-1851-57AE-B96C-A5441A6E80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4811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85B86-E2BF-6F76-0400-04CDF4540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44B0C-8495-F81A-12D0-26F8D214E6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3F6A1B-E39E-D93F-CFE6-075FD402F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47FC3-3B68-0AF8-BD11-9F432BBD78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0999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9B94-BD7C-A658-5A69-D00FB7F7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A86EEA-99C7-2525-9FEC-191D795D0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FFBD0D-9C87-4E98-A5C9-47263A3E92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98C219-6404-5590-36FF-FC44356FC2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7851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B724D-7445-60C5-79CF-83BAF09F1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B1F0A7-9894-DD00-FB8E-FE2D2BA83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717B1A-A949-D130-539D-338089E12B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FBEE0-726B-3CB9-555A-62C8D5709B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0515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1C59-D5E6-1AFD-0F9D-E599BD8C3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0C7BE-4146-B9EE-2BF8-F20ABBC181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96698F-5F83-8E9C-E117-5ADBC561A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CCD7F-8B2B-8412-09AF-B11A3746F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440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75CFB-3C18-C732-D515-CD90C6B14E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31939-4369-125C-AA2F-AF5F87BD0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C32190-53AF-6192-D7BD-2622E9590D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50042-532D-8C34-8B67-AA14C31115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39817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47AA3-B40C-F7A4-78A0-B477B6069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274B0-70D7-1FB2-9BE6-46B11CEB0D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55CE1D-B607-967E-6369-53E8667D2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66CF-9AD3-D61B-3F42-42916641B5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615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D3909-B628-D69C-DEFD-B2C15A50A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32DE80-CCE3-AEE3-C069-5823E8F916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D614C-2210-F897-EF39-D7D9BBE2EC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8D59A-18BD-405E-DBF3-C7E126A1EE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3214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B4FD9-D456-66AD-F24C-F94C63D4D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F35F58-6F2A-FA10-D7D3-DB655C061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1503E-E4E7-3D28-FE1E-21073219CA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9307F-1473-067F-1DE4-F32C390C17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149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C1F8D5-4AD3-CA6D-CA09-1F939BFFC77B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DB15C-53EA-0ED4-E0E9-C6A73C390DD1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41FF28-576E-AE9D-45ED-6C6260407807}"/>
              </a:ext>
            </a:extLst>
          </p:cNvPr>
          <p:cNvSpPr txBox="1"/>
          <p:nvPr/>
        </p:nvSpPr>
        <p:spPr>
          <a:xfrm>
            <a:off x="206478" y="2301107"/>
            <a:ext cx="550606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From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</a:rPr>
              <a:t>Mathematical Optimization and Economic 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8CE436-4D95-16F3-641B-9EF9E76C0804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CB8C4-F67E-E067-FDBF-CEA870285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6103" y="1004010"/>
            <a:ext cx="5417574" cy="5417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112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B4674-EB63-8CB1-A781-43C74EE64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CD957CD-E909-9DBE-97C3-242C827EC24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3DD7A4-64F0-2B29-E978-6DAC9BCA10D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43209B-C381-F683-2264-D243348F0B95}"/>
              </a:ext>
            </a:extLst>
          </p:cNvPr>
          <p:cNvSpPr txBox="1"/>
          <p:nvPr/>
        </p:nvSpPr>
        <p:spPr>
          <a:xfrm>
            <a:off x="4513005" y="400100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6C1EFB-D866-FF81-E86C-FA8BE2FC4F46}"/>
              </a:ext>
            </a:extLst>
          </p:cNvPr>
          <p:cNvSpPr txBox="1"/>
          <p:nvPr/>
        </p:nvSpPr>
        <p:spPr>
          <a:xfrm>
            <a:off x="-310271" y="1738828"/>
            <a:ext cx="11897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Game Theory is a branch of economics concerned with decision making among multiple individuals whose objective functions depend upon the decisions other players make</a:t>
            </a:r>
          </a:p>
          <a:p>
            <a:pPr lvl="1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8833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29415-BDCF-C850-92EA-89B8CE8C0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C658B81-AC22-F9DE-D5D0-EDA37536C7A4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291590-9C08-26ED-8AD2-5594DF11EDD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F22BF5-412B-FE87-9A1E-5A62DD82A0DD}"/>
              </a:ext>
            </a:extLst>
          </p:cNvPr>
          <p:cNvSpPr txBox="1"/>
          <p:nvPr/>
        </p:nvSpPr>
        <p:spPr>
          <a:xfrm>
            <a:off x="4365521" y="389171"/>
            <a:ext cx="429178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Terminology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4463CE-EB27-6BC9-19B0-F86DF1591401}"/>
              </a:ext>
            </a:extLst>
          </p:cNvPr>
          <p:cNvSpPr txBox="1"/>
          <p:nvPr/>
        </p:nvSpPr>
        <p:spPr>
          <a:xfrm>
            <a:off x="-310271" y="1738828"/>
            <a:ext cx="1189703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Game theory is so named because of the similarity to common games of strategy like poker, chess, and tic-tac-toe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players</a:t>
            </a:r>
            <a:r>
              <a:rPr lang="en-US" sz="2400" dirty="0"/>
              <a:t> - the decision makers 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payoff functions </a:t>
            </a:r>
            <a:r>
              <a:rPr lang="en-US" sz="2400" dirty="0"/>
              <a:t>–</a:t>
            </a:r>
            <a:r>
              <a:rPr lang="en-US" sz="2400" b="1" dirty="0"/>
              <a:t> </a:t>
            </a:r>
            <a:r>
              <a:rPr lang="en-US" sz="2400" dirty="0"/>
              <a:t>the</a:t>
            </a:r>
            <a:r>
              <a:rPr lang="en-US" sz="2400" b="1" dirty="0"/>
              <a:t> </a:t>
            </a:r>
            <a:r>
              <a:rPr lang="en-US" sz="2400" dirty="0"/>
              <a:t>objective functions of the players</a:t>
            </a:r>
            <a:endParaRPr lang="en-US" sz="2400" b="1" dirty="0"/>
          </a:p>
          <a:p>
            <a:pPr lvl="1"/>
            <a:r>
              <a:rPr lang="en-US" sz="2400" b="1" dirty="0"/>
              <a:t>	*</a:t>
            </a:r>
            <a:r>
              <a:rPr lang="en-US" sz="2400" dirty="0"/>
              <a:t>The payoff function of each player maps the profile of player strategies to a payoff</a:t>
            </a:r>
          </a:p>
          <a:p>
            <a:pPr lvl="1"/>
            <a:r>
              <a:rPr lang="en-US" sz="2400" dirty="0"/>
              <a:t> </a:t>
            </a:r>
          </a:p>
          <a:p>
            <a:pPr lvl="1"/>
            <a:r>
              <a:rPr lang="en-US" sz="2400" b="1" dirty="0"/>
              <a:t>move</a:t>
            </a:r>
            <a:r>
              <a:rPr lang="en-US" sz="2400" dirty="0"/>
              <a:t> – a point where a player must make a choice. 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play</a:t>
            </a:r>
            <a:r>
              <a:rPr lang="en-US" sz="2400" dirty="0"/>
              <a:t> –  a particular set of moves and choices</a:t>
            </a:r>
          </a:p>
          <a:p>
            <a:pPr lvl="1"/>
            <a:endParaRPr lang="en-US" sz="2400" dirty="0"/>
          </a:p>
          <a:p>
            <a:pPr lvl="1"/>
            <a:r>
              <a:rPr lang="en-US" sz="2400" b="1" dirty="0"/>
              <a:t>strategy</a:t>
            </a:r>
            <a:r>
              <a:rPr lang="en-US" sz="2400" dirty="0"/>
              <a:t> – a predetermined set of decisions which provide a choice for each move</a:t>
            </a:r>
          </a:p>
        </p:txBody>
      </p:sp>
    </p:spTree>
    <p:extLst>
      <p:ext uri="{BB962C8B-B14F-4D97-AF65-F5344CB8AC3E}">
        <p14:creationId xmlns:p14="http://schemas.microsoft.com/office/powerpoint/2010/main" val="4108950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A0B82-2C81-18B7-A911-246F33776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0B66BC-F07E-4573-D768-44CFB381F0CD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A64508-452D-6A1B-95AD-A510F9A2A69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2EC489-1217-B879-0028-44B302CD725E}"/>
              </a:ext>
            </a:extLst>
          </p:cNvPr>
          <p:cNvSpPr txBox="1"/>
          <p:nvPr/>
        </p:nvSpPr>
        <p:spPr>
          <a:xfrm>
            <a:off x="3067664" y="104036"/>
            <a:ext cx="5501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Forms of Game Theory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0CB128-A158-C656-8960-AA9E01941096}"/>
              </a:ext>
            </a:extLst>
          </p:cNvPr>
          <p:cNvSpPr txBox="1"/>
          <p:nvPr/>
        </p:nvSpPr>
        <p:spPr>
          <a:xfrm>
            <a:off x="-310271" y="1738828"/>
            <a:ext cx="118970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When a game involves decisions made in sequence, it is described as </a:t>
            </a:r>
            <a:r>
              <a:rPr lang="en-US" sz="2400" b="1" dirty="0"/>
              <a:t>a game in extensive form </a:t>
            </a:r>
          </a:p>
          <a:p>
            <a:pPr lvl="1"/>
            <a:endParaRPr lang="en-US" sz="2400" b="1" dirty="0"/>
          </a:p>
          <a:p>
            <a:pPr lvl="1"/>
            <a:r>
              <a:rPr lang="en-US" sz="2400" dirty="0"/>
              <a:t>The moves and corresponding payoffs are shown in a </a:t>
            </a:r>
            <a:r>
              <a:rPr lang="en-US" sz="2400" b="1" dirty="0"/>
              <a:t>decision tree</a:t>
            </a:r>
            <a:r>
              <a:rPr lang="en-US" sz="24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6B78A7-4A9E-4302-43F7-3E570EDC6DA6}"/>
              </a:ext>
            </a:extLst>
          </p:cNvPr>
          <p:cNvSpPr txBox="1"/>
          <p:nvPr/>
        </p:nvSpPr>
        <p:spPr>
          <a:xfrm>
            <a:off x="3650225" y="732504"/>
            <a:ext cx="6258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Games in Extensive Form 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F8794-2C7B-7E3D-6257-11FBBD542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77"/>
          <a:stretch>
            <a:fillRect/>
          </a:stretch>
        </p:blipFill>
        <p:spPr>
          <a:xfrm>
            <a:off x="2371170" y="3429000"/>
            <a:ext cx="6534150" cy="327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4434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C5F41B-F6B2-97C8-628E-32968F5A6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DC337DD-90AF-DA02-EFD1-85F1A3D7BED4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9FC297-5AF8-C9DC-2C8B-AE8D7749E81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74D03F-4F51-6E05-A3F6-ED71A009BE17}"/>
              </a:ext>
            </a:extLst>
          </p:cNvPr>
          <p:cNvSpPr txBox="1"/>
          <p:nvPr/>
        </p:nvSpPr>
        <p:spPr>
          <a:xfrm>
            <a:off x="3067664" y="104036"/>
            <a:ext cx="5501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Forms of Game Theory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386FCF-406B-836A-5526-023C70A4792B}"/>
              </a:ext>
            </a:extLst>
          </p:cNvPr>
          <p:cNvSpPr txBox="1"/>
          <p:nvPr/>
        </p:nvSpPr>
        <p:spPr>
          <a:xfrm>
            <a:off x="-310271" y="1738828"/>
            <a:ext cx="11897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Decision trees are solved backwards: you assume that each player makes the move that maximizes their payoff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F2A10E-8AD8-62C7-61D5-FF7D1FD396C6}"/>
              </a:ext>
            </a:extLst>
          </p:cNvPr>
          <p:cNvSpPr txBox="1"/>
          <p:nvPr/>
        </p:nvSpPr>
        <p:spPr>
          <a:xfrm>
            <a:off x="3650225" y="732504"/>
            <a:ext cx="6258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Games in Extensive Form 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057333-3BF6-9396-197D-398DDA3019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877"/>
          <a:stretch>
            <a:fillRect/>
          </a:stretch>
        </p:blipFill>
        <p:spPr>
          <a:xfrm>
            <a:off x="245191" y="2930013"/>
            <a:ext cx="6534150" cy="327674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D5DC692-CA5D-BE1D-99A4-8C43D3D9B80B}"/>
              </a:ext>
            </a:extLst>
          </p:cNvPr>
          <p:cNvSpPr txBox="1"/>
          <p:nvPr/>
        </p:nvSpPr>
        <p:spPr>
          <a:xfrm>
            <a:off x="7342468" y="2843646"/>
            <a:ext cx="3915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Ranger picks Thorough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EC70894-30E9-DD60-81BB-62CF4A63F308}"/>
              </a:ext>
            </a:extLst>
          </p:cNvPr>
          <p:cNvCxnSpPr/>
          <p:nvPr/>
        </p:nvCxnSpPr>
        <p:spPr>
          <a:xfrm>
            <a:off x="8790039" y="4057108"/>
            <a:ext cx="0" cy="10225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474C87D-36C5-AB7D-98F8-16E221F9C502}"/>
              </a:ext>
            </a:extLst>
          </p:cNvPr>
          <p:cNvCxnSpPr>
            <a:cxnSpLocks/>
          </p:cNvCxnSpPr>
          <p:nvPr/>
        </p:nvCxnSpPr>
        <p:spPr>
          <a:xfrm>
            <a:off x="9040762" y="3727728"/>
            <a:ext cx="196153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898F825-7B3F-A669-AA43-A259DE7F6CDC}"/>
              </a:ext>
            </a:extLst>
          </p:cNvPr>
          <p:cNvSpPr txBox="1"/>
          <p:nvPr/>
        </p:nvSpPr>
        <p:spPr>
          <a:xfrm>
            <a:off x="8361106" y="3481112"/>
            <a:ext cx="857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</a:rPr>
              <a:t>Me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375D12-85CC-B347-1413-9F0A2489CB80}"/>
              </a:ext>
            </a:extLst>
          </p:cNvPr>
          <p:cNvSpPr txBox="1"/>
          <p:nvPr/>
        </p:nvSpPr>
        <p:spPr>
          <a:xfrm>
            <a:off x="7670389" y="4214442"/>
            <a:ext cx="1119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Allow Search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0D5962-D635-F03D-955B-34DF2C6FA8B3}"/>
              </a:ext>
            </a:extLst>
          </p:cNvPr>
          <p:cNvSpPr txBox="1"/>
          <p:nvPr/>
        </p:nvSpPr>
        <p:spPr>
          <a:xfrm>
            <a:off x="8180552" y="5089718"/>
            <a:ext cx="111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1</a:t>
            </a:r>
            <a:r>
              <a:rPr lang="en-US" sz="2000" b="1" dirty="0"/>
              <a:t>,</a:t>
            </a:r>
            <a:r>
              <a:rPr lang="en-US" sz="2000" b="1" dirty="0">
                <a:solidFill>
                  <a:srgbClr val="FF0000"/>
                </a:solidFill>
              </a:rPr>
              <a:t>3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CABD1-101D-0978-2365-60E6A3F937D3}"/>
              </a:ext>
            </a:extLst>
          </p:cNvPr>
          <p:cNvSpPr txBox="1"/>
          <p:nvPr/>
        </p:nvSpPr>
        <p:spPr>
          <a:xfrm>
            <a:off x="10698111" y="3542667"/>
            <a:ext cx="11196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2</a:t>
            </a:r>
            <a:r>
              <a:rPr lang="en-US" sz="2000" b="1" dirty="0"/>
              <a:t>,</a:t>
            </a:r>
            <a:r>
              <a:rPr lang="en-US" sz="2000" b="1" dirty="0">
                <a:solidFill>
                  <a:srgbClr val="FF0000"/>
                </a:solidFill>
              </a:rPr>
              <a:t>1</a:t>
            </a:r>
            <a:endParaRPr lang="en-US" sz="2000" b="1" dirty="0">
              <a:solidFill>
                <a:srgbClr val="00B0F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53CBDA-F9B6-8E0E-00F3-A262A00C4E7A}"/>
              </a:ext>
            </a:extLst>
          </p:cNvPr>
          <p:cNvSpPr txBox="1"/>
          <p:nvPr/>
        </p:nvSpPr>
        <p:spPr>
          <a:xfrm>
            <a:off x="9351094" y="3342612"/>
            <a:ext cx="14496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B0F0"/>
                </a:solidFill>
              </a:rPr>
              <a:t>Wait for K9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D0A640-940D-B4DD-1732-CAFA6F622D4D}"/>
              </a:ext>
            </a:extLst>
          </p:cNvPr>
          <p:cNvSpPr txBox="1"/>
          <p:nvPr/>
        </p:nvSpPr>
        <p:spPr>
          <a:xfrm>
            <a:off x="7544030" y="5489828"/>
            <a:ext cx="39154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You choose Wait for K9</a:t>
            </a:r>
          </a:p>
        </p:txBody>
      </p:sp>
    </p:spTree>
    <p:extLst>
      <p:ext uri="{BB962C8B-B14F-4D97-AF65-F5344CB8AC3E}">
        <p14:creationId xmlns:p14="http://schemas.microsoft.com/office/powerpoint/2010/main" val="2344648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721D1D-C189-D340-CF52-E38F8D136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7CDCE1-34C8-42FC-91DD-7180A7BB7232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730BA7-1CAE-980A-749C-4C5692EF490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258C1C-61EE-F5A9-188B-D469714ED2D3}"/>
              </a:ext>
            </a:extLst>
          </p:cNvPr>
          <p:cNvSpPr txBox="1"/>
          <p:nvPr/>
        </p:nvSpPr>
        <p:spPr>
          <a:xfrm>
            <a:off x="3067664" y="104036"/>
            <a:ext cx="55011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Forms of Game Theory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B5411D-3FAB-22E3-CCD3-B4C0C7C69A27}"/>
              </a:ext>
            </a:extLst>
          </p:cNvPr>
          <p:cNvSpPr txBox="1"/>
          <p:nvPr/>
        </p:nvSpPr>
        <p:spPr>
          <a:xfrm>
            <a:off x="-369264" y="1710813"/>
            <a:ext cx="118970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b="1" dirty="0"/>
              <a:t>Games in normal form </a:t>
            </a:r>
            <a:r>
              <a:rPr lang="en-US" sz="2400" dirty="0"/>
              <a:t>involve player decisions made independently </a:t>
            </a:r>
            <a:endParaRPr lang="en-US" sz="2400" b="1" dirty="0"/>
          </a:p>
          <a:p>
            <a:pPr lvl="1"/>
            <a:endParaRPr lang="en-US" sz="2400" b="1" dirty="0"/>
          </a:p>
          <a:p>
            <a:pPr lvl="1"/>
            <a:r>
              <a:rPr lang="en-US" sz="2400" dirty="0"/>
              <a:t>The moves and corresponding payoffs are shown in a </a:t>
            </a:r>
            <a:r>
              <a:rPr lang="en-US" sz="2400" b="1" dirty="0"/>
              <a:t>payoff matrix</a:t>
            </a:r>
            <a:r>
              <a:rPr lang="en-US" sz="2400" dirty="0"/>
              <a:t>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05DA8A-9C33-359E-35FB-CC992C283551}"/>
              </a:ext>
            </a:extLst>
          </p:cNvPr>
          <p:cNvSpPr txBox="1"/>
          <p:nvPr/>
        </p:nvSpPr>
        <p:spPr>
          <a:xfrm>
            <a:off x="3650225" y="732504"/>
            <a:ext cx="625823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Games in Normal Form 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8D91FEB-45AF-602E-F507-C24597E2F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7518" y="2930013"/>
            <a:ext cx="5181293" cy="38778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21C2AC-30B1-B9F1-0E75-460ED05FECFC}"/>
              </a:ext>
            </a:extLst>
          </p:cNvPr>
          <p:cNvSpPr txBox="1"/>
          <p:nvPr/>
        </p:nvSpPr>
        <p:spPr>
          <a:xfrm>
            <a:off x="8375672" y="6125496"/>
            <a:ext cx="38163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000" dirty="0"/>
              <a:t>*We assume that all players know the payoff matrix</a:t>
            </a:r>
          </a:p>
        </p:txBody>
      </p:sp>
    </p:spTree>
    <p:extLst>
      <p:ext uri="{BB962C8B-B14F-4D97-AF65-F5344CB8AC3E}">
        <p14:creationId xmlns:p14="http://schemas.microsoft.com/office/powerpoint/2010/main" val="180609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EADD9-A06A-6BEB-8204-9B00CF42E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413E6B-A713-C359-7C88-59999580D0F0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E6F751-7827-7E31-F565-87717E30D56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30CE0D-A7CA-DA59-24BA-9434F45BEAAB}"/>
              </a:ext>
            </a:extLst>
          </p:cNvPr>
          <p:cNvSpPr txBox="1"/>
          <p:nvPr/>
        </p:nvSpPr>
        <p:spPr>
          <a:xfrm>
            <a:off x="2884784" y="280275"/>
            <a:ext cx="680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Player Zero Sum Games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9E0E43-6A57-1DA0-1388-560FF933BDCE}"/>
                  </a:ext>
                </a:extLst>
              </p:cNvPr>
              <p:cNvSpPr txBox="1"/>
              <p:nvPr/>
            </p:nvSpPr>
            <p:spPr>
              <a:xfrm>
                <a:off x="0" y="1745281"/>
                <a:ext cx="567560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One Player Wins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</m:t>
                    </m:r>
                  </m:oMath>
                </a14:m>
                <a:r>
                  <a:rPr lang="en-US" sz="2400" dirty="0"/>
                  <a:t> One Player Loses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69E0E43-6A57-1DA0-1388-560FF933BD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45281"/>
                <a:ext cx="5675608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A0EE625-21D7-41F1-57CC-9243F6047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02" y="2487220"/>
            <a:ext cx="5675609" cy="26774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403518-E3F3-BE5F-FE5D-A47564E1D4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9991" y="2487220"/>
            <a:ext cx="5675609" cy="26774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0E0B99-0E84-388A-0126-7BBC82672FD3}"/>
              </a:ext>
            </a:extLst>
          </p:cNvPr>
          <p:cNvSpPr txBox="1"/>
          <p:nvPr/>
        </p:nvSpPr>
        <p:spPr>
          <a:xfrm>
            <a:off x="3502187" y="5444971"/>
            <a:ext cx="5675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Because of the symmetry, we only display Player 1’s (Red’s) payoffs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EA1ABE-E343-DAD3-B7FA-49EB5A61FF2B}"/>
              </a:ext>
            </a:extLst>
          </p:cNvPr>
          <p:cNvSpPr txBox="1"/>
          <p:nvPr/>
        </p:nvSpPr>
        <p:spPr>
          <a:xfrm>
            <a:off x="8007362" y="344576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BC796C-C8D5-8775-328F-59D2791B43FB}"/>
              </a:ext>
            </a:extLst>
          </p:cNvPr>
          <p:cNvSpPr txBox="1"/>
          <p:nvPr/>
        </p:nvSpPr>
        <p:spPr>
          <a:xfrm>
            <a:off x="9302762" y="344576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B30AB5-9FF7-BE5B-2F50-33491018FFFB}"/>
              </a:ext>
            </a:extLst>
          </p:cNvPr>
          <p:cNvSpPr txBox="1"/>
          <p:nvPr/>
        </p:nvSpPr>
        <p:spPr>
          <a:xfrm>
            <a:off x="10598162" y="344038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7FA02E-32CC-E970-845E-1FDE97CC94FE}"/>
              </a:ext>
            </a:extLst>
          </p:cNvPr>
          <p:cNvSpPr txBox="1"/>
          <p:nvPr/>
        </p:nvSpPr>
        <p:spPr>
          <a:xfrm>
            <a:off x="8007362" y="407822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C617A6-D039-095E-C7C5-8D1B17FE1ECE}"/>
              </a:ext>
            </a:extLst>
          </p:cNvPr>
          <p:cNvSpPr txBox="1"/>
          <p:nvPr/>
        </p:nvSpPr>
        <p:spPr>
          <a:xfrm>
            <a:off x="9302762" y="407822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0C15CF-F57B-AF05-6974-E82C99A2B1EA}"/>
              </a:ext>
            </a:extLst>
          </p:cNvPr>
          <p:cNvSpPr txBox="1"/>
          <p:nvPr/>
        </p:nvSpPr>
        <p:spPr>
          <a:xfrm>
            <a:off x="10598162" y="408299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AC3366AE-2E28-9373-AD94-FE31EE4BCF2B}"/>
              </a:ext>
            </a:extLst>
          </p:cNvPr>
          <p:cNvSpPr/>
          <p:nvPr/>
        </p:nvSpPr>
        <p:spPr>
          <a:xfrm>
            <a:off x="1905267" y="3547872"/>
            <a:ext cx="740664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8FD52E33-3281-A300-F856-4BBB39D8EF54}"/>
              </a:ext>
            </a:extLst>
          </p:cNvPr>
          <p:cNvSpPr/>
          <p:nvPr/>
        </p:nvSpPr>
        <p:spPr>
          <a:xfrm>
            <a:off x="1905267" y="4180335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98ADCA26-4EED-1489-5E9D-180EC871D5B8}"/>
              </a:ext>
            </a:extLst>
          </p:cNvPr>
          <p:cNvSpPr/>
          <p:nvPr/>
        </p:nvSpPr>
        <p:spPr>
          <a:xfrm>
            <a:off x="3137406" y="4180335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ight Triangle 19">
            <a:extLst>
              <a:ext uri="{FF2B5EF4-FFF2-40B4-BE49-F238E27FC236}">
                <a16:creationId xmlns:a16="http://schemas.microsoft.com/office/drawing/2014/main" id="{DA4CC589-86C8-C6E1-FEE0-34BB097BBA25}"/>
              </a:ext>
            </a:extLst>
          </p:cNvPr>
          <p:cNvSpPr/>
          <p:nvPr/>
        </p:nvSpPr>
        <p:spPr>
          <a:xfrm>
            <a:off x="4494708" y="4205358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6AD60CBA-8E21-29CE-9276-CA2C0FDCB1AD}"/>
              </a:ext>
            </a:extLst>
          </p:cNvPr>
          <p:cNvSpPr/>
          <p:nvPr/>
        </p:nvSpPr>
        <p:spPr>
          <a:xfrm>
            <a:off x="3193256" y="3533055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6E46B6E9-E8BE-B3CA-CA8D-9AFB1184A2B6}"/>
              </a:ext>
            </a:extLst>
          </p:cNvPr>
          <p:cNvSpPr/>
          <p:nvPr/>
        </p:nvSpPr>
        <p:spPr>
          <a:xfrm>
            <a:off x="4477416" y="3569166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ight Triangle 22">
            <a:extLst>
              <a:ext uri="{FF2B5EF4-FFF2-40B4-BE49-F238E27FC236}">
                <a16:creationId xmlns:a16="http://schemas.microsoft.com/office/drawing/2014/main" id="{1F8792CC-2A6D-0C9F-B1FB-C38E75CCD1F0}"/>
              </a:ext>
            </a:extLst>
          </p:cNvPr>
          <p:cNvSpPr/>
          <p:nvPr/>
        </p:nvSpPr>
        <p:spPr>
          <a:xfrm rot="10800000">
            <a:off x="2092398" y="3427177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E432DAC0-057E-BFD0-0EDB-AFC4CC38E304}"/>
              </a:ext>
            </a:extLst>
          </p:cNvPr>
          <p:cNvSpPr/>
          <p:nvPr/>
        </p:nvSpPr>
        <p:spPr>
          <a:xfrm rot="10800000">
            <a:off x="2048249" y="4119151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Triangle 24">
            <a:extLst>
              <a:ext uri="{FF2B5EF4-FFF2-40B4-BE49-F238E27FC236}">
                <a16:creationId xmlns:a16="http://schemas.microsoft.com/office/drawing/2014/main" id="{09788A66-F3FE-802C-5F53-A4DC6DE0C82C}"/>
              </a:ext>
            </a:extLst>
          </p:cNvPr>
          <p:cNvSpPr/>
          <p:nvPr/>
        </p:nvSpPr>
        <p:spPr>
          <a:xfrm rot="10800000">
            <a:off x="3301451" y="3447483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146A53C6-453C-B6C5-5993-783B2EC53A95}"/>
              </a:ext>
            </a:extLst>
          </p:cNvPr>
          <p:cNvSpPr/>
          <p:nvPr/>
        </p:nvSpPr>
        <p:spPr>
          <a:xfrm rot="10800000">
            <a:off x="3299265" y="4107294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Triangle 26">
            <a:extLst>
              <a:ext uri="{FF2B5EF4-FFF2-40B4-BE49-F238E27FC236}">
                <a16:creationId xmlns:a16="http://schemas.microsoft.com/office/drawing/2014/main" id="{BE2F3AFA-AAE7-5241-F6E2-F84798820753}"/>
              </a:ext>
            </a:extLst>
          </p:cNvPr>
          <p:cNvSpPr/>
          <p:nvPr/>
        </p:nvSpPr>
        <p:spPr>
          <a:xfrm rot="10800000">
            <a:off x="4650363" y="3430918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C1A37F4E-DC97-C73D-D6F5-7CB895C90D99}"/>
              </a:ext>
            </a:extLst>
          </p:cNvPr>
          <p:cNvSpPr/>
          <p:nvPr/>
        </p:nvSpPr>
        <p:spPr>
          <a:xfrm rot="10800000">
            <a:off x="4626726" y="4081990"/>
            <a:ext cx="979517" cy="462408"/>
          </a:xfrm>
          <a:prstGeom prst="rt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D74D60-420B-5E81-A844-9ACB3FB356DE}"/>
              </a:ext>
            </a:extLst>
          </p:cNvPr>
          <p:cNvSpPr txBox="1"/>
          <p:nvPr/>
        </p:nvSpPr>
        <p:spPr>
          <a:xfrm>
            <a:off x="1478358" y="3510532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181A18-4E0F-DF20-3C77-55C89BC77D5B}"/>
              </a:ext>
            </a:extLst>
          </p:cNvPr>
          <p:cNvSpPr txBox="1"/>
          <p:nvPr/>
        </p:nvSpPr>
        <p:spPr>
          <a:xfrm>
            <a:off x="1492621" y="4178662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D10CEC-B3FC-289F-F8C8-AD4DD6F3B40B}"/>
              </a:ext>
            </a:extLst>
          </p:cNvPr>
          <p:cNvSpPr txBox="1"/>
          <p:nvPr/>
        </p:nvSpPr>
        <p:spPr>
          <a:xfrm>
            <a:off x="2765574" y="3513375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A4CA16D-38F1-6736-F4AE-05D647ECA009}"/>
              </a:ext>
            </a:extLst>
          </p:cNvPr>
          <p:cNvSpPr txBox="1"/>
          <p:nvPr/>
        </p:nvSpPr>
        <p:spPr>
          <a:xfrm>
            <a:off x="2779837" y="4181505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96F06B-9667-3F53-3401-05EA1102CB85}"/>
              </a:ext>
            </a:extLst>
          </p:cNvPr>
          <p:cNvSpPr txBox="1"/>
          <p:nvPr/>
        </p:nvSpPr>
        <p:spPr>
          <a:xfrm>
            <a:off x="4014872" y="3510532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03A2723-01A9-F5B3-F49C-BC0F529FAC2A}"/>
              </a:ext>
            </a:extLst>
          </p:cNvPr>
          <p:cNvSpPr txBox="1"/>
          <p:nvPr/>
        </p:nvSpPr>
        <p:spPr>
          <a:xfrm>
            <a:off x="4029135" y="4178662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29577AE-DA9B-E66A-6B81-E6884B042026}"/>
              </a:ext>
            </a:extLst>
          </p:cNvPr>
          <p:cNvSpPr txBox="1"/>
          <p:nvPr/>
        </p:nvSpPr>
        <p:spPr>
          <a:xfrm>
            <a:off x="2222425" y="3325117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A22F40-CEB6-9DC7-B330-1CCFE7CA740B}"/>
              </a:ext>
            </a:extLst>
          </p:cNvPr>
          <p:cNvSpPr txBox="1"/>
          <p:nvPr/>
        </p:nvSpPr>
        <p:spPr>
          <a:xfrm>
            <a:off x="3509641" y="3327960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9CDCE5B-D7C9-7977-40D3-3B0C759D0B78}"/>
              </a:ext>
            </a:extLst>
          </p:cNvPr>
          <p:cNvSpPr txBox="1"/>
          <p:nvPr/>
        </p:nvSpPr>
        <p:spPr>
          <a:xfrm>
            <a:off x="4758939" y="3325117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CF79B-479F-12C5-FE05-32B207E56432}"/>
              </a:ext>
            </a:extLst>
          </p:cNvPr>
          <p:cNvSpPr txBox="1"/>
          <p:nvPr/>
        </p:nvSpPr>
        <p:spPr>
          <a:xfrm>
            <a:off x="2220116" y="4003550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D2F413-2DEA-1CA1-2DA8-2DDAC2BFB99D}"/>
              </a:ext>
            </a:extLst>
          </p:cNvPr>
          <p:cNvSpPr txBox="1"/>
          <p:nvPr/>
        </p:nvSpPr>
        <p:spPr>
          <a:xfrm>
            <a:off x="3507332" y="4006393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F097E02-435A-3C8C-B2F5-E6D28EF23AF6}"/>
              </a:ext>
            </a:extLst>
          </p:cNvPr>
          <p:cNvSpPr txBox="1"/>
          <p:nvPr/>
        </p:nvSpPr>
        <p:spPr>
          <a:xfrm>
            <a:off x="4756630" y="4003550"/>
            <a:ext cx="1228077" cy="5847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064EA1"/>
                </a:solidFill>
              </a:rPr>
              <a:t>-6</a:t>
            </a:r>
          </a:p>
        </p:txBody>
      </p:sp>
    </p:spTree>
    <p:extLst>
      <p:ext uri="{BB962C8B-B14F-4D97-AF65-F5344CB8AC3E}">
        <p14:creationId xmlns:p14="http://schemas.microsoft.com/office/powerpoint/2010/main" val="367513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AFA0-7B13-CE83-B546-22BB7F31A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D1B3386-82DB-9783-05A6-093D2F5DBC5A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8A9729D-8671-CA12-FE86-2962877579D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EB61F6-9239-6835-9571-D84AF214427C}"/>
              </a:ext>
            </a:extLst>
          </p:cNvPr>
          <p:cNvSpPr txBox="1"/>
          <p:nvPr/>
        </p:nvSpPr>
        <p:spPr>
          <a:xfrm>
            <a:off x="2884784" y="280275"/>
            <a:ext cx="680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Player Zero Sum Games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A3B2E4-589F-E24A-7F2B-01BE634DBC8C}"/>
              </a:ext>
            </a:extLst>
          </p:cNvPr>
          <p:cNvSpPr txBox="1"/>
          <p:nvPr/>
        </p:nvSpPr>
        <p:spPr>
          <a:xfrm>
            <a:off x="0" y="1745281"/>
            <a:ext cx="10598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Each player chooses their strategy based on the best worst case scenario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8A2C07-80B2-A268-880E-9F1F8C5B0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3" y="4180522"/>
            <a:ext cx="5675609" cy="267747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3606474-C4DF-44C9-52C0-636B95E8DCF2}"/>
              </a:ext>
            </a:extLst>
          </p:cNvPr>
          <p:cNvSpPr txBox="1"/>
          <p:nvPr/>
        </p:nvSpPr>
        <p:spPr>
          <a:xfrm>
            <a:off x="-6481" y="2421580"/>
            <a:ext cx="105981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They compute the worst outcome for each of their decisions</a:t>
            </a:r>
          </a:p>
          <a:p>
            <a:pPr lvl="1"/>
            <a:endParaRPr lang="en-US" sz="2400" dirty="0"/>
          </a:p>
          <a:p>
            <a:pPr lvl="1"/>
            <a:r>
              <a:rPr lang="en-US" sz="2400" dirty="0"/>
              <a:t>They choose the decision with the best worst outcome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8816CF-B1FA-67F3-58F0-7881C308B68C}"/>
              </a:ext>
            </a:extLst>
          </p:cNvPr>
          <p:cNvSpPr txBox="1"/>
          <p:nvPr/>
        </p:nvSpPr>
        <p:spPr>
          <a:xfrm>
            <a:off x="3480623" y="3718857"/>
            <a:ext cx="491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rgbClr val="FF0000"/>
                </a:solidFill>
              </a:rPr>
              <a:t>Player 1 (Red) Strategy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5EB05-27EE-9639-04BD-01CF27559676}"/>
              </a:ext>
            </a:extLst>
          </p:cNvPr>
          <p:cNvSpPr txBox="1"/>
          <p:nvPr/>
        </p:nvSpPr>
        <p:spPr>
          <a:xfrm>
            <a:off x="5440680" y="5139063"/>
            <a:ext cx="275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AA7F3D-9425-30D0-8276-F43B7FDE5D29}"/>
              </a:ext>
            </a:extLst>
          </p:cNvPr>
          <p:cNvSpPr txBox="1"/>
          <p:nvPr/>
        </p:nvSpPr>
        <p:spPr>
          <a:xfrm>
            <a:off x="5440680" y="5767698"/>
            <a:ext cx="275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-1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6B3EBD-2C4A-3ABA-1DC7-7B249C7227BD}"/>
              </a:ext>
            </a:extLst>
          </p:cNvPr>
          <p:cNvSpPr txBox="1"/>
          <p:nvPr/>
        </p:nvSpPr>
        <p:spPr>
          <a:xfrm>
            <a:off x="8400480" y="5506584"/>
            <a:ext cx="308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Choose strategy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617DFC74-9EBC-E6BA-0607-0EF14547AC34}"/>
              </a:ext>
            </a:extLst>
          </p:cNvPr>
          <p:cNvSpPr/>
          <p:nvPr/>
        </p:nvSpPr>
        <p:spPr>
          <a:xfrm>
            <a:off x="7975284" y="5073561"/>
            <a:ext cx="850392" cy="13277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9F13BB-06DB-76ED-43A3-B6E917D70ACD}"/>
              </a:ext>
            </a:extLst>
          </p:cNvPr>
          <p:cNvSpPr txBox="1"/>
          <p:nvPr/>
        </p:nvSpPr>
        <p:spPr>
          <a:xfrm>
            <a:off x="1935746" y="51444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DBC67-664C-6BE0-E468-ACFD0D6067C1}"/>
              </a:ext>
            </a:extLst>
          </p:cNvPr>
          <p:cNvSpPr txBox="1"/>
          <p:nvPr/>
        </p:nvSpPr>
        <p:spPr>
          <a:xfrm>
            <a:off x="3231146" y="514444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35E639-1116-5A93-D30E-771C56D57684}"/>
              </a:ext>
            </a:extLst>
          </p:cNvPr>
          <p:cNvSpPr txBox="1"/>
          <p:nvPr/>
        </p:nvSpPr>
        <p:spPr>
          <a:xfrm>
            <a:off x="4526546" y="51390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57CCFA-4700-A277-585D-42C0754F06BF}"/>
              </a:ext>
            </a:extLst>
          </p:cNvPr>
          <p:cNvSpPr txBox="1"/>
          <p:nvPr/>
        </p:nvSpPr>
        <p:spPr>
          <a:xfrm>
            <a:off x="1935746" y="577690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487F68C-33B3-2900-EB68-3005B2A730BC}"/>
              </a:ext>
            </a:extLst>
          </p:cNvPr>
          <p:cNvSpPr txBox="1"/>
          <p:nvPr/>
        </p:nvSpPr>
        <p:spPr>
          <a:xfrm>
            <a:off x="3231146" y="577690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567E903-5EB8-7206-AB13-BDD552EB4A62}"/>
              </a:ext>
            </a:extLst>
          </p:cNvPr>
          <p:cNvSpPr txBox="1"/>
          <p:nvPr/>
        </p:nvSpPr>
        <p:spPr>
          <a:xfrm>
            <a:off x="4526546" y="578167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6917585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10F4A-8463-FB60-DF28-1D14C201C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8C522E8-8488-3F7A-B920-4F6DFAE73795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ACBA32-C2CF-CC35-5305-174051E7220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E59A6F-93B3-0CFB-DDC7-0DA25A77435F}"/>
              </a:ext>
            </a:extLst>
          </p:cNvPr>
          <p:cNvSpPr txBox="1"/>
          <p:nvPr/>
        </p:nvSpPr>
        <p:spPr>
          <a:xfrm>
            <a:off x="2884784" y="280275"/>
            <a:ext cx="680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Player Zero Sum Games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390A2A-EB8A-8D16-95EA-29739CBCA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3" y="2177986"/>
            <a:ext cx="5675609" cy="2677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A970A7-753A-63EF-F238-0100BCF3E9AE}"/>
              </a:ext>
            </a:extLst>
          </p:cNvPr>
          <p:cNvSpPr txBox="1"/>
          <p:nvPr/>
        </p:nvSpPr>
        <p:spPr>
          <a:xfrm>
            <a:off x="19323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9B1EE0-88E1-8D6A-427C-E4B33834BF57}"/>
              </a:ext>
            </a:extLst>
          </p:cNvPr>
          <p:cNvSpPr txBox="1"/>
          <p:nvPr/>
        </p:nvSpPr>
        <p:spPr>
          <a:xfrm>
            <a:off x="32277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209C11-7EAB-F0EF-FC30-F5C9B1A436BD}"/>
              </a:ext>
            </a:extLst>
          </p:cNvPr>
          <p:cNvSpPr txBox="1"/>
          <p:nvPr/>
        </p:nvSpPr>
        <p:spPr>
          <a:xfrm>
            <a:off x="4523114" y="311627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EE559E-1BE2-5151-2008-791E978C95F9}"/>
              </a:ext>
            </a:extLst>
          </p:cNvPr>
          <p:cNvSpPr txBox="1"/>
          <p:nvPr/>
        </p:nvSpPr>
        <p:spPr>
          <a:xfrm>
            <a:off x="19323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6305C9E-8F12-3751-3E0F-118E33FD9B44}"/>
              </a:ext>
            </a:extLst>
          </p:cNvPr>
          <p:cNvSpPr txBox="1"/>
          <p:nvPr/>
        </p:nvSpPr>
        <p:spPr>
          <a:xfrm>
            <a:off x="32277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3BD4D44-6852-6AF5-B965-022F67D0E20F}"/>
              </a:ext>
            </a:extLst>
          </p:cNvPr>
          <p:cNvSpPr txBox="1"/>
          <p:nvPr/>
        </p:nvSpPr>
        <p:spPr>
          <a:xfrm>
            <a:off x="4523114" y="3748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FEF68D-6925-6ABD-C42E-763A9EDE441E}"/>
              </a:ext>
            </a:extLst>
          </p:cNvPr>
          <p:cNvSpPr txBox="1"/>
          <p:nvPr/>
        </p:nvSpPr>
        <p:spPr>
          <a:xfrm>
            <a:off x="3480623" y="1716321"/>
            <a:ext cx="491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rgbClr val="FF0000"/>
                </a:solidFill>
              </a:rPr>
              <a:t>Player 1 (Red) Strategy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03B135-4197-9920-496E-E27566D9DAFE}"/>
              </a:ext>
            </a:extLst>
          </p:cNvPr>
          <p:cNvSpPr txBox="1"/>
          <p:nvPr/>
        </p:nvSpPr>
        <p:spPr>
          <a:xfrm>
            <a:off x="5440680" y="3136527"/>
            <a:ext cx="275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509DFB-3E76-A615-84DF-54B7A1EB8171}"/>
              </a:ext>
            </a:extLst>
          </p:cNvPr>
          <p:cNvSpPr txBox="1"/>
          <p:nvPr/>
        </p:nvSpPr>
        <p:spPr>
          <a:xfrm>
            <a:off x="5440680" y="3765162"/>
            <a:ext cx="275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-1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C6B347-8476-00B6-D12F-D0DF185B4717}"/>
              </a:ext>
            </a:extLst>
          </p:cNvPr>
          <p:cNvSpPr txBox="1"/>
          <p:nvPr/>
        </p:nvSpPr>
        <p:spPr>
          <a:xfrm>
            <a:off x="8400480" y="3504048"/>
            <a:ext cx="308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Choose strategy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097A2F0A-8F95-B7CD-3F6D-468B11A346BC}"/>
              </a:ext>
            </a:extLst>
          </p:cNvPr>
          <p:cNvSpPr/>
          <p:nvPr/>
        </p:nvSpPr>
        <p:spPr>
          <a:xfrm>
            <a:off x="7975284" y="3071025"/>
            <a:ext cx="850392" cy="13277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DBF47A-FE2C-2998-D52E-B040AC3474A3}"/>
                  </a:ext>
                </a:extLst>
              </p:cNvPr>
              <p:cNvSpPr txBox="1"/>
              <p:nvPr/>
            </p:nvSpPr>
            <p:spPr>
              <a:xfrm>
                <a:off x="264943" y="5032616"/>
                <a:ext cx="10598162" cy="1230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If we denote our payoff matrix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, Player 1 chooses the </a:t>
                </a:r>
                <a:r>
                  <a:rPr lang="en-US" sz="2400" b="1" dirty="0"/>
                  <a:t>maximin</a:t>
                </a:r>
                <a:r>
                  <a:rPr lang="en-US" sz="2400" dirty="0"/>
                  <a:t> strategy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Player 1’s strategy solves the problem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3DBF47A-FE2C-2998-D52E-B040AC3474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43" y="5032616"/>
                <a:ext cx="10598162" cy="1230080"/>
              </a:xfrm>
              <a:prstGeom prst="rect">
                <a:avLst/>
              </a:prstGeom>
              <a:blipFill>
                <a:blip r:embed="rId4"/>
                <a:stretch>
                  <a:fillRect t="-3980" b="-94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7FDC355-12BD-0D75-FC52-CE8059B68FE6}"/>
              </a:ext>
            </a:extLst>
          </p:cNvPr>
          <p:cNvCxnSpPr/>
          <p:nvPr/>
        </p:nvCxnSpPr>
        <p:spPr>
          <a:xfrm>
            <a:off x="6547104" y="6363280"/>
            <a:ext cx="10698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29DA682-F011-D37A-363F-323A3AE54F87}"/>
              </a:ext>
            </a:extLst>
          </p:cNvPr>
          <p:cNvSpPr txBox="1"/>
          <p:nvPr/>
        </p:nvSpPr>
        <p:spPr>
          <a:xfrm>
            <a:off x="7235951" y="6179613"/>
            <a:ext cx="1914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Worst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287F95-B226-9885-7A38-EE27E1DFE8BB}"/>
              </a:ext>
            </a:extLst>
          </p:cNvPr>
          <p:cNvSpPr txBox="1"/>
          <p:nvPr/>
        </p:nvSpPr>
        <p:spPr>
          <a:xfrm>
            <a:off x="5524500" y="6488667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Best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EA7914B-DB63-0616-6780-7B0A67484812}"/>
              </a:ext>
            </a:extLst>
          </p:cNvPr>
          <p:cNvCxnSpPr>
            <a:cxnSpLocks/>
          </p:cNvCxnSpPr>
          <p:nvPr/>
        </p:nvCxnSpPr>
        <p:spPr>
          <a:xfrm flipV="1">
            <a:off x="6288712" y="6190488"/>
            <a:ext cx="0" cy="33675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09BBD06-FC5A-EFB4-2078-DF39BF64C80E}"/>
              </a:ext>
            </a:extLst>
          </p:cNvPr>
          <p:cNvSpPr txBox="1"/>
          <p:nvPr/>
        </p:nvSpPr>
        <p:spPr>
          <a:xfrm>
            <a:off x="19323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9B4117-160B-EF6B-F55A-257A0648869E}"/>
              </a:ext>
            </a:extLst>
          </p:cNvPr>
          <p:cNvSpPr txBox="1"/>
          <p:nvPr/>
        </p:nvSpPr>
        <p:spPr>
          <a:xfrm>
            <a:off x="32277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8B30A7-67D8-425F-2BC9-6666EEBCC2F3}"/>
              </a:ext>
            </a:extLst>
          </p:cNvPr>
          <p:cNvSpPr txBox="1"/>
          <p:nvPr/>
        </p:nvSpPr>
        <p:spPr>
          <a:xfrm>
            <a:off x="4523114" y="313114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41A4EA-4730-19DE-70B1-ADC40044056A}"/>
              </a:ext>
            </a:extLst>
          </p:cNvPr>
          <p:cNvSpPr txBox="1"/>
          <p:nvPr/>
        </p:nvSpPr>
        <p:spPr>
          <a:xfrm>
            <a:off x="19323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D15BB94-26E0-619B-19E0-E91C1333847A}"/>
              </a:ext>
            </a:extLst>
          </p:cNvPr>
          <p:cNvSpPr txBox="1"/>
          <p:nvPr/>
        </p:nvSpPr>
        <p:spPr>
          <a:xfrm>
            <a:off x="32277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3206BF-F951-3FBF-2167-21A7A9756E48}"/>
              </a:ext>
            </a:extLst>
          </p:cNvPr>
          <p:cNvSpPr txBox="1"/>
          <p:nvPr/>
        </p:nvSpPr>
        <p:spPr>
          <a:xfrm>
            <a:off x="4523114" y="37737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1906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CCBB7-6B9C-965B-E9D3-AFB770444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B605548-CB17-F444-740B-A2D5B55AAFE1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18BC33-7F71-333D-34A7-AAB42B5BF88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5AF3E-DFC4-B6AE-05AF-978F878A4403}"/>
              </a:ext>
            </a:extLst>
          </p:cNvPr>
          <p:cNvSpPr txBox="1"/>
          <p:nvPr/>
        </p:nvSpPr>
        <p:spPr>
          <a:xfrm>
            <a:off x="2884784" y="280275"/>
            <a:ext cx="680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Player Zero Sum Games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B99DA9-0592-1F38-C25B-CF540E45EA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3" y="2177986"/>
            <a:ext cx="5675609" cy="2677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F262941-5640-227F-62F3-838A62B24A45}"/>
              </a:ext>
            </a:extLst>
          </p:cNvPr>
          <p:cNvSpPr txBox="1"/>
          <p:nvPr/>
        </p:nvSpPr>
        <p:spPr>
          <a:xfrm>
            <a:off x="19323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DB63F-4758-2B24-5324-A0C50F83BB43}"/>
              </a:ext>
            </a:extLst>
          </p:cNvPr>
          <p:cNvSpPr txBox="1"/>
          <p:nvPr/>
        </p:nvSpPr>
        <p:spPr>
          <a:xfrm>
            <a:off x="32277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A9F51C-3019-CB7A-E3FC-71E2238C4DEC}"/>
              </a:ext>
            </a:extLst>
          </p:cNvPr>
          <p:cNvSpPr txBox="1"/>
          <p:nvPr/>
        </p:nvSpPr>
        <p:spPr>
          <a:xfrm>
            <a:off x="4523114" y="311627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EC93EE2-5DD4-85B0-369E-6F65A77ADC2D}"/>
              </a:ext>
            </a:extLst>
          </p:cNvPr>
          <p:cNvSpPr txBox="1"/>
          <p:nvPr/>
        </p:nvSpPr>
        <p:spPr>
          <a:xfrm>
            <a:off x="19323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543871-E7C2-558B-8219-2EF12B337158}"/>
              </a:ext>
            </a:extLst>
          </p:cNvPr>
          <p:cNvSpPr txBox="1"/>
          <p:nvPr/>
        </p:nvSpPr>
        <p:spPr>
          <a:xfrm>
            <a:off x="32277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9C4B8B-0CD6-AC98-74E6-EB27BA9A9CED}"/>
              </a:ext>
            </a:extLst>
          </p:cNvPr>
          <p:cNvSpPr txBox="1"/>
          <p:nvPr/>
        </p:nvSpPr>
        <p:spPr>
          <a:xfrm>
            <a:off x="4523114" y="3748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40FA5C-5335-465B-A34A-D3C0A36EBAFA}"/>
              </a:ext>
            </a:extLst>
          </p:cNvPr>
          <p:cNvSpPr txBox="1"/>
          <p:nvPr/>
        </p:nvSpPr>
        <p:spPr>
          <a:xfrm>
            <a:off x="3480623" y="1716321"/>
            <a:ext cx="49198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rgbClr val="FF0000"/>
                </a:solidFill>
              </a:rPr>
              <a:t>Player 1 (Red) Strategy Selection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52F4ED-92E7-7551-8DC7-22C7A648084F}"/>
              </a:ext>
            </a:extLst>
          </p:cNvPr>
          <p:cNvSpPr txBox="1"/>
          <p:nvPr/>
        </p:nvSpPr>
        <p:spPr>
          <a:xfrm>
            <a:off x="5440680" y="3136527"/>
            <a:ext cx="275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endParaRPr lang="en-US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F3A83ED-5960-7E65-8B46-C85816933870}"/>
              </a:ext>
            </a:extLst>
          </p:cNvPr>
          <p:cNvSpPr txBox="1"/>
          <p:nvPr/>
        </p:nvSpPr>
        <p:spPr>
          <a:xfrm>
            <a:off x="5440680" y="3765162"/>
            <a:ext cx="2752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-1</a:t>
            </a:r>
            <a:endParaRPr lang="en-US" sz="24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CCAF1C-89F7-7A4A-8C61-5A8B777A537E}"/>
              </a:ext>
            </a:extLst>
          </p:cNvPr>
          <p:cNvSpPr txBox="1"/>
          <p:nvPr/>
        </p:nvSpPr>
        <p:spPr>
          <a:xfrm>
            <a:off x="8400480" y="3504048"/>
            <a:ext cx="30861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Choose strategy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86AEF069-65E9-5A56-CBE2-5EE6F07EF889}"/>
              </a:ext>
            </a:extLst>
          </p:cNvPr>
          <p:cNvSpPr/>
          <p:nvPr/>
        </p:nvSpPr>
        <p:spPr>
          <a:xfrm>
            <a:off x="7975284" y="3071025"/>
            <a:ext cx="850392" cy="1327713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0F5493-D0C9-77AA-AAA4-B3C944D1B2ED}"/>
                  </a:ext>
                </a:extLst>
              </p:cNvPr>
              <p:cNvSpPr txBox="1"/>
              <p:nvPr/>
            </p:nvSpPr>
            <p:spPr>
              <a:xfrm>
                <a:off x="264943" y="4919579"/>
                <a:ext cx="10598162" cy="29841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The value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en-US" sz="2400" dirty="0"/>
                  <a:t> serves as a lower bound of the payoff from the Player 1’s optimal strategy</a:t>
                </a:r>
              </a:p>
              <a:p>
                <a:pPr lvl="1"/>
                <a:endParaRPr lang="en-US" sz="2400" dirty="0"/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≥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  <a:p>
                <a:pPr lvl="1"/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CB0F5493-D0C9-77AA-AAA4-B3C944D1B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43" y="4919579"/>
                <a:ext cx="10598162" cy="2984150"/>
              </a:xfrm>
              <a:prstGeom prst="rect">
                <a:avLst/>
              </a:prstGeom>
              <a:blipFill>
                <a:blip r:embed="rId4"/>
                <a:stretch>
                  <a:fillRect t="-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19E94F15-0305-17DB-D778-91B954192AC2}"/>
              </a:ext>
            </a:extLst>
          </p:cNvPr>
          <p:cNvSpPr txBox="1"/>
          <p:nvPr/>
        </p:nvSpPr>
        <p:spPr>
          <a:xfrm>
            <a:off x="1932314" y="312479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66D9B9-1442-689E-7AEE-65E326C92B00}"/>
              </a:ext>
            </a:extLst>
          </p:cNvPr>
          <p:cNvSpPr txBox="1"/>
          <p:nvPr/>
        </p:nvSpPr>
        <p:spPr>
          <a:xfrm>
            <a:off x="3227714" y="312479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4CBCB2E-D77B-058B-F74B-A7F383B0F61C}"/>
              </a:ext>
            </a:extLst>
          </p:cNvPr>
          <p:cNvSpPr txBox="1"/>
          <p:nvPr/>
        </p:nvSpPr>
        <p:spPr>
          <a:xfrm>
            <a:off x="4523114" y="311941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15AA15-5AB2-6220-FB22-9A5A3AC9829F}"/>
              </a:ext>
            </a:extLst>
          </p:cNvPr>
          <p:cNvSpPr txBox="1"/>
          <p:nvPr/>
        </p:nvSpPr>
        <p:spPr>
          <a:xfrm>
            <a:off x="1932314" y="37572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26F857-AA5B-9664-0EDA-52193F8F19EA}"/>
              </a:ext>
            </a:extLst>
          </p:cNvPr>
          <p:cNvSpPr txBox="1"/>
          <p:nvPr/>
        </p:nvSpPr>
        <p:spPr>
          <a:xfrm>
            <a:off x="3227714" y="37572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C317D6-DD40-A1A2-347E-722730D7DD7D}"/>
              </a:ext>
            </a:extLst>
          </p:cNvPr>
          <p:cNvSpPr txBox="1"/>
          <p:nvPr/>
        </p:nvSpPr>
        <p:spPr>
          <a:xfrm>
            <a:off x="4523114" y="376202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7634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D490A-6E93-C518-258B-77CA21153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20D277-05E6-3F77-DD64-0F1868B7E30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0F462F-9C3E-E99B-9F12-1D41DCC0B79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E44B1-FF3D-5B84-214F-FF4D20CC3BAB}"/>
              </a:ext>
            </a:extLst>
          </p:cNvPr>
          <p:cNvSpPr txBox="1"/>
          <p:nvPr/>
        </p:nvSpPr>
        <p:spPr>
          <a:xfrm>
            <a:off x="2884784" y="280275"/>
            <a:ext cx="680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Player Zero Sum Games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BF68F8C-4747-F4CE-B31D-F3780E316B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3" y="2177986"/>
            <a:ext cx="5675609" cy="2677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8258F02-1811-94BE-660D-DDF5169DA42E}"/>
              </a:ext>
            </a:extLst>
          </p:cNvPr>
          <p:cNvSpPr txBox="1"/>
          <p:nvPr/>
        </p:nvSpPr>
        <p:spPr>
          <a:xfrm>
            <a:off x="19323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9CF85E-CDFE-2E17-7AFE-CF4424B50A7C}"/>
              </a:ext>
            </a:extLst>
          </p:cNvPr>
          <p:cNvSpPr txBox="1"/>
          <p:nvPr/>
        </p:nvSpPr>
        <p:spPr>
          <a:xfrm>
            <a:off x="3227714" y="313652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C510A7-60CA-AFEE-7BDB-BA012401A6B0}"/>
              </a:ext>
            </a:extLst>
          </p:cNvPr>
          <p:cNvSpPr txBox="1"/>
          <p:nvPr/>
        </p:nvSpPr>
        <p:spPr>
          <a:xfrm>
            <a:off x="4523114" y="311627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9648DB-A1A9-444A-F8C1-30D24EBEBA4D}"/>
              </a:ext>
            </a:extLst>
          </p:cNvPr>
          <p:cNvSpPr txBox="1"/>
          <p:nvPr/>
        </p:nvSpPr>
        <p:spPr>
          <a:xfrm>
            <a:off x="19323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72DBCF7-9193-2675-E8A7-39E5240D7FE3}"/>
              </a:ext>
            </a:extLst>
          </p:cNvPr>
          <p:cNvSpPr txBox="1"/>
          <p:nvPr/>
        </p:nvSpPr>
        <p:spPr>
          <a:xfrm>
            <a:off x="3227714" y="376899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D76F9E-35AC-C83D-F0CB-BC41A111B904}"/>
              </a:ext>
            </a:extLst>
          </p:cNvPr>
          <p:cNvSpPr txBox="1"/>
          <p:nvPr/>
        </p:nvSpPr>
        <p:spPr>
          <a:xfrm>
            <a:off x="4523114" y="374873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72E887-BCF7-7738-AA55-CAE5395F75CB}"/>
              </a:ext>
            </a:extLst>
          </p:cNvPr>
          <p:cNvSpPr txBox="1"/>
          <p:nvPr/>
        </p:nvSpPr>
        <p:spPr>
          <a:xfrm>
            <a:off x="3480623" y="1716321"/>
            <a:ext cx="5345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rgbClr val="064EA1"/>
                </a:solidFill>
              </a:rPr>
              <a:t>Player 2 (Blue) Strategy Selection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F7CD53-92B7-6567-4735-19755587703C}"/>
              </a:ext>
            </a:extLst>
          </p:cNvPr>
          <p:cNvSpPr txBox="1"/>
          <p:nvPr/>
        </p:nvSpPr>
        <p:spPr>
          <a:xfrm>
            <a:off x="6462655" y="4560994"/>
            <a:ext cx="3952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Choose strategy </a:t>
            </a:r>
            <a:r>
              <a:rPr lang="en-US" sz="24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E1EC8C7E-341A-4522-2DA4-27E7E56DFC31}"/>
              </a:ext>
            </a:extLst>
          </p:cNvPr>
          <p:cNvSpPr/>
          <p:nvPr/>
        </p:nvSpPr>
        <p:spPr>
          <a:xfrm>
            <a:off x="6037459" y="4510447"/>
            <a:ext cx="850392" cy="58477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1ABA25-7115-F5C1-0063-FF95CAEE40C3}"/>
                  </a:ext>
                </a:extLst>
              </p:cNvPr>
              <p:cNvSpPr txBox="1"/>
              <p:nvPr/>
            </p:nvSpPr>
            <p:spPr>
              <a:xfrm>
                <a:off x="264943" y="5288648"/>
                <a:ext cx="10598162" cy="1353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If we denote our payoff matrix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lang="en-US" sz="2400" dirty="0"/>
                  <a:t>, Player 2 chooses the </a:t>
                </a:r>
                <a:r>
                  <a:rPr lang="en-US" sz="2400" b="1" dirty="0"/>
                  <a:t>minimax</a:t>
                </a:r>
                <a:r>
                  <a:rPr lang="en-US" sz="2400" dirty="0"/>
                  <a:t> strategy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Player 2’s strategy solves the problem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 i="0" smtClean="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li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smtClean="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01ABA25-7115-F5C1-0063-FF95CAEE40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943" y="5288648"/>
                <a:ext cx="10598162" cy="1353576"/>
              </a:xfrm>
              <a:prstGeom prst="rect">
                <a:avLst/>
              </a:prstGeom>
              <a:blipFill>
                <a:blip r:embed="rId4"/>
                <a:stretch>
                  <a:fillRect t="-3604" b="-31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8B06A36-BA72-0928-B389-5E8022059CB8}"/>
              </a:ext>
            </a:extLst>
          </p:cNvPr>
          <p:cNvCxnSpPr/>
          <p:nvPr/>
        </p:nvCxnSpPr>
        <p:spPr>
          <a:xfrm>
            <a:off x="6537960" y="6609433"/>
            <a:ext cx="1069848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644D86E-D82E-61BC-8D07-EF66510E0C4C}"/>
              </a:ext>
            </a:extLst>
          </p:cNvPr>
          <p:cNvSpPr txBox="1"/>
          <p:nvPr/>
        </p:nvSpPr>
        <p:spPr>
          <a:xfrm>
            <a:off x="7165849" y="6428232"/>
            <a:ext cx="1914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Worst Case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E8C656-4F9E-D89E-F53B-04A6B4BB5D21}"/>
              </a:ext>
            </a:extLst>
          </p:cNvPr>
          <p:cNvSpPr txBox="1"/>
          <p:nvPr/>
        </p:nvSpPr>
        <p:spPr>
          <a:xfrm>
            <a:off x="4837242" y="6544385"/>
            <a:ext cx="1143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dirty="0"/>
              <a:t>Best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ED1BF6F-EF84-51F6-906F-CD10058CD297}"/>
              </a:ext>
            </a:extLst>
          </p:cNvPr>
          <p:cNvCxnSpPr>
            <a:cxnSpLocks/>
          </p:cNvCxnSpPr>
          <p:nvPr/>
        </p:nvCxnSpPr>
        <p:spPr>
          <a:xfrm flipV="1">
            <a:off x="5888809" y="6428232"/>
            <a:ext cx="164578" cy="31646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A49D009-6F14-065E-2CB4-CC6D2D7E87B7}"/>
              </a:ext>
            </a:extLst>
          </p:cNvPr>
          <p:cNvSpPr/>
          <p:nvPr/>
        </p:nvSpPr>
        <p:spPr>
          <a:xfrm>
            <a:off x="1965975" y="4465350"/>
            <a:ext cx="252347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547A2C-6106-98D2-E576-F96189DB6B1F}"/>
              </a:ext>
            </a:extLst>
          </p:cNvPr>
          <p:cNvSpPr txBox="1"/>
          <p:nvPr/>
        </p:nvSpPr>
        <p:spPr>
          <a:xfrm>
            <a:off x="1266295" y="4387337"/>
            <a:ext cx="1929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26D783-C841-B048-E287-708A956210F2}"/>
              </a:ext>
            </a:extLst>
          </p:cNvPr>
          <p:cNvSpPr txBox="1"/>
          <p:nvPr/>
        </p:nvSpPr>
        <p:spPr>
          <a:xfrm>
            <a:off x="2612919" y="4398929"/>
            <a:ext cx="1929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endParaRPr lang="en-US" sz="2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E99053-275B-2C81-F136-257F83D87629}"/>
              </a:ext>
            </a:extLst>
          </p:cNvPr>
          <p:cNvSpPr txBox="1"/>
          <p:nvPr/>
        </p:nvSpPr>
        <p:spPr>
          <a:xfrm>
            <a:off x="3959543" y="4388862"/>
            <a:ext cx="1929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4</a:t>
            </a:r>
            <a:endParaRPr lang="en-US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660B9-0004-062C-75BC-5B792484976C}"/>
              </a:ext>
            </a:extLst>
          </p:cNvPr>
          <p:cNvSpPr txBox="1"/>
          <p:nvPr/>
        </p:nvSpPr>
        <p:spPr>
          <a:xfrm>
            <a:off x="1932314" y="312500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B978BE-0F52-F151-7D9E-5124EC7BF2D7}"/>
              </a:ext>
            </a:extLst>
          </p:cNvPr>
          <p:cNvSpPr txBox="1"/>
          <p:nvPr/>
        </p:nvSpPr>
        <p:spPr>
          <a:xfrm>
            <a:off x="3227714" y="312500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045775-95D8-5208-1D7C-61EE56471FEF}"/>
              </a:ext>
            </a:extLst>
          </p:cNvPr>
          <p:cNvSpPr txBox="1"/>
          <p:nvPr/>
        </p:nvSpPr>
        <p:spPr>
          <a:xfrm>
            <a:off x="4523114" y="311962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FF4C8B-2F1A-AB15-099A-F104BCD83D01}"/>
              </a:ext>
            </a:extLst>
          </p:cNvPr>
          <p:cNvSpPr txBox="1"/>
          <p:nvPr/>
        </p:nvSpPr>
        <p:spPr>
          <a:xfrm>
            <a:off x="1932314" y="375746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F631BE-DF6F-9B1B-FD69-2127E00149C6}"/>
              </a:ext>
            </a:extLst>
          </p:cNvPr>
          <p:cNvSpPr txBox="1"/>
          <p:nvPr/>
        </p:nvSpPr>
        <p:spPr>
          <a:xfrm>
            <a:off x="3227714" y="375746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323CE1C-E8AA-82F3-A5CD-893D213E75AF}"/>
              </a:ext>
            </a:extLst>
          </p:cNvPr>
          <p:cNvSpPr txBox="1"/>
          <p:nvPr/>
        </p:nvSpPr>
        <p:spPr>
          <a:xfrm>
            <a:off x="4523114" y="376223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34362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F7F21-4643-7C02-FF74-5EDA748B9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31BDF86-E248-9DB8-7C5E-54720AC3943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9EBA5E-9244-104D-D480-B8F12580F2F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6DBF4-F856-69B9-3F7A-29094A77E22A}"/>
              </a:ext>
            </a:extLst>
          </p:cNvPr>
          <p:cNvSpPr txBox="1"/>
          <p:nvPr/>
        </p:nvSpPr>
        <p:spPr>
          <a:xfrm>
            <a:off x="2884784" y="280275"/>
            <a:ext cx="680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Player Zero Sum Games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034778-483F-30F3-6F21-D5C9FB8104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3" y="2013394"/>
            <a:ext cx="5675609" cy="2677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985D20-1248-0206-E2FD-7EFD1E1891D7}"/>
              </a:ext>
            </a:extLst>
          </p:cNvPr>
          <p:cNvSpPr txBox="1"/>
          <p:nvPr/>
        </p:nvSpPr>
        <p:spPr>
          <a:xfrm>
            <a:off x="1932314" y="297193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179FCE-D666-A353-F3D0-FE39C46D663B}"/>
              </a:ext>
            </a:extLst>
          </p:cNvPr>
          <p:cNvSpPr txBox="1"/>
          <p:nvPr/>
        </p:nvSpPr>
        <p:spPr>
          <a:xfrm>
            <a:off x="3227714" y="297193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6BB065-DA8E-6523-94EE-801BCD072E35}"/>
              </a:ext>
            </a:extLst>
          </p:cNvPr>
          <p:cNvSpPr txBox="1"/>
          <p:nvPr/>
        </p:nvSpPr>
        <p:spPr>
          <a:xfrm>
            <a:off x="4523114" y="2951679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06CE0D-2CFE-0275-276B-138AAA3819FD}"/>
              </a:ext>
            </a:extLst>
          </p:cNvPr>
          <p:cNvSpPr txBox="1"/>
          <p:nvPr/>
        </p:nvSpPr>
        <p:spPr>
          <a:xfrm>
            <a:off x="1932314" y="360439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737582-5AE4-448E-143D-82F6489E279E}"/>
              </a:ext>
            </a:extLst>
          </p:cNvPr>
          <p:cNvSpPr txBox="1"/>
          <p:nvPr/>
        </p:nvSpPr>
        <p:spPr>
          <a:xfrm>
            <a:off x="3227714" y="360439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BD4A4C-B5D2-2D8D-2997-2635B3431FC0}"/>
              </a:ext>
            </a:extLst>
          </p:cNvPr>
          <p:cNvSpPr txBox="1"/>
          <p:nvPr/>
        </p:nvSpPr>
        <p:spPr>
          <a:xfrm>
            <a:off x="4523114" y="358414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183E3C-6AED-B22F-7635-5DD5B9290B64}"/>
              </a:ext>
            </a:extLst>
          </p:cNvPr>
          <p:cNvSpPr txBox="1"/>
          <p:nvPr/>
        </p:nvSpPr>
        <p:spPr>
          <a:xfrm>
            <a:off x="3480623" y="1716321"/>
            <a:ext cx="5345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>
                <a:solidFill>
                  <a:srgbClr val="064EA1"/>
                </a:solidFill>
              </a:rPr>
              <a:t>Player 2 (Blue) Strategy Selection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430DB5-49E9-8CC5-A218-DFB5770F5AB5}"/>
              </a:ext>
            </a:extLst>
          </p:cNvPr>
          <p:cNvSpPr txBox="1"/>
          <p:nvPr/>
        </p:nvSpPr>
        <p:spPr>
          <a:xfrm>
            <a:off x="6462655" y="4396402"/>
            <a:ext cx="39523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Choose strategy </a:t>
            </a:r>
            <a:r>
              <a:rPr lang="en-US" sz="2400" dirty="0">
                <a:solidFill>
                  <a:srgbClr val="064EA1"/>
                </a:solidFill>
              </a:rPr>
              <a:t>B</a:t>
            </a:r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288FB00-2C8F-112A-D623-2D948B5DB674}"/>
              </a:ext>
            </a:extLst>
          </p:cNvPr>
          <p:cNvSpPr/>
          <p:nvPr/>
        </p:nvSpPr>
        <p:spPr>
          <a:xfrm>
            <a:off x="6037459" y="4345855"/>
            <a:ext cx="850392" cy="58477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45A44B-F42A-CB68-2CE2-16BB564B0B76}"/>
              </a:ext>
            </a:extLst>
          </p:cNvPr>
          <p:cNvSpPr/>
          <p:nvPr/>
        </p:nvSpPr>
        <p:spPr>
          <a:xfrm>
            <a:off x="1965975" y="4300758"/>
            <a:ext cx="252347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79D9BF-73F7-9AFC-3B39-4A59DD4F1F0D}"/>
                  </a:ext>
                </a:extLst>
              </p:cNvPr>
              <p:cNvSpPr txBox="1"/>
              <p:nvPr/>
            </p:nvSpPr>
            <p:spPr>
              <a:xfrm>
                <a:off x="192712" y="5227896"/>
                <a:ext cx="12192000" cy="15092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The value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en-US" sz="2400" dirty="0"/>
                  <a:t>serves as an upper bound of the payoff from the Player 2’s optimal strategy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l-G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Π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or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79D9BF-73F7-9AFC-3B39-4A59DD4F1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712" y="5227896"/>
                <a:ext cx="12192000" cy="1509259"/>
              </a:xfrm>
              <a:prstGeom prst="rect">
                <a:avLst/>
              </a:prstGeom>
              <a:blipFill>
                <a:blip r:embed="rId4"/>
                <a:stretch>
                  <a:fillRect t="-2429" b="-28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3732366-797B-4814-13FB-15D9B0F3407D}"/>
              </a:ext>
            </a:extLst>
          </p:cNvPr>
          <p:cNvSpPr txBox="1"/>
          <p:nvPr/>
        </p:nvSpPr>
        <p:spPr>
          <a:xfrm>
            <a:off x="1932314" y="297193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0737AE6-4BB0-F2DC-D202-4A65B50BFBF8}"/>
              </a:ext>
            </a:extLst>
          </p:cNvPr>
          <p:cNvSpPr txBox="1"/>
          <p:nvPr/>
        </p:nvSpPr>
        <p:spPr>
          <a:xfrm>
            <a:off x="3227714" y="297193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D32BA3-5EC7-0C65-E42B-7535A90C85BF}"/>
              </a:ext>
            </a:extLst>
          </p:cNvPr>
          <p:cNvSpPr txBox="1"/>
          <p:nvPr/>
        </p:nvSpPr>
        <p:spPr>
          <a:xfrm>
            <a:off x="4523114" y="296655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F58DDD2-1F1D-CB24-CF91-39536ADD9939}"/>
              </a:ext>
            </a:extLst>
          </p:cNvPr>
          <p:cNvSpPr txBox="1"/>
          <p:nvPr/>
        </p:nvSpPr>
        <p:spPr>
          <a:xfrm>
            <a:off x="1932314" y="360439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2255B5-B991-F7C5-87ED-9B34D71EA95D}"/>
              </a:ext>
            </a:extLst>
          </p:cNvPr>
          <p:cNvSpPr txBox="1"/>
          <p:nvPr/>
        </p:nvSpPr>
        <p:spPr>
          <a:xfrm>
            <a:off x="3227714" y="360439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89C89E2-6659-2A16-9AAE-BC0116968F29}"/>
              </a:ext>
            </a:extLst>
          </p:cNvPr>
          <p:cNvSpPr txBox="1"/>
          <p:nvPr/>
        </p:nvSpPr>
        <p:spPr>
          <a:xfrm>
            <a:off x="4523114" y="360916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12FB8A6-EF5E-D12A-D7CD-C550FF3CE8F4}"/>
              </a:ext>
            </a:extLst>
          </p:cNvPr>
          <p:cNvSpPr txBox="1"/>
          <p:nvPr/>
        </p:nvSpPr>
        <p:spPr>
          <a:xfrm>
            <a:off x="1266295" y="4259321"/>
            <a:ext cx="1929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2</a:t>
            </a:r>
            <a:endParaRPr lang="en-US" sz="24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9029CB-C164-9487-59BC-A029D9A6B9BB}"/>
              </a:ext>
            </a:extLst>
          </p:cNvPr>
          <p:cNvSpPr txBox="1"/>
          <p:nvPr/>
        </p:nvSpPr>
        <p:spPr>
          <a:xfrm>
            <a:off x="2612919" y="4270913"/>
            <a:ext cx="1929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1</a:t>
            </a:r>
            <a:endParaRPr lang="en-US" sz="2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A41867C-92F1-9E85-3457-7D5C264D987F}"/>
              </a:ext>
            </a:extLst>
          </p:cNvPr>
          <p:cNvSpPr txBox="1"/>
          <p:nvPr/>
        </p:nvSpPr>
        <p:spPr>
          <a:xfrm>
            <a:off x="3959543" y="4260846"/>
            <a:ext cx="19292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2400" dirty="0"/>
              <a:t>Worst Case: </a:t>
            </a:r>
            <a:r>
              <a:rPr lang="en-US" sz="2400" dirty="0">
                <a:solidFill>
                  <a:srgbClr val="FF0000"/>
                </a:solidFill>
              </a:rPr>
              <a:t>4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003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457CA-B1B6-D12E-4008-9959E6523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97AAD8-F34B-1105-008C-C80A00AF9318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A1064E-9FDE-7F12-1813-DA2EF24519D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084C8F-3E33-0C4D-5217-D28CA93A851C}"/>
              </a:ext>
            </a:extLst>
          </p:cNvPr>
          <p:cNvSpPr txBox="1"/>
          <p:nvPr/>
        </p:nvSpPr>
        <p:spPr>
          <a:xfrm>
            <a:off x="4251960" y="378561"/>
            <a:ext cx="50749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Saddle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C85ED2-167B-826E-9B82-587F7BB7A29D}"/>
                  </a:ext>
                </a:extLst>
              </p:cNvPr>
              <p:cNvSpPr txBox="1"/>
              <p:nvPr/>
            </p:nvSpPr>
            <p:spPr>
              <a:xfrm>
                <a:off x="0" y="1745281"/>
                <a:ext cx="10598162" cy="4835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A </a:t>
                </a:r>
                <a:r>
                  <a:rPr lang="en-US" sz="2400" b="1" dirty="0"/>
                  <a:t>saddle point </a:t>
                </a:r>
                <a:r>
                  <a:rPr lang="en-US" sz="2400" dirty="0"/>
                  <a:t>occurs when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In this case, we denote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Sup>
                          <m:sSubSupPr>
                            <m:ctrl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l-GR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𝑖𝑗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</m:e>
                    </m:func>
                  </m:oMath>
                </a14:m>
                <a:r>
                  <a:rPr lang="en-US" sz="2400" dirty="0"/>
                  <a:t> and call the saddle point entry the </a:t>
                </a:r>
                <a:r>
                  <a:rPr lang="en-US" sz="2400" b="1" dirty="0"/>
                  <a:t>value of the game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Saddle points correspond to </a:t>
                </a:r>
                <a:r>
                  <a:rPr lang="en-US" sz="2400" b="1" dirty="0"/>
                  <a:t>Nash equilibrium</a:t>
                </a:r>
                <a:r>
                  <a:rPr lang="en-US" sz="2400" dirty="0"/>
                  <a:t>. If both players choose their Nash equilibrium strategy, their either player loses utility if only they change their strategy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Two player zero-sum games with saddle points are call </a:t>
                </a:r>
                <a:r>
                  <a:rPr lang="en-US" sz="2400" b="1" dirty="0"/>
                  <a:t>strictly determined games </a:t>
                </a:r>
              </a:p>
              <a:p>
                <a:pPr lvl="1"/>
                <a:endParaRPr lang="en-US" sz="2400" b="1" dirty="0"/>
              </a:p>
              <a:p>
                <a:pPr lvl="1"/>
                <a:endParaRPr lang="en-US" sz="2400" b="1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7C85ED2-167B-826E-9B82-587F7BB7A2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745281"/>
                <a:ext cx="10598162" cy="4835683"/>
              </a:xfrm>
              <a:prstGeom prst="rect">
                <a:avLst/>
              </a:prstGeom>
              <a:blipFill>
                <a:blip r:embed="rId3"/>
                <a:stretch>
                  <a:fillRect t="-756" r="-5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40844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B258F-C064-D6D1-F6AD-4DE1B84D9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F568BE4-D410-BFD7-8F1C-4E094F4185C2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3B3AD3-9DF6-3137-7DD6-A1D76EC1323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1CABBA-45B4-9025-3629-245B5561E2E5}"/>
              </a:ext>
            </a:extLst>
          </p:cNvPr>
          <p:cNvSpPr txBox="1"/>
          <p:nvPr/>
        </p:nvSpPr>
        <p:spPr>
          <a:xfrm>
            <a:off x="2692072" y="120845"/>
            <a:ext cx="6807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Player Zero Sum Games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085C6D-C0EB-366E-C7D2-A2181959C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3" y="2324122"/>
            <a:ext cx="5675609" cy="26774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2FF2C14-B3B0-F9FD-21EC-CA4FA1A37B22}"/>
              </a:ext>
            </a:extLst>
          </p:cNvPr>
          <p:cNvSpPr txBox="1"/>
          <p:nvPr/>
        </p:nvSpPr>
        <p:spPr>
          <a:xfrm>
            <a:off x="1932314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65B45E-DF06-C659-E573-F3FAE5DD74B6}"/>
              </a:ext>
            </a:extLst>
          </p:cNvPr>
          <p:cNvSpPr txBox="1"/>
          <p:nvPr/>
        </p:nvSpPr>
        <p:spPr>
          <a:xfrm>
            <a:off x="3227714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82AE1E-9FC1-E2FA-0794-3B327E10EC44}"/>
              </a:ext>
            </a:extLst>
          </p:cNvPr>
          <p:cNvSpPr txBox="1"/>
          <p:nvPr/>
        </p:nvSpPr>
        <p:spPr>
          <a:xfrm>
            <a:off x="4523114" y="326240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2546CC6-0AD8-FA32-4F15-ED6136941CDE}"/>
              </a:ext>
            </a:extLst>
          </p:cNvPr>
          <p:cNvSpPr txBox="1"/>
          <p:nvPr/>
        </p:nvSpPr>
        <p:spPr>
          <a:xfrm>
            <a:off x="1932314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8181BC-7A53-DBA9-96D9-60229C91C554}"/>
              </a:ext>
            </a:extLst>
          </p:cNvPr>
          <p:cNvSpPr txBox="1"/>
          <p:nvPr/>
        </p:nvSpPr>
        <p:spPr>
          <a:xfrm>
            <a:off x="3227714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7D3B28B-EBCA-AE9F-A746-7518BA80D215}"/>
              </a:ext>
            </a:extLst>
          </p:cNvPr>
          <p:cNvSpPr txBox="1"/>
          <p:nvPr/>
        </p:nvSpPr>
        <p:spPr>
          <a:xfrm>
            <a:off x="4523114" y="389487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467793-084B-792E-ACD6-6D38100B8319}"/>
              </a:ext>
            </a:extLst>
          </p:cNvPr>
          <p:cNvSpPr/>
          <p:nvPr/>
        </p:nvSpPr>
        <p:spPr>
          <a:xfrm>
            <a:off x="1965975" y="4611486"/>
            <a:ext cx="252347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B4ADD-9898-9FBE-C6CF-B6663797F1BA}"/>
              </a:ext>
            </a:extLst>
          </p:cNvPr>
          <p:cNvSpPr txBox="1"/>
          <p:nvPr/>
        </p:nvSpPr>
        <p:spPr>
          <a:xfrm>
            <a:off x="-344809" y="1816828"/>
            <a:ext cx="1219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We can also solve for the Saddle Point by eliminating strictly dominated strategies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95CCB4-61F3-DFBA-699F-8AE228B62820}"/>
              </a:ext>
            </a:extLst>
          </p:cNvPr>
          <p:cNvSpPr txBox="1"/>
          <p:nvPr/>
        </p:nvSpPr>
        <p:spPr>
          <a:xfrm>
            <a:off x="1932314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5AE910-B55E-1B8E-9BB4-0DAA11EE921E}"/>
              </a:ext>
            </a:extLst>
          </p:cNvPr>
          <p:cNvSpPr txBox="1"/>
          <p:nvPr/>
        </p:nvSpPr>
        <p:spPr>
          <a:xfrm>
            <a:off x="3227714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F48724-6FDF-0D92-8134-D58976FD2124}"/>
              </a:ext>
            </a:extLst>
          </p:cNvPr>
          <p:cNvSpPr txBox="1"/>
          <p:nvPr/>
        </p:nvSpPr>
        <p:spPr>
          <a:xfrm>
            <a:off x="4523114" y="32772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56C6C8-2DAE-76CE-581C-8254C4E7DE1D}"/>
              </a:ext>
            </a:extLst>
          </p:cNvPr>
          <p:cNvSpPr txBox="1"/>
          <p:nvPr/>
        </p:nvSpPr>
        <p:spPr>
          <a:xfrm>
            <a:off x="1932314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881EEC-1720-3DB5-6FA5-2C1999CC496B}"/>
              </a:ext>
            </a:extLst>
          </p:cNvPr>
          <p:cNvSpPr txBox="1"/>
          <p:nvPr/>
        </p:nvSpPr>
        <p:spPr>
          <a:xfrm>
            <a:off x="3227714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5785F5-DBDE-67FC-7C24-1BE96E95DD9F}"/>
              </a:ext>
            </a:extLst>
          </p:cNvPr>
          <p:cNvSpPr txBox="1"/>
          <p:nvPr/>
        </p:nvSpPr>
        <p:spPr>
          <a:xfrm>
            <a:off x="4523114" y="39198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719FD-B2D7-D3D1-C2CF-991B2310BF58}"/>
              </a:ext>
            </a:extLst>
          </p:cNvPr>
          <p:cNvSpPr txBox="1"/>
          <p:nvPr/>
        </p:nvSpPr>
        <p:spPr>
          <a:xfrm>
            <a:off x="4142232" y="718838"/>
            <a:ext cx="35295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Strict Dominance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07F5D1E-23BF-0167-7CB0-023BBF7E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75" y="2324122"/>
            <a:ext cx="5675609" cy="267747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C80399D-1E94-205C-9E07-69556B47BDA9}"/>
              </a:ext>
            </a:extLst>
          </p:cNvPr>
          <p:cNvSpPr txBox="1"/>
          <p:nvPr/>
        </p:nvSpPr>
        <p:spPr>
          <a:xfrm>
            <a:off x="7675246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9CEEBD-2FCD-E6E5-187F-69FCB58A7232}"/>
              </a:ext>
            </a:extLst>
          </p:cNvPr>
          <p:cNvSpPr txBox="1"/>
          <p:nvPr/>
        </p:nvSpPr>
        <p:spPr>
          <a:xfrm>
            <a:off x="8970646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00CC1E-39F0-BE90-C9C9-EA8F53F39181}"/>
              </a:ext>
            </a:extLst>
          </p:cNvPr>
          <p:cNvSpPr txBox="1"/>
          <p:nvPr/>
        </p:nvSpPr>
        <p:spPr>
          <a:xfrm>
            <a:off x="10266046" y="326240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0036413-89E9-C48D-94E9-16F83CBF9550}"/>
              </a:ext>
            </a:extLst>
          </p:cNvPr>
          <p:cNvSpPr txBox="1"/>
          <p:nvPr/>
        </p:nvSpPr>
        <p:spPr>
          <a:xfrm>
            <a:off x="7675246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FFA6AF-F981-1A7E-3127-EF33AF7287CA}"/>
              </a:ext>
            </a:extLst>
          </p:cNvPr>
          <p:cNvSpPr txBox="1"/>
          <p:nvPr/>
        </p:nvSpPr>
        <p:spPr>
          <a:xfrm>
            <a:off x="8970646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6AE3F6-ECFC-6BD9-3B01-40E7E661E494}"/>
              </a:ext>
            </a:extLst>
          </p:cNvPr>
          <p:cNvSpPr txBox="1"/>
          <p:nvPr/>
        </p:nvSpPr>
        <p:spPr>
          <a:xfrm>
            <a:off x="10266046" y="389487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3AE69A7-6B5A-BD1D-618A-4F9FD1E37A49}"/>
              </a:ext>
            </a:extLst>
          </p:cNvPr>
          <p:cNvSpPr/>
          <p:nvPr/>
        </p:nvSpPr>
        <p:spPr>
          <a:xfrm>
            <a:off x="7708907" y="4611486"/>
            <a:ext cx="252347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3785423-A7A0-F6E5-69F8-CF97CA5A18E2}"/>
              </a:ext>
            </a:extLst>
          </p:cNvPr>
          <p:cNvSpPr txBox="1"/>
          <p:nvPr/>
        </p:nvSpPr>
        <p:spPr>
          <a:xfrm>
            <a:off x="7675246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114B948-D2F4-CFB9-713F-065CFAB14DC0}"/>
              </a:ext>
            </a:extLst>
          </p:cNvPr>
          <p:cNvSpPr txBox="1"/>
          <p:nvPr/>
        </p:nvSpPr>
        <p:spPr>
          <a:xfrm>
            <a:off x="8970646" y="328266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7FA9BCD-9045-1A52-0ABE-AE652E8D5C28}"/>
              </a:ext>
            </a:extLst>
          </p:cNvPr>
          <p:cNvSpPr txBox="1"/>
          <p:nvPr/>
        </p:nvSpPr>
        <p:spPr>
          <a:xfrm>
            <a:off x="10266046" y="3277285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C590C1C-8FD9-D5C1-F3CA-E71403E1D21E}"/>
              </a:ext>
            </a:extLst>
          </p:cNvPr>
          <p:cNvSpPr txBox="1"/>
          <p:nvPr/>
        </p:nvSpPr>
        <p:spPr>
          <a:xfrm>
            <a:off x="7675246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9C86456-091E-52F5-C409-FD49C68E28F4}"/>
              </a:ext>
            </a:extLst>
          </p:cNvPr>
          <p:cNvSpPr txBox="1"/>
          <p:nvPr/>
        </p:nvSpPr>
        <p:spPr>
          <a:xfrm>
            <a:off x="8970646" y="391512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A147D3-EF49-A3A1-B4D7-33E5BAB46979}"/>
              </a:ext>
            </a:extLst>
          </p:cNvPr>
          <p:cNvSpPr txBox="1"/>
          <p:nvPr/>
        </p:nvSpPr>
        <p:spPr>
          <a:xfrm>
            <a:off x="10266046" y="39198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A5F353B9-16B8-F81C-E297-C14FFE20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943" y="4547589"/>
            <a:ext cx="5675609" cy="2677477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FDBA38F2-8259-69E8-041C-6E405A126D3D}"/>
              </a:ext>
            </a:extLst>
          </p:cNvPr>
          <p:cNvSpPr txBox="1"/>
          <p:nvPr/>
        </p:nvSpPr>
        <p:spPr>
          <a:xfrm>
            <a:off x="1932314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019B44B-517A-1564-87AD-DE29EA526C3E}"/>
              </a:ext>
            </a:extLst>
          </p:cNvPr>
          <p:cNvSpPr txBox="1"/>
          <p:nvPr/>
        </p:nvSpPr>
        <p:spPr>
          <a:xfrm>
            <a:off x="3227714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9FD8AD1-9F02-411C-B198-42F5D6792EAD}"/>
              </a:ext>
            </a:extLst>
          </p:cNvPr>
          <p:cNvSpPr txBox="1"/>
          <p:nvPr/>
        </p:nvSpPr>
        <p:spPr>
          <a:xfrm>
            <a:off x="4523114" y="54858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1C8CAE0-4D1A-C53B-0D32-412DC970532B}"/>
              </a:ext>
            </a:extLst>
          </p:cNvPr>
          <p:cNvSpPr txBox="1"/>
          <p:nvPr/>
        </p:nvSpPr>
        <p:spPr>
          <a:xfrm>
            <a:off x="1932314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EBD04FF-1F94-4D73-88C6-CC927741DC84}"/>
              </a:ext>
            </a:extLst>
          </p:cNvPr>
          <p:cNvSpPr txBox="1"/>
          <p:nvPr/>
        </p:nvSpPr>
        <p:spPr>
          <a:xfrm>
            <a:off x="3227714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C57D21-E3BE-E758-82AA-7CE21FCD17D1}"/>
              </a:ext>
            </a:extLst>
          </p:cNvPr>
          <p:cNvSpPr txBox="1"/>
          <p:nvPr/>
        </p:nvSpPr>
        <p:spPr>
          <a:xfrm>
            <a:off x="4523114" y="611833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34A74E9-A63D-76E8-CCC4-D04A0CCFB021}"/>
              </a:ext>
            </a:extLst>
          </p:cNvPr>
          <p:cNvSpPr/>
          <p:nvPr/>
        </p:nvSpPr>
        <p:spPr>
          <a:xfrm>
            <a:off x="1965975" y="6834953"/>
            <a:ext cx="252347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9420952-B812-ED99-C339-74194CF14356}"/>
              </a:ext>
            </a:extLst>
          </p:cNvPr>
          <p:cNvSpPr txBox="1"/>
          <p:nvPr/>
        </p:nvSpPr>
        <p:spPr>
          <a:xfrm>
            <a:off x="1932314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9294A29-93D4-3B22-D6B8-D459A7532F3C}"/>
              </a:ext>
            </a:extLst>
          </p:cNvPr>
          <p:cNvSpPr txBox="1"/>
          <p:nvPr/>
        </p:nvSpPr>
        <p:spPr>
          <a:xfrm>
            <a:off x="3227714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6328045-F3D5-9F10-3D38-A391D9EA980F}"/>
              </a:ext>
            </a:extLst>
          </p:cNvPr>
          <p:cNvSpPr txBox="1"/>
          <p:nvPr/>
        </p:nvSpPr>
        <p:spPr>
          <a:xfrm>
            <a:off x="4523114" y="550075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730B34A-6798-997F-09AC-4322EC85F18E}"/>
              </a:ext>
            </a:extLst>
          </p:cNvPr>
          <p:cNvSpPr txBox="1"/>
          <p:nvPr/>
        </p:nvSpPr>
        <p:spPr>
          <a:xfrm>
            <a:off x="1932314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E77C78E-FE2D-14D6-BFC7-5FEC5D2CC732}"/>
              </a:ext>
            </a:extLst>
          </p:cNvPr>
          <p:cNvSpPr txBox="1"/>
          <p:nvPr/>
        </p:nvSpPr>
        <p:spPr>
          <a:xfrm>
            <a:off x="3227714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E4CC90-A966-EC64-95A7-BB2DE02F0DF6}"/>
              </a:ext>
            </a:extLst>
          </p:cNvPr>
          <p:cNvSpPr txBox="1"/>
          <p:nvPr/>
        </p:nvSpPr>
        <p:spPr>
          <a:xfrm>
            <a:off x="4523114" y="614336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8CC58F7-2430-D828-1E9A-03A38E254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75" y="4547589"/>
            <a:ext cx="5675609" cy="2677477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165D6FB9-F039-D017-0203-415AEF114B14}"/>
              </a:ext>
            </a:extLst>
          </p:cNvPr>
          <p:cNvSpPr txBox="1"/>
          <p:nvPr/>
        </p:nvSpPr>
        <p:spPr>
          <a:xfrm>
            <a:off x="7675246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86E523-ED46-90A7-1D66-1EC7933D76A3}"/>
              </a:ext>
            </a:extLst>
          </p:cNvPr>
          <p:cNvSpPr txBox="1"/>
          <p:nvPr/>
        </p:nvSpPr>
        <p:spPr>
          <a:xfrm>
            <a:off x="8970646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A6E6173-0E8D-7C50-EB25-D6BC9D4A06C0}"/>
              </a:ext>
            </a:extLst>
          </p:cNvPr>
          <p:cNvSpPr txBox="1"/>
          <p:nvPr/>
        </p:nvSpPr>
        <p:spPr>
          <a:xfrm>
            <a:off x="10266046" y="548587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C6D5FC-A514-2912-47F5-1CAD60A61E3F}"/>
              </a:ext>
            </a:extLst>
          </p:cNvPr>
          <p:cNvSpPr txBox="1"/>
          <p:nvPr/>
        </p:nvSpPr>
        <p:spPr>
          <a:xfrm>
            <a:off x="7675246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861139C-3E99-8F0F-79F6-87DD6FFEFD79}"/>
              </a:ext>
            </a:extLst>
          </p:cNvPr>
          <p:cNvSpPr txBox="1"/>
          <p:nvPr/>
        </p:nvSpPr>
        <p:spPr>
          <a:xfrm>
            <a:off x="8970646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7AF1D38-2DE5-A0D9-0772-4873C1260BAF}"/>
              </a:ext>
            </a:extLst>
          </p:cNvPr>
          <p:cNvSpPr txBox="1"/>
          <p:nvPr/>
        </p:nvSpPr>
        <p:spPr>
          <a:xfrm>
            <a:off x="10266046" y="611833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28A5F54-A6E8-C4AA-7D97-2DA4704A50E6}"/>
              </a:ext>
            </a:extLst>
          </p:cNvPr>
          <p:cNvSpPr/>
          <p:nvPr/>
        </p:nvSpPr>
        <p:spPr>
          <a:xfrm>
            <a:off x="7708907" y="6834953"/>
            <a:ext cx="2523477" cy="5847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2BED332-2B6D-E043-F415-C983CC1E2B8F}"/>
              </a:ext>
            </a:extLst>
          </p:cNvPr>
          <p:cNvSpPr txBox="1"/>
          <p:nvPr/>
        </p:nvSpPr>
        <p:spPr>
          <a:xfrm>
            <a:off x="7675246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3579AF2-BFD7-A6D6-4D58-C2FA78A2077A}"/>
              </a:ext>
            </a:extLst>
          </p:cNvPr>
          <p:cNvSpPr txBox="1"/>
          <p:nvPr/>
        </p:nvSpPr>
        <p:spPr>
          <a:xfrm>
            <a:off x="8970646" y="550613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815DCB8-1EE5-1273-D43A-CF343BA69D26}"/>
              </a:ext>
            </a:extLst>
          </p:cNvPr>
          <p:cNvSpPr txBox="1"/>
          <p:nvPr/>
        </p:nvSpPr>
        <p:spPr>
          <a:xfrm>
            <a:off x="10266046" y="5500752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D3A76A2-3E3D-3414-7B4B-2F4CE6C75D69}"/>
              </a:ext>
            </a:extLst>
          </p:cNvPr>
          <p:cNvSpPr txBox="1"/>
          <p:nvPr/>
        </p:nvSpPr>
        <p:spPr>
          <a:xfrm>
            <a:off x="7675246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DD0BDDA-2AD7-9D2A-240E-7DC7E0EECF65}"/>
              </a:ext>
            </a:extLst>
          </p:cNvPr>
          <p:cNvSpPr txBox="1"/>
          <p:nvPr/>
        </p:nvSpPr>
        <p:spPr>
          <a:xfrm>
            <a:off x="8970646" y="6138593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AE5C04B-C68A-8104-9CF9-D3CDAD998719}"/>
              </a:ext>
            </a:extLst>
          </p:cNvPr>
          <p:cNvSpPr txBox="1"/>
          <p:nvPr/>
        </p:nvSpPr>
        <p:spPr>
          <a:xfrm>
            <a:off x="10266046" y="6143360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DD97951-2424-8CDF-0906-13809F31DD7D}"/>
              </a:ext>
            </a:extLst>
          </p:cNvPr>
          <p:cNvSpPr/>
          <p:nvPr/>
        </p:nvSpPr>
        <p:spPr>
          <a:xfrm>
            <a:off x="10316395" y="2558555"/>
            <a:ext cx="1127378" cy="19924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2BA5595-5AEB-75F1-F3AF-81F277BF24F2}"/>
              </a:ext>
            </a:extLst>
          </p:cNvPr>
          <p:cNvSpPr/>
          <p:nvPr/>
        </p:nvSpPr>
        <p:spPr>
          <a:xfrm>
            <a:off x="4556775" y="4796900"/>
            <a:ext cx="1127378" cy="19924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0AF9CDB-4811-8905-581B-0D44B5345742}"/>
              </a:ext>
            </a:extLst>
          </p:cNvPr>
          <p:cNvSpPr/>
          <p:nvPr/>
        </p:nvSpPr>
        <p:spPr>
          <a:xfrm rot="5400000">
            <a:off x="2901523" y="5477664"/>
            <a:ext cx="584774" cy="19924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565D5A0-1E35-CDD9-99E8-6AB3B39CFF67}"/>
              </a:ext>
            </a:extLst>
          </p:cNvPr>
          <p:cNvSpPr/>
          <p:nvPr/>
        </p:nvSpPr>
        <p:spPr>
          <a:xfrm>
            <a:off x="10299707" y="4773813"/>
            <a:ext cx="1127378" cy="19924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80111ECB-CD9B-FAEF-8755-A440AD03A759}"/>
              </a:ext>
            </a:extLst>
          </p:cNvPr>
          <p:cNvSpPr/>
          <p:nvPr/>
        </p:nvSpPr>
        <p:spPr>
          <a:xfrm rot="5400000">
            <a:off x="8644455" y="5454577"/>
            <a:ext cx="584774" cy="199247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3E9511A-5A67-24AA-B189-2D54937C0C0B}"/>
              </a:ext>
            </a:extLst>
          </p:cNvPr>
          <p:cNvSpPr/>
          <p:nvPr/>
        </p:nvSpPr>
        <p:spPr>
          <a:xfrm rot="5400000">
            <a:off x="8029072" y="5443362"/>
            <a:ext cx="584774" cy="69410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087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B09B-98FD-029A-5505-F86CA79F84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ECC0185-B8A9-1F7D-B1F2-32260F89CB07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459CF6-5B4E-E5F5-7C2C-0D2BBACC75FC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DC29D9-721A-7AF9-7A7B-24BDC18D8065}"/>
              </a:ext>
            </a:extLst>
          </p:cNvPr>
          <p:cNvSpPr txBox="1"/>
          <p:nvPr/>
        </p:nvSpPr>
        <p:spPr>
          <a:xfrm>
            <a:off x="2862072" y="378561"/>
            <a:ext cx="6464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Existence of Saddle Points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F20269-8891-FF00-C1E1-A5C4EC07A03F}"/>
              </a:ext>
            </a:extLst>
          </p:cNvPr>
          <p:cNvSpPr txBox="1"/>
          <p:nvPr/>
        </p:nvSpPr>
        <p:spPr>
          <a:xfrm>
            <a:off x="0" y="1745281"/>
            <a:ext cx="105981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Saddle points don’t necessarily exist</a:t>
            </a:r>
          </a:p>
          <a:p>
            <a:pPr lvl="1"/>
            <a:endParaRPr lang="en-US" sz="2400" b="1" dirty="0"/>
          </a:p>
          <a:p>
            <a:pPr lvl="1"/>
            <a:r>
              <a:rPr lang="en-US" sz="2400" dirty="0"/>
              <a:t>Consider the payoff matrix:</a:t>
            </a:r>
          </a:p>
          <a:p>
            <a:pPr lvl="1"/>
            <a:endParaRPr lang="en-US" sz="2400" b="1" dirty="0"/>
          </a:p>
          <a:p>
            <a:pPr lvl="1"/>
            <a:endParaRPr lang="en-US" sz="24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41B1783-8749-67DC-7221-0F855EC0DC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23" y="2930013"/>
            <a:ext cx="5675609" cy="267747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1102E9-7095-966C-4D6F-A61C67A23951}"/>
              </a:ext>
            </a:extLst>
          </p:cNvPr>
          <p:cNvSpPr txBox="1"/>
          <p:nvPr/>
        </p:nvSpPr>
        <p:spPr>
          <a:xfrm>
            <a:off x="1886594" y="38885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30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306A65-2EE1-4660-759F-DD65904F0384}"/>
              </a:ext>
            </a:extLst>
          </p:cNvPr>
          <p:cNvSpPr txBox="1"/>
          <p:nvPr/>
        </p:nvSpPr>
        <p:spPr>
          <a:xfrm>
            <a:off x="3181994" y="38885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0BB6C7-E9C9-5EE8-CC76-3E0974479404}"/>
              </a:ext>
            </a:extLst>
          </p:cNvPr>
          <p:cNvSpPr txBox="1"/>
          <p:nvPr/>
        </p:nvSpPr>
        <p:spPr>
          <a:xfrm>
            <a:off x="4477394" y="3868298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3D5F2E-359A-34D5-D4C5-DA125653F747}"/>
              </a:ext>
            </a:extLst>
          </p:cNvPr>
          <p:cNvSpPr txBox="1"/>
          <p:nvPr/>
        </p:nvSpPr>
        <p:spPr>
          <a:xfrm>
            <a:off x="1886594" y="452101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-10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DA69BA-06CD-3467-C7A1-9D77F46058A6}"/>
              </a:ext>
            </a:extLst>
          </p:cNvPr>
          <p:cNvSpPr txBox="1"/>
          <p:nvPr/>
        </p:nvSpPr>
        <p:spPr>
          <a:xfrm>
            <a:off x="3181994" y="452101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20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E86AD4-424C-ADEC-3194-CB06C083247D}"/>
              </a:ext>
            </a:extLst>
          </p:cNvPr>
          <p:cNvSpPr txBox="1"/>
          <p:nvPr/>
        </p:nvSpPr>
        <p:spPr>
          <a:xfrm>
            <a:off x="4477394" y="4500761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-20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8DA0B1-5B35-FC67-89C0-7713014D26B0}"/>
              </a:ext>
            </a:extLst>
          </p:cNvPr>
          <p:cNvSpPr txBox="1"/>
          <p:nvPr/>
        </p:nvSpPr>
        <p:spPr>
          <a:xfrm>
            <a:off x="1886594" y="38885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6D80C0-086E-9F6E-6CA7-83A71B975635}"/>
              </a:ext>
            </a:extLst>
          </p:cNvPr>
          <p:cNvSpPr txBox="1"/>
          <p:nvPr/>
        </p:nvSpPr>
        <p:spPr>
          <a:xfrm>
            <a:off x="3181994" y="388855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D68209-95ED-928C-FB94-8996FAC0647B}"/>
              </a:ext>
            </a:extLst>
          </p:cNvPr>
          <p:cNvSpPr txBox="1"/>
          <p:nvPr/>
        </p:nvSpPr>
        <p:spPr>
          <a:xfrm>
            <a:off x="4477394" y="3883176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1B4592-7BD7-7C4E-424D-6E0D2A992690}"/>
              </a:ext>
            </a:extLst>
          </p:cNvPr>
          <p:cNvSpPr txBox="1"/>
          <p:nvPr/>
        </p:nvSpPr>
        <p:spPr>
          <a:xfrm>
            <a:off x="1886594" y="452101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-4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3623DB-D5FA-FF70-D309-D1B30C901D99}"/>
              </a:ext>
            </a:extLst>
          </p:cNvPr>
          <p:cNvSpPr txBox="1"/>
          <p:nvPr/>
        </p:nvSpPr>
        <p:spPr>
          <a:xfrm>
            <a:off x="3181994" y="4521017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1BC30C-A7C8-619B-D8F2-772694283B21}"/>
              </a:ext>
            </a:extLst>
          </p:cNvPr>
          <p:cNvSpPr txBox="1"/>
          <p:nvPr/>
        </p:nvSpPr>
        <p:spPr>
          <a:xfrm>
            <a:off x="4477394" y="4525784"/>
            <a:ext cx="1228077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FF0000"/>
                </a:solidFill>
              </a:rPr>
              <a:t>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A5368-874E-58C1-5E82-54A6F0C35E88}"/>
                  </a:ext>
                </a:extLst>
              </p:cNvPr>
              <p:cNvSpPr txBox="1"/>
              <p:nvPr/>
            </p:nvSpPr>
            <p:spPr>
              <a:xfrm>
                <a:off x="7185620" y="2291401"/>
                <a:ext cx="2269998" cy="614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5A5368-874E-58C1-5E82-54A6F0C35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20" y="2291401"/>
                <a:ext cx="2269998" cy="614912"/>
              </a:xfrm>
              <a:prstGeom prst="rect">
                <a:avLst/>
              </a:prstGeom>
              <a:blipFill>
                <a:blip r:embed="rId4"/>
                <a:stretch>
                  <a:fillRect r="-12634" b="-7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FC3480-C720-9B53-53FD-4F194580B3F3}"/>
                  </a:ext>
                </a:extLst>
              </p:cNvPr>
              <p:cNvSpPr txBox="1"/>
              <p:nvPr/>
            </p:nvSpPr>
            <p:spPr>
              <a:xfrm>
                <a:off x="7002505" y="2906313"/>
                <a:ext cx="2708910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b="0" i="1" smtClean="0">
                              <a:solidFill>
                                <a:srgbClr val="064EA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FC3480-C720-9B53-53FD-4F194580B3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2505" y="2906313"/>
                <a:ext cx="2708910" cy="617348"/>
              </a:xfrm>
              <a:prstGeom prst="rect">
                <a:avLst/>
              </a:prstGeom>
              <a:blipFill>
                <a:blip r:embed="rId5"/>
                <a:stretch>
                  <a:fillRect b="-7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6749A6-30CC-D738-7096-FA2496013D92}"/>
                  </a:ext>
                </a:extLst>
              </p:cNvPr>
              <p:cNvSpPr txBox="1"/>
              <p:nvPr/>
            </p:nvSpPr>
            <p:spPr>
              <a:xfrm>
                <a:off x="7185620" y="3574502"/>
                <a:ext cx="2708910" cy="6173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en-US" sz="2400" i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e>
                            <m:lim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lim>
                          </m:limLow>
                        </m:fName>
                        <m:e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400" i="0">
                                      <a:latin typeface="Cambria Math" panose="02040503050406030204" pitchFamily="18" charset="0"/>
                                    </a:rPr>
                                    <m:t>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l-G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Π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func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</m:t>
                          </m:r>
                          <m:func>
                            <m:func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max</m:t>
                                  </m:r>
                                </m:e>
                                <m:lim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lim>
                              </m:limLow>
                            </m:fName>
                            <m:e>
                              <m:func>
                                <m:func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sz="2400">
                                          <a:latin typeface="Cambria Math" panose="02040503050406030204" pitchFamily="18" charset="0"/>
                                        </a:rPr>
                                        <m:t>min</m:t>
                                      </m:r>
                                    </m:e>
                                    <m:lim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lim>
                                  </m:limLow>
                                </m:fName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l-GR" sz="24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Π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96749A6-30CC-D738-7096-FA2496013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5620" y="3574502"/>
                <a:ext cx="2708910" cy="617348"/>
              </a:xfrm>
              <a:prstGeom prst="rect">
                <a:avLst/>
              </a:prstGeom>
              <a:blipFill>
                <a:blip r:embed="rId6"/>
                <a:stretch>
                  <a:fillRect r="-36937" b="-68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F3E914-EDDF-A537-92A5-CBB3BE172B84}"/>
                  </a:ext>
                </a:extLst>
              </p:cNvPr>
              <p:cNvSpPr txBox="1"/>
              <p:nvPr/>
            </p:nvSpPr>
            <p:spPr>
              <a:xfrm>
                <a:off x="6480050" y="4932781"/>
                <a:ext cx="5354807" cy="6149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dirty="0"/>
                  <a:t>In general,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sz="2400" i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e>
                          <m:lim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0">
                                    <a:latin typeface="Cambria Math" panose="02040503050406030204" pitchFamily="18" charset="0"/>
                                  </a:rPr>
                                  <m:t>ax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l-GR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𝑖𝑗</m:t>
                                </m:r>
                              </m:sub>
                            </m:sSub>
                          </m:e>
                        </m:func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func>
                              <m:func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limLow>
                                  <m:limLow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limLow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</a:rPr>
                                      <m:t>min</m:t>
                                    </m:r>
                                  </m:e>
                                  <m:lim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lim>
                                </m:limLow>
                              </m:fName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l-GR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func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AF3E914-EDDF-A537-92A5-CBB3BE172B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050" y="4932781"/>
                <a:ext cx="5354807" cy="614912"/>
              </a:xfrm>
              <a:prstGeom prst="rect">
                <a:avLst/>
              </a:prstGeom>
              <a:blipFill>
                <a:blip r:embed="rId7"/>
                <a:stretch>
                  <a:fillRect l="-1708" t="-5941" b="-79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6A0DD270-610E-5323-2AF1-D56BCEC6B8E0}"/>
              </a:ext>
            </a:extLst>
          </p:cNvPr>
          <p:cNvSpPr txBox="1"/>
          <p:nvPr/>
        </p:nvSpPr>
        <p:spPr>
          <a:xfrm>
            <a:off x="7286238" y="4331483"/>
            <a:ext cx="53548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n-US" sz="2400" b="1" dirty="0"/>
              <a:t>There’s no saddle point! </a:t>
            </a:r>
          </a:p>
        </p:txBody>
      </p:sp>
    </p:spTree>
    <p:extLst>
      <p:ext uri="{BB962C8B-B14F-4D97-AF65-F5344CB8AC3E}">
        <p14:creationId xmlns:p14="http://schemas.microsoft.com/office/powerpoint/2010/main" val="309097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CAFC8-9387-B7D8-363C-F1785925B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403855-67FC-7935-0628-3E2549813A13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595363-DE89-5CC7-8E42-B23F48B0D24E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B3DBBE-47F2-590A-2177-A09D46168524}"/>
              </a:ext>
            </a:extLst>
          </p:cNvPr>
          <p:cNvSpPr txBox="1"/>
          <p:nvPr/>
        </p:nvSpPr>
        <p:spPr>
          <a:xfrm>
            <a:off x="2862072" y="378561"/>
            <a:ext cx="64648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Existence of Saddle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F828CB-0BD8-6649-8D6B-C25449E1F61D}"/>
                  </a:ext>
                </a:extLst>
              </p:cNvPr>
              <p:cNvSpPr txBox="1"/>
              <p:nvPr/>
            </p:nvSpPr>
            <p:spPr>
              <a:xfrm>
                <a:off x="0" y="1858540"/>
                <a:ext cx="10598162" cy="4477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Saddle points are guaranteed to exist if we consider </a:t>
                </a:r>
                <a:r>
                  <a:rPr lang="en-US" sz="2400" b="1" dirty="0"/>
                  <a:t>mixed strategies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Mixed strategies incorporate probabilistic strategy selection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A mixed strategy for a Player 1 can be represented by a row vector: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=(</m:t>
                      </m:r>
                      <m:sSubSup>
                        <m:sSub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,…,</m:t>
                      </m:r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b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  <a:p>
                <a:pPr lvl="1"/>
                <a:r>
                  <a:rPr lang="en-US" sz="2400" dirty="0"/>
                  <a:t>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 is the number of strategies</a:t>
                </a:r>
              </a:p>
              <a:p>
                <a:pPr lvl="1"/>
                <a:endParaRPr lang="en-US" sz="2400" dirty="0"/>
              </a:p>
              <a:p>
                <a:pPr lvl="1"/>
                <a:r>
                  <a:rPr lang="en-US" sz="2400" dirty="0"/>
                  <a:t>Example: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correspond to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sz="2400" dirty="0"/>
                  <a:t> chance of choosing strategy 1,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sz="2400" dirty="0"/>
                  <a:t> chance of choosing strategy 2, and a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US" sz="2400" dirty="0"/>
                  <a:t> chance of choosing strategy 3</a:t>
                </a:r>
              </a:p>
              <a:p>
                <a:pPr lvl="1"/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8F828CB-0BD8-6649-8D6B-C25449E1F6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58540"/>
                <a:ext cx="10598162" cy="4477572"/>
              </a:xfrm>
              <a:prstGeom prst="rect">
                <a:avLst/>
              </a:prstGeom>
              <a:blipFill>
                <a:blip r:embed="rId3"/>
                <a:stretch>
                  <a:fillRect t="-10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82520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224E7-01AD-689E-5AF9-87AA3ADF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D115D4-3325-640A-449B-3BBA27F9BF02}"/>
              </a:ext>
            </a:extLst>
          </p:cNvPr>
          <p:cNvSpPr/>
          <p:nvPr/>
        </p:nvSpPr>
        <p:spPr>
          <a:xfrm>
            <a:off x="0" y="1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35810F-F93A-9E94-F7CC-73A12D9D975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AA624C-629A-2459-99C1-ED4355827354}"/>
              </a:ext>
            </a:extLst>
          </p:cNvPr>
          <p:cNvSpPr txBox="1"/>
          <p:nvPr/>
        </p:nvSpPr>
        <p:spPr>
          <a:xfrm>
            <a:off x="4114800" y="378561"/>
            <a:ext cx="5212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Minimax Theorem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2BB326-8EFD-9457-3CD9-E829E5E6B15C}"/>
                  </a:ext>
                </a:extLst>
              </p:cNvPr>
              <p:cNvSpPr txBox="1"/>
              <p:nvPr/>
            </p:nvSpPr>
            <p:spPr>
              <a:xfrm>
                <a:off x="0" y="1858540"/>
                <a:ext cx="10598162" cy="6346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Player 1 now seeks the expected best worst-case scenario: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lim>
                            </m:limLow>
                          </m:fName>
                          <m:e>
                            <m:sSup>
                              <m:sSup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sSub>
                              <m:sSubPr>
                                <m:ctrlP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12BB326-8EFD-9457-3CD9-E829E5E6B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858540"/>
                <a:ext cx="10598162" cy="634661"/>
              </a:xfrm>
              <a:prstGeom prst="rect">
                <a:avLst/>
              </a:prstGeom>
              <a:blipFill>
                <a:blip r:embed="rId3"/>
                <a:stretch>
                  <a:fillRect t="-4808" b="-57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340EC0-A288-1F66-A908-EBE06CE15F10}"/>
                  </a:ext>
                </a:extLst>
              </p:cNvPr>
              <p:cNvSpPr txBox="1"/>
              <p:nvPr/>
            </p:nvSpPr>
            <p:spPr>
              <a:xfrm>
                <a:off x="0" y="2619223"/>
                <a:ext cx="10991088" cy="633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1"/>
                <a:r>
                  <a:rPr lang="en-US" sz="2400" dirty="0"/>
                  <a:t>Player 2 now seeks the expected best worst-case scenario: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in</m:t>
                            </m:r>
                          </m:e>
                          <m:lim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lim>
                        </m:limLow>
                      </m:fName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m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b="0" i="0" smtClean="0">
                                    <a:latin typeface="Cambria Math" panose="02040503050406030204" pitchFamily="18" charset="0"/>
                                  </a:rPr>
                                  <m:t>ax</m:t>
                                </m:r>
                              </m:e>
                              <m:lim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l-GR" sz="2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Π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func>
                      </m:e>
                    </m:func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1340EC0-A288-1F66-A908-EBE06CE15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619223"/>
                <a:ext cx="10991088" cy="633828"/>
              </a:xfrm>
              <a:prstGeom prst="rect">
                <a:avLst/>
              </a:prstGeom>
              <a:blipFill>
                <a:blip r:embed="rId4"/>
                <a:stretch>
                  <a:fillRect t="-4808"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C2533D32-EDC9-24AC-F418-49250312FAB0}"/>
              </a:ext>
            </a:extLst>
          </p:cNvPr>
          <p:cNvSpPr txBox="1"/>
          <p:nvPr/>
        </p:nvSpPr>
        <p:spPr>
          <a:xfrm>
            <a:off x="0" y="3298771"/>
            <a:ext cx="109910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400" dirty="0"/>
              <a:t>According to Minimax Theorem, all two-player zero-sum finite games have </a:t>
            </a:r>
            <a:r>
              <a:rPr lang="en-US" sz="2400"/>
              <a:t>a s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378430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1618</TotalTime>
  <Words>947</Words>
  <Application>Microsoft Office PowerPoint</Application>
  <PresentationFormat>Widescreen</PresentationFormat>
  <Paragraphs>270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22</cp:revision>
  <cp:lastPrinted>2025-08-21T02:00:35Z</cp:lastPrinted>
  <dcterms:created xsi:type="dcterms:W3CDTF">2025-08-20T23:47:39Z</dcterms:created>
  <dcterms:modified xsi:type="dcterms:W3CDTF">2026-02-06T02:13:51Z</dcterms:modified>
</cp:coreProperties>
</file>