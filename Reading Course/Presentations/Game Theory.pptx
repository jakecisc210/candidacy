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60" r:id="rId4"/>
    <p:sldId id="261" r:id="rId5"/>
    <p:sldId id="262" r:id="rId6"/>
    <p:sldId id="263" r:id="rId7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E6EF"/>
    <a:srgbClr val="FFFFFF"/>
    <a:srgbClr val="14A7D8"/>
    <a:srgbClr val="CDE6F0"/>
    <a:srgbClr val="FBDB0E"/>
    <a:srgbClr val="D5D668"/>
    <a:srgbClr val="064E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94C834-BA7C-4860-AE55-F43DD4A6D1E1}" v="15" dt="2026-02-04T15:26:51.5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custSel addSld modSld sldOrd">
      <pc:chgData name="Jacob Wyngaard" userId="6181fcd471e98458" providerId="LiveId" clId="{788BA123-62C9-4DDC-86E5-A6BCA4600216}" dt="2026-02-04T15:27:03.229" v="768" actId="1076"/>
      <pc:docMkLst>
        <pc:docMk/>
      </pc:docMkLst>
      <pc:sldChg chg="modSp mod">
        <pc:chgData name="Jacob Wyngaard" userId="6181fcd471e98458" providerId="LiveId" clId="{788BA123-62C9-4DDC-86E5-A6BCA4600216}" dt="2026-02-04T15:13:50.880" v="75" actId="20577"/>
        <pc:sldMkLst>
          <pc:docMk/>
          <pc:sldMk cId="4108950933" sldId="260"/>
        </pc:sldMkLst>
        <pc:spChg chg="mod">
          <ac:chgData name="Jacob Wyngaard" userId="6181fcd471e98458" providerId="LiveId" clId="{788BA123-62C9-4DDC-86E5-A6BCA4600216}" dt="2026-02-04T15:13:50.880" v="75" actId="20577"/>
          <ac:spMkLst>
            <pc:docMk/>
            <pc:sldMk cId="4108950933" sldId="260"/>
            <ac:spMk id="13" creationId="{4C4463CE-EB27-6BC9-19B0-F86DF1591401}"/>
          </ac:spMkLst>
        </pc:spChg>
      </pc:sldChg>
      <pc:sldChg chg="addSp modSp add mod">
        <pc:chgData name="Jacob Wyngaard" userId="6181fcd471e98458" providerId="LiveId" clId="{788BA123-62C9-4DDC-86E5-A6BCA4600216}" dt="2026-02-04T15:19:18.343" v="316" actId="113"/>
        <pc:sldMkLst>
          <pc:docMk/>
          <pc:sldMk cId="777443482" sldId="261"/>
        </pc:sldMkLst>
        <pc:spChg chg="add mod">
          <ac:chgData name="Jacob Wyngaard" userId="6181fcd471e98458" providerId="LiveId" clId="{788BA123-62C9-4DDC-86E5-A6BCA4600216}" dt="2026-02-04T15:17:26.573" v="230" actId="1076"/>
          <ac:spMkLst>
            <pc:docMk/>
            <pc:sldMk cId="777443482" sldId="261"/>
            <ac:spMk id="3" creationId="{276B78A7-4A9E-4302-43F7-3E570EDC6DA6}"/>
          </ac:spMkLst>
        </pc:spChg>
        <pc:spChg chg="mod">
          <ac:chgData name="Jacob Wyngaard" userId="6181fcd471e98458" providerId="LiveId" clId="{788BA123-62C9-4DDC-86E5-A6BCA4600216}" dt="2026-02-04T15:16:56.008" v="214" actId="1076"/>
          <ac:spMkLst>
            <pc:docMk/>
            <pc:sldMk cId="777443482" sldId="261"/>
            <ac:spMk id="9" creationId="{B12EC489-1217-B879-0028-44B302CD725E}"/>
          </ac:spMkLst>
        </pc:spChg>
        <pc:spChg chg="mod">
          <ac:chgData name="Jacob Wyngaard" userId="6181fcd471e98458" providerId="LiveId" clId="{788BA123-62C9-4DDC-86E5-A6BCA4600216}" dt="2026-02-04T15:19:18.343" v="316" actId="113"/>
          <ac:spMkLst>
            <pc:docMk/>
            <pc:sldMk cId="777443482" sldId="261"/>
            <ac:spMk id="13" creationId="{600CB128-A158-C656-8960-AA9E01941096}"/>
          </ac:spMkLst>
        </pc:spChg>
        <pc:picChg chg="add mod modCrop">
          <ac:chgData name="Jacob Wyngaard" userId="6181fcd471e98458" providerId="LiveId" clId="{788BA123-62C9-4DDC-86E5-A6BCA4600216}" dt="2026-02-04T15:19:03.955" v="315" actId="1076"/>
          <ac:picMkLst>
            <pc:docMk/>
            <pc:sldMk cId="777443482" sldId="261"/>
            <ac:picMk id="4" creationId="{71CF8794-2C7B-7E3D-6257-11FBBD542455}"/>
          </ac:picMkLst>
        </pc:picChg>
      </pc:sldChg>
      <pc:sldChg chg="addSp delSp modSp add mod">
        <pc:chgData name="Jacob Wyngaard" userId="6181fcd471e98458" providerId="LiveId" clId="{788BA123-62C9-4DDC-86E5-A6BCA4600216}" dt="2026-02-04T15:25:09.464" v="623" actId="1076"/>
        <pc:sldMkLst>
          <pc:docMk/>
          <pc:sldMk cId="2344648309" sldId="262"/>
        </pc:sldMkLst>
        <pc:spChg chg="add mod">
          <ac:chgData name="Jacob Wyngaard" userId="6181fcd471e98458" providerId="LiveId" clId="{788BA123-62C9-4DDC-86E5-A6BCA4600216}" dt="2026-02-04T15:21:16.818" v="513" actId="1076"/>
          <ac:spMkLst>
            <pc:docMk/>
            <pc:sldMk cId="2344648309" sldId="262"/>
            <ac:spMk id="2" creationId="{BD5DC692-CA5D-BE1D-99A4-8C43D3D9B80B}"/>
          </ac:spMkLst>
        </pc:spChg>
        <pc:spChg chg="add del mod">
          <ac:chgData name="Jacob Wyngaard" userId="6181fcd471e98458" providerId="LiveId" clId="{788BA123-62C9-4DDC-86E5-A6BCA4600216}" dt="2026-02-04T15:22:41.888" v="516" actId="478"/>
          <ac:spMkLst>
            <pc:docMk/>
            <pc:sldMk cId="2344648309" sldId="262"/>
            <ac:spMk id="5" creationId="{7C2862F4-3E7D-8C91-815B-905B5BE5ADF7}"/>
          </ac:spMkLst>
        </pc:spChg>
        <pc:spChg chg="mod">
          <ac:chgData name="Jacob Wyngaard" userId="6181fcd471e98458" providerId="LiveId" clId="{788BA123-62C9-4DDC-86E5-A6BCA4600216}" dt="2026-02-04T15:20:25.776" v="478" actId="20577"/>
          <ac:spMkLst>
            <pc:docMk/>
            <pc:sldMk cId="2344648309" sldId="262"/>
            <ac:spMk id="13" creationId="{84386FCF-406B-836A-5526-023C70A4792B}"/>
          </ac:spMkLst>
        </pc:spChg>
        <pc:spChg chg="add mod">
          <ac:chgData name="Jacob Wyngaard" userId="6181fcd471e98458" providerId="LiveId" clId="{788BA123-62C9-4DDC-86E5-A6BCA4600216}" dt="2026-02-04T15:23:26.314" v="538" actId="1076"/>
          <ac:spMkLst>
            <pc:docMk/>
            <pc:sldMk cId="2344648309" sldId="262"/>
            <ac:spMk id="14" creationId="{E898F825-7B3F-A669-AA43-A259DE7F6CDC}"/>
          </ac:spMkLst>
        </pc:spChg>
        <pc:spChg chg="add mod">
          <ac:chgData name="Jacob Wyngaard" userId="6181fcd471e98458" providerId="LiveId" clId="{788BA123-62C9-4DDC-86E5-A6BCA4600216}" dt="2026-02-04T15:23:46.794" v="559" actId="1076"/>
          <ac:spMkLst>
            <pc:docMk/>
            <pc:sldMk cId="2344648309" sldId="262"/>
            <ac:spMk id="15" creationId="{C0375D12-85CC-B347-1413-9F0A2489CB80}"/>
          </ac:spMkLst>
        </pc:spChg>
        <pc:spChg chg="add mod">
          <ac:chgData name="Jacob Wyngaard" userId="6181fcd471e98458" providerId="LiveId" clId="{788BA123-62C9-4DDC-86E5-A6BCA4600216}" dt="2026-02-04T15:24:10.847" v="568" actId="1076"/>
          <ac:spMkLst>
            <pc:docMk/>
            <pc:sldMk cId="2344648309" sldId="262"/>
            <ac:spMk id="16" creationId="{C90D5962-D635-F03D-955B-34DF2C6FA8B3}"/>
          </ac:spMkLst>
        </pc:spChg>
        <pc:spChg chg="add mod">
          <ac:chgData name="Jacob Wyngaard" userId="6181fcd471e98458" providerId="LiveId" clId="{788BA123-62C9-4DDC-86E5-A6BCA4600216}" dt="2026-02-04T15:24:41.292" v="593" actId="1076"/>
          <ac:spMkLst>
            <pc:docMk/>
            <pc:sldMk cId="2344648309" sldId="262"/>
            <ac:spMk id="17" creationId="{8A3CABD1-101D-0978-2365-60E6A3F937D3}"/>
          </ac:spMkLst>
        </pc:spChg>
        <pc:spChg chg="add mod">
          <ac:chgData name="Jacob Wyngaard" userId="6181fcd471e98458" providerId="LiveId" clId="{788BA123-62C9-4DDC-86E5-A6BCA4600216}" dt="2026-02-04T15:24:48.789" v="596" actId="1076"/>
          <ac:spMkLst>
            <pc:docMk/>
            <pc:sldMk cId="2344648309" sldId="262"/>
            <ac:spMk id="18" creationId="{3853CBDA-F9B6-8E0E-00F3-A262A00C4E7A}"/>
          </ac:spMkLst>
        </pc:spChg>
        <pc:spChg chg="add mod">
          <ac:chgData name="Jacob Wyngaard" userId="6181fcd471e98458" providerId="LiveId" clId="{788BA123-62C9-4DDC-86E5-A6BCA4600216}" dt="2026-02-04T15:25:09.464" v="623" actId="1076"/>
          <ac:spMkLst>
            <pc:docMk/>
            <pc:sldMk cId="2344648309" sldId="262"/>
            <ac:spMk id="20" creationId="{3AD0A640-940D-B4DD-1732-CAFA6F622D4D}"/>
          </ac:spMkLst>
        </pc:spChg>
        <pc:picChg chg="mod">
          <ac:chgData name="Jacob Wyngaard" userId="6181fcd471e98458" providerId="LiveId" clId="{788BA123-62C9-4DDC-86E5-A6BCA4600216}" dt="2026-02-04T15:20:30.175" v="479" actId="1076"/>
          <ac:picMkLst>
            <pc:docMk/>
            <pc:sldMk cId="2344648309" sldId="262"/>
            <ac:picMk id="4" creationId="{C1057333-3BF6-9396-197D-398DDA3019FC}"/>
          </ac:picMkLst>
        </pc:picChg>
        <pc:cxnChg chg="add mod">
          <ac:chgData name="Jacob Wyngaard" userId="6181fcd471e98458" providerId="LiveId" clId="{788BA123-62C9-4DDC-86E5-A6BCA4600216}" dt="2026-02-04T15:22:55.286" v="520" actId="1076"/>
          <ac:cxnSpMkLst>
            <pc:docMk/>
            <pc:sldMk cId="2344648309" sldId="262"/>
            <ac:cxnSpMk id="10" creationId="{2EC70894-30E9-DD60-81BB-62CF4A63F308}"/>
          </ac:cxnSpMkLst>
        </pc:cxnChg>
        <pc:cxnChg chg="add mod">
          <ac:chgData name="Jacob Wyngaard" userId="6181fcd471e98458" providerId="LiveId" clId="{788BA123-62C9-4DDC-86E5-A6BCA4600216}" dt="2026-02-04T15:24:43.994" v="594" actId="14100"/>
          <ac:cxnSpMkLst>
            <pc:docMk/>
            <pc:sldMk cId="2344648309" sldId="262"/>
            <ac:cxnSpMk id="11" creationId="{6474C87D-36C5-AB7D-98F8-16E221F9C502}"/>
          </ac:cxnSpMkLst>
        </pc:cxnChg>
      </pc:sldChg>
      <pc:sldChg chg="addSp delSp modSp add mod ord">
        <pc:chgData name="Jacob Wyngaard" userId="6181fcd471e98458" providerId="LiveId" clId="{788BA123-62C9-4DDC-86E5-A6BCA4600216}" dt="2026-02-04T15:27:03.229" v="768" actId="1076"/>
        <pc:sldMkLst>
          <pc:docMk/>
          <pc:sldMk cId="1806092353" sldId="263"/>
        </pc:sldMkLst>
        <pc:spChg chg="mod">
          <ac:chgData name="Jacob Wyngaard" userId="6181fcd471e98458" providerId="LiveId" clId="{788BA123-62C9-4DDC-86E5-A6BCA4600216}" dt="2026-02-04T15:25:32.644" v="632" actId="20577"/>
          <ac:spMkLst>
            <pc:docMk/>
            <pc:sldMk cId="1806092353" sldId="263"/>
            <ac:spMk id="3" creationId="{3605DA8A-9C33-359E-35FB-CC992C283551}"/>
          </ac:spMkLst>
        </pc:spChg>
        <pc:spChg chg="mod">
          <ac:chgData name="Jacob Wyngaard" userId="6181fcd471e98458" providerId="LiveId" clId="{788BA123-62C9-4DDC-86E5-A6BCA4600216}" dt="2026-02-04T15:27:03.229" v="768" actId="1076"/>
          <ac:spMkLst>
            <pc:docMk/>
            <pc:sldMk cId="1806092353" sldId="263"/>
            <ac:spMk id="13" creationId="{4AB5411D-3FAB-22E3-CCD3-B4C0C7C69A27}"/>
          </ac:spMkLst>
        </pc:spChg>
        <pc:picChg chg="add mod">
          <ac:chgData name="Jacob Wyngaard" userId="6181fcd471e98458" providerId="LiveId" clId="{788BA123-62C9-4DDC-86E5-A6BCA4600216}" dt="2026-02-04T15:26:58.647" v="767" actId="1076"/>
          <ac:picMkLst>
            <pc:docMk/>
            <pc:sldMk cId="1806092353" sldId="263"/>
            <ac:picMk id="2" creationId="{28D91FEB-45AF-602E-F507-C24597E2F92D}"/>
          </ac:picMkLst>
        </pc:picChg>
        <pc:picChg chg="del">
          <ac:chgData name="Jacob Wyngaard" userId="6181fcd471e98458" providerId="LiveId" clId="{788BA123-62C9-4DDC-86E5-A6BCA4600216}" dt="2026-02-04T15:26:47.649" v="764" actId="478"/>
          <ac:picMkLst>
            <pc:docMk/>
            <pc:sldMk cId="1806092353" sldId="263"/>
            <ac:picMk id="4" creationId="{F9BB0D60-BF55-8D1F-DF45-EF2E1A5BEBF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823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CD20-5480-79B8-FDAD-05833105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06B1AE-3177-D7F3-3661-59112C3BC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58A2D4-CE14-C561-B105-2575D789E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9577F-179C-746F-1FB7-0DDC097CD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2331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996FF-2732-A21F-3B51-CBB031A61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05F6F7-D2AA-2B18-1A5A-819A271F8C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439B86-221C-DBA0-136E-5C737971F9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424AFD-78AF-10F1-1F51-12DD6123C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50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D79FD-A642-E42F-E595-E42D60512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315C2A-AE54-FCB5-8D30-B12648DB7D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D8D85-F0F4-CDD9-DA67-A263682915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2C53A4-C5A8-69F0-9B1B-AAA6554619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2937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CDC89-E532-87B6-9D12-1B835BED9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9ECB09-FB31-C481-C69E-48EBC12FD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5015F8-9BF7-C55E-A0A1-8325AF930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8E106-14F3-BFD4-BF11-B0DA66932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9512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4C1F8D5-4AD3-CA6D-CA09-1F939BFFC77B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ADB15C-53EA-0ED4-E0E9-C6A73C390DD1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41FF28-576E-AE9D-45ED-6C6260407807}"/>
              </a:ext>
            </a:extLst>
          </p:cNvPr>
          <p:cNvSpPr txBox="1"/>
          <p:nvPr/>
        </p:nvSpPr>
        <p:spPr>
          <a:xfrm>
            <a:off x="206478" y="2301107"/>
            <a:ext cx="55060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8CE436-4D95-16F3-641B-9EF9E76C0804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0CB8C4-F67E-E067-FDBF-CEA870285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103" y="1004010"/>
            <a:ext cx="5417574" cy="5417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112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B4674-EB63-8CB1-A781-43C74EE64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CD957CD-E909-9DBE-97C3-242C827EC247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3DD7A4-64F0-2B29-E978-6DAC9BCA10D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43209B-C381-F683-2264-D243348F0B95}"/>
              </a:ext>
            </a:extLst>
          </p:cNvPr>
          <p:cNvSpPr txBox="1"/>
          <p:nvPr/>
        </p:nvSpPr>
        <p:spPr>
          <a:xfrm>
            <a:off x="4513005" y="400100"/>
            <a:ext cx="42917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Introduction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6C1EFB-D866-FF81-E86C-FA8BE2FC4F46}"/>
              </a:ext>
            </a:extLst>
          </p:cNvPr>
          <p:cNvSpPr txBox="1"/>
          <p:nvPr/>
        </p:nvSpPr>
        <p:spPr>
          <a:xfrm>
            <a:off x="-310271" y="1738828"/>
            <a:ext cx="118970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Game Theory is a branch of economics concerned with decision making among multiple individuals whose objective functions depend upon the decisions other players make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88335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29415-BDCF-C850-92EA-89B8CE8C0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C658B81-AC22-F9DE-D5D0-EDA37536C7A4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291590-9C08-26ED-8AD2-5594DF11EDD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F22BF5-412B-FE87-9A1E-5A62DD82A0DD}"/>
              </a:ext>
            </a:extLst>
          </p:cNvPr>
          <p:cNvSpPr txBox="1"/>
          <p:nvPr/>
        </p:nvSpPr>
        <p:spPr>
          <a:xfrm>
            <a:off x="4365521" y="389171"/>
            <a:ext cx="42917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Terminology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4463CE-EB27-6BC9-19B0-F86DF1591401}"/>
              </a:ext>
            </a:extLst>
          </p:cNvPr>
          <p:cNvSpPr txBox="1"/>
          <p:nvPr/>
        </p:nvSpPr>
        <p:spPr>
          <a:xfrm>
            <a:off x="-310271" y="1738828"/>
            <a:ext cx="11897032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Game theory is so named because of the similarity to common games of strategy like poker, chess, and tic-tac-toe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players</a:t>
            </a:r>
            <a:r>
              <a:rPr lang="en-US" sz="2400" dirty="0"/>
              <a:t> - the decision makers 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payoff functions </a:t>
            </a:r>
            <a:r>
              <a:rPr lang="en-US" sz="2400" dirty="0"/>
              <a:t>–</a:t>
            </a:r>
            <a:r>
              <a:rPr lang="en-US" sz="2400" b="1" dirty="0"/>
              <a:t> </a:t>
            </a:r>
            <a:r>
              <a:rPr lang="en-US" sz="2400" dirty="0"/>
              <a:t>the</a:t>
            </a:r>
            <a:r>
              <a:rPr lang="en-US" sz="2400" b="1" dirty="0"/>
              <a:t> </a:t>
            </a:r>
            <a:r>
              <a:rPr lang="en-US" sz="2400" dirty="0"/>
              <a:t>objective functions of the players</a:t>
            </a:r>
            <a:endParaRPr lang="en-US" sz="2400" b="1" dirty="0"/>
          </a:p>
          <a:p>
            <a:pPr lvl="1"/>
            <a:r>
              <a:rPr lang="en-US" sz="2400" b="1" dirty="0"/>
              <a:t>	*</a:t>
            </a:r>
            <a:r>
              <a:rPr lang="en-US" sz="2400" dirty="0"/>
              <a:t>The payoff function of each player maps the profile of player strategies to a payoff</a:t>
            </a:r>
          </a:p>
          <a:p>
            <a:pPr lvl="1"/>
            <a:r>
              <a:rPr lang="en-US" sz="2400" dirty="0"/>
              <a:t> </a:t>
            </a:r>
          </a:p>
          <a:p>
            <a:pPr lvl="1"/>
            <a:r>
              <a:rPr lang="en-US" sz="2400" b="1" dirty="0"/>
              <a:t>move</a:t>
            </a:r>
            <a:r>
              <a:rPr lang="en-US" sz="2400" dirty="0"/>
              <a:t> – a point where a player must make a choice. 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play</a:t>
            </a:r>
            <a:r>
              <a:rPr lang="en-US" sz="2400" dirty="0"/>
              <a:t> –  a particular set of moves and choices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strategy</a:t>
            </a:r>
            <a:r>
              <a:rPr lang="en-US" sz="2400" dirty="0"/>
              <a:t> – a predetermined set of decisions which provide a choice for each move</a:t>
            </a:r>
          </a:p>
        </p:txBody>
      </p:sp>
    </p:spTree>
    <p:extLst>
      <p:ext uri="{BB962C8B-B14F-4D97-AF65-F5344CB8AC3E}">
        <p14:creationId xmlns:p14="http://schemas.microsoft.com/office/powerpoint/2010/main" val="4108950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A0B82-2C81-18B7-A911-246F33776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F0B66BC-F07E-4573-D768-44CFB381F0CD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A64508-452D-6A1B-95AD-A510F9A2A69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2EC489-1217-B879-0028-44B302CD725E}"/>
              </a:ext>
            </a:extLst>
          </p:cNvPr>
          <p:cNvSpPr txBox="1"/>
          <p:nvPr/>
        </p:nvSpPr>
        <p:spPr>
          <a:xfrm>
            <a:off x="3067664" y="104036"/>
            <a:ext cx="55011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Forms of Game Theory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0CB128-A158-C656-8960-AA9E01941096}"/>
              </a:ext>
            </a:extLst>
          </p:cNvPr>
          <p:cNvSpPr txBox="1"/>
          <p:nvPr/>
        </p:nvSpPr>
        <p:spPr>
          <a:xfrm>
            <a:off x="-310271" y="1738828"/>
            <a:ext cx="118970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When a game involves decisions made in sequence, it is described as </a:t>
            </a:r>
            <a:r>
              <a:rPr lang="en-US" sz="2400" b="1" dirty="0"/>
              <a:t>a game in extensive form </a:t>
            </a:r>
          </a:p>
          <a:p>
            <a:pPr lvl="1"/>
            <a:endParaRPr lang="en-US" sz="2400" b="1" dirty="0"/>
          </a:p>
          <a:p>
            <a:pPr lvl="1"/>
            <a:r>
              <a:rPr lang="en-US" sz="2400" dirty="0"/>
              <a:t>The moves and corresponding payoffs are shown in a </a:t>
            </a:r>
            <a:r>
              <a:rPr lang="en-US" sz="2400" b="1" dirty="0"/>
              <a:t>decision tree</a:t>
            </a:r>
            <a:r>
              <a:rPr lang="en-US" sz="2400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6B78A7-4A9E-4302-43F7-3E570EDC6DA6}"/>
              </a:ext>
            </a:extLst>
          </p:cNvPr>
          <p:cNvSpPr txBox="1"/>
          <p:nvPr/>
        </p:nvSpPr>
        <p:spPr>
          <a:xfrm>
            <a:off x="3650225" y="732504"/>
            <a:ext cx="62582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Games in Extensive Form </a:t>
            </a: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CF8794-2C7B-7E3D-6257-11FBBD5424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877"/>
          <a:stretch>
            <a:fillRect/>
          </a:stretch>
        </p:blipFill>
        <p:spPr>
          <a:xfrm>
            <a:off x="2371170" y="3429000"/>
            <a:ext cx="6534150" cy="327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443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5F41B-F6B2-97C8-628E-32968F5A6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DC337DD-90AF-DA02-EFD1-85F1A3D7BED4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9FC297-5AF8-C9DC-2C8B-AE8D7749E81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74D03F-4F51-6E05-A3F6-ED71A009BE17}"/>
              </a:ext>
            </a:extLst>
          </p:cNvPr>
          <p:cNvSpPr txBox="1"/>
          <p:nvPr/>
        </p:nvSpPr>
        <p:spPr>
          <a:xfrm>
            <a:off x="3067664" y="104036"/>
            <a:ext cx="55011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Forms of Game Theory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386FCF-406B-836A-5526-023C70A4792B}"/>
              </a:ext>
            </a:extLst>
          </p:cNvPr>
          <p:cNvSpPr txBox="1"/>
          <p:nvPr/>
        </p:nvSpPr>
        <p:spPr>
          <a:xfrm>
            <a:off x="-310271" y="1738828"/>
            <a:ext cx="118970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Decision trees are solved backwards: you assume that each player makes the move that maximizes their payoff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F2A10E-8AD8-62C7-61D5-FF7D1FD396C6}"/>
              </a:ext>
            </a:extLst>
          </p:cNvPr>
          <p:cNvSpPr txBox="1"/>
          <p:nvPr/>
        </p:nvSpPr>
        <p:spPr>
          <a:xfrm>
            <a:off x="3650225" y="732504"/>
            <a:ext cx="62582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Games in Extensive Form </a:t>
            </a: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057333-3BF6-9396-197D-398DDA3019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877"/>
          <a:stretch>
            <a:fillRect/>
          </a:stretch>
        </p:blipFill>
        <p:spPr>
          <a:xfrm>
            <a:off x="245191" y="2930013"/>
            <a:ext cx="6534150" cy="327674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D5DC692-CA5D-BE1D-99A4-8C43D3D9B80B}"/>
              </a:ext>
            </a:extLst>
          </p:cNvPr>
          <p:cNvSpPr txBox="1"/>
          <p:nvPr/>
        </p:nvSpPr>
        <p:spPr>
          <a:xfrm>
            <a:off x="7342468" y="2843646"/>
            <a:ext cx="3915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Ranger picks Thorough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C70894-30E9-DD60-81BB-62CF4A63F308}"/>
              </a:ext>
            </a:extLst>
          </p:cNvPr>
          <p:cNvCxnSpPr/>
          <p:nvPr/>
        </p:nvCxnSpPr>
        <p:spPr>
          <a:xfrm>
            <a:off x="8790039" y="4057108"/>
            <a:ext cx="0" cy="10225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474C87D-36C5-AB7D-98F8-16E221F9C502}"/>
              </a:ext>
            </a:extLst>
          </p:cNvPr>
          <p:cNvCxnSpPr>
            <a:cxnSpLocks/>
          </p:cNvCxnSpPr>
          <p:nvPr/>
        </p:nvCxnSpPr>
        <p:spPr>
          <a:xfrm>
            <a:off x="9040762" y="3727728"/>
            <a:ext cx="196153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898F825-7B3F-A669-AA43-A259DE7F6CDC}"/>
              </a:ext>
            </a:extLst>
          </p:cNvPr>
          <p:cNvSpPr txBox="1"/>
          <p:nvPr/>
        </p:nvSpPr>
        <p:spPr>
          <a:xfrm>
            <a:off x="8361106" y="3481112"/>
            <a:ext cx="8578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B0F0"/>
                </a:solidFill>
              </a:rPr>
              <a:t>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375D12-85CC-B347-1413-9F0A2489CB80}"/>
              </a:ext>
            </a:extLst>
          </p:cNvPr>
          <p:cNvSpPr txBox="1"/>
          <p:nvPr/>
        </p:nvSpPr>
        <p:spPr>
          <a:xfrm>
            <a:off x="7670389" y="4214442"/>
            <a:ext cx="11196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B0F0"/>
                </a:solidFill>
              </a:rPr>
              <a:t>Allow 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0D5962-D635-F03D-955B-34DF2C6FA8B3}"/>
              </a:ext>
            </a:extLst>
          </p:cNvPr>
          <p:cNvSpPr txBox="1"/>
          <p:nvPr/>
        </p:nvSpPr>
        <p:spPr>
          <a:xfrm>
            <a:off x="8180552" y="5089718"/>
            <a:ext cx="11196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B0F0"/>
                </a:solidFill>
              </a:rPr>
              <a:t>1</a:t>
            </a:r>
            <a:r>
              <a:rPr lang="en-US" sz="2000" b="1" dirty="0"/>
              <a:t>,</a:t>
            </a:r>
            <a:r>
              <a:rPr lang="en-US" sz="2000" b="1" dirty="0">
                <a:solidFill>
                  <a:srgbClr val="FF0000"/>
                </a:solidFill>
              </a:rPr>
              <a:t>3</a:t>
            </a:r>
            <a:endParaRPr lang="en-US" sz="2000" b="1" dirty="0">
              <a:solidFill>
                <a:srgbClr val="00B0F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3CABD1-101D-0978-2365-60E6A3F937D3}"/>
              </a:ext>
            </a:extLst>
          </p:cNvPr>
          <p:cNvSpPr txBox="1"/>
          <p:nvPr/>
        </p:nvSpPr>
        <p:spPr>
          <a:xfrm>
            <a:off x="10698111" y="3542667"/>
            <a:ext cx="11196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B0F0"/>
                </a:solidFill>
              </a:rPr>
              <a:t>2</a:t>
            </a:r>
            <a:r>
              <a:rPr lang="en-US" sz="2000" b="1" dirty="0"/>
              <a:t>,</a:t>
            </a:r>
            <a:r>
              <a:rPr lang="en-US" sz="2000" b="1" dirty="0">
                <a:solidFill>
                  <a:srgbClr val="FF0000"/>
                </a:solidFill>
              </a:rPr>
              <a:t>1</a:t>
            </a:r>
            <a:endParaRPr lang="en-US" sz="2000" b="1" dirty="0">
              <a:solidFill>
                <a:srgbClr val="00B0F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53CBDA-F9B6-8E0E-00F3-A262A00C4E7A}"/>
              </a:ext>
            </a:extLst>
          </p:cNvPr>
          <p:cNvSpPr txBox="1"/>
          <p:nvPr/>
        </p:nvSpPr>
        <p:spPr>
          <a:xfrm>
            <a:off x="9351094" y="3342612"/>
            <a:ext cx="14496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B0F0"/>
                </a:solidFill>
              </a:rPr>
              <a:t>Wait for K9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D0A640-940D-B4DD-1732-CAFA6F622D4D}"/>
              </a:ext>
            </a:extLst>
          </p:cNvPr>
          <p:cNvSpPr txBox="1"/>
          <p:nvPr/>
        </p:nvSpPr>
        <p:spPr>
          <a:xfrm>
            <a:off x="7544030" y="5489828"/>
            <a:ext cx="3915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You choose Wait for K9</a:t>
            </a:r>
          </a:p>
        </p:txBody>
      </p:sp>
    </p:spTree>
    <p:extLst>
      <p:ext uri="{BB962C8B-B14F-4D97-AF65-F5344CB8AC3E}">
        <p14:creationId xmlns:p14="http://schemas.microsoft.com/office/powerpoint/2010/main" val="2344648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21D1D-C189-D340-CF52-E38F8D136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7CDCE1-34C8-42FC-91DD-7180A7BB7232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730BA7-1CAE-980A-749C-4C5692EF490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258C1C-61EE-F5A9-188B-D469714ED2D3}"/>
              </a:ext>
            </a:extLst>
          </p:cNvPr>
          <p:cNvSpPr txBox="1"/>
          <p:nvPr/>
        </p:nvSpPr>
        <p:spPr>
          <a:xfrm>
            <a:off x="3067664" y="104036"/>
            <a:ext cx="55011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Forms of Game Theory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B5411D-3FAB-22E3-CCD3-B4C0C7C69A27}"/>
              </a:ext>
            </a:extLst>
          </p:cNvPr>
          <p:cNvSpPr txBox="1"/>
          <p:nvPr/>
        </p:nvSpPr>
        <p:spPr>
          <a:xfrm>
            <a:off x="-369264" y="1710813"/>
            <a:ext cx="118970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b="1" dirty="0"/>
              <a:t>Games in normal form </a:t>
            </a:r>
            <a:r>
              <a:rPr lang="en-US" sz="2400" dirty="0"/>
              <a:t>involve player decisions made independently </a:t>
            </a:r>
            <a:endParaRPr lang="en-US" sz="2400" b="1" dirty="0"/>
          </a:p>
          <a:p>
            <a:pPr lvl="1"/>
            <a:endParaRPr lang="en-US" sz="2400" b="1" dirty="0"/>
          </a:p>
          <a:p>
            <a:pPr lvl="1"/>
            <a:r>
              <a:rPr lang="en-US" sz="2400" dirty="0"/>
              <a:t>The moves and corresponding payoffs are shown in a </a:t>
            </a:r>
            <a:r>
              <a:rPr lang="en-US" sz="2400" b="1" dirty="0"/>
              <a:t>payoff matrix</a:t>
            </a:r>
            <a:r>
              <a:rPr lang="en-US" sz="2400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05DA8A-9C33-359E-35FB-CC992C283551}"/>
              </a:ext>
            </a:extLst>
          </p:cNvPr>
          <p:cNvSpPr txBox="1"/>
          <p:nvPr/>
        </p:nvSpPr>
        <p:spPr>
          <a:xfrm>
            <a:off x="3650225" y="732504"/>
            <a:ext cx="62582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Games in Normal Form </a:t>
            </a: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8D91FEB-45AF-602E-F507-C24597E2F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518" y="2930013"/>
            <a:ext cx="5181293" cy="387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092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1136</TotalTime>
  <Words>238</Words>
  <Application>Microsoft Office PowerPoint</Application>
  <PresentationFormat>Widescreen</PresentationFormat>
  <Paragraphs>44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13</cp:revision>
  <cp:lastPrinted>2025-08-21T02:00:35Z</cp:lastPrinted>
  <dcterms:created xsi:type="dcterms:W3CDTF">2025-08-20T23:47:39Z</dcterms:created>
  <dcterms:modified xsi:type="dcterms:W3CDTF">2026-02-04T15:27:07Z</dcterms:modified>
</cp:coreProperties>
</file>