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1" r:id="rId2"/>
    <p:sldId id="277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5" r:id="rId15"/>
    <p:sldId id="306" r:id="rId16"/>
    <p:sldId id="304" r:id="rId17"/>
    <p:sldId id="307" r:id="rId18"/>
    <p:sldId id="308" r:id="rId19"/>
    <p:sldId id="290" r:id="rId20"/>
    <p:sldId id="285" r:id="rId21"/>
    <p:sldId id="310" r:id="rId22"/>
    <p:sldId id="311" r:id="rId23"/>
    <p:sldId id="316" r:id="rId24"/>
    <p:sldId id="314" r:id="rId25"/>
    <p:sldId id="317" r:id="rId26"/>
    <p:sldId id="315" r:id="rId27"/>
    <p:sldId id="318" r:id="rId28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1C0B"/>
    <a:srgbClr val="5E83A6"/>
    <a:srgbClr val="EBF1F8"/>
    <a:srgbClr val="B2BFB9"/>
    <a:srgbClr val="E9F5E7"/>
    <a:srgbClr val="FFFFFF"/>
    <a:srgbClr val="064EA1"/>
    <a:srgbClr val="CDE6EF"/>
    <a:srgbClr val="14A7D8"/>
    <a:srgbClr val="CD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7917C-9FF5-44FD-9F6C-4E8402BFF969}" v="986" dt="2026-02-17T03:13:31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2-23T16:27:20.536" v="2960" actId="1076"/>
      <pc:docMkLst>
        <pc:docMk/>
      </pc:docMkLst>
      <pc:sldChg chg="addSp delSp modSp add mod">
        <pc:chgData name="Jacob Wyngaard" userId="6181fcd471e98458" providerId="LiveId" clId="{788BA123-62C9-4DDC-86E5-A6BCA4600216}" dt="2026-02-17T00:40:43.131" v="574" actId="1036"/>
        <pc:sldMkLst>
          <pc:docMk/>
          <pc:sldMk cId="285127923" sldId="285"/>
        </pc:sldMkLst>
        <pc:spChg chg="mod">
          <ac:chgData name="Jacob Wyngaard" userId="6181fcd471e98458" providerId="LiveId" clId="{788BA123-62C9-4DDC-86E5-A6BCA4600216}" dt="2026-02-17T00:40:39.967" v="572" actId="948"/>
          <ac:spMkLst>
            <pc:docMk/>
            <pc:sldMk cId="285127923" sldId="285"/>
            <ac:spMk id="5" creationId="{36C6877F-6D49-54B4-214A-08A9DB3A99DB}"/>
          </ac:spMkLst>
        </pc:spChg>
        <pc:picChg chg="add mod">
          <ac:chgData name="Jacob Wyngaard" userId="6181fcd471e98458" providerId="LiveId" clId="{788BA123-62C9-4DDC-86E5-A6BCA4600216}" dt="2026-02-17T00:40:43.131" v="574" actId="1036"/>
          <ac:picMkLst>
            <pc:docMk/>
            <pc:sldMk cId="285127923" sldId="285"/>
            <ac:picMk id="7" creationId="{6669038E-7CF7-4538-CAD4-F9EE9F01B58D}"/>
          </ac:picMkLst>
        </pc:picChg>
      </pc:sldChg>
      <pc:sldChg chg="modSp mod">
        <pc:chgData name="Jacob Wyngaard" userId="6181fcd471e98458" providerId="LiveId" clId="{788BA123-62C9-4DDC-86E5-A6BCA4600216}" dt="2026-02-23T16:27:20.536" v="2960" actId="1076"/>
        <pc:sldMkLst>
          <pc:docMk/>
          <pc:sldMk cId="448432070" sldId="303"/>
        </pc:sldMkLst>
        <pc:spChg chg="mod">
          <ac:chgData name="Jacob Wyngaard" userId="6181fcd471e98458" providerId="LiveId" clId="{788BA123-62C9-4DDC-86E5-A6BCA4600216}" dt="2026-02-23T16:27:20.536" v="2960" actId="1076"/>
          <ac:spMkLst>
            <pc:docMk/>
            <pc:sldMk cId="448432070" sldId="303"/>
            <ac:spMk id="30" creationId="{2677D931-5831-EF5C-82D1-F8CD04DAF1A4}"/>
          </ac:spMkLst>
        </pc:spChg>
      </pc:sldChg>
      <pc:sldChg chg="addSp modSp add mod">
        <pc:chgData name="Jacob Wyngaard" userId="6181fcd471e98458" providerId="LiveId" clId="{788BA123-62C9-4DDC-86E5-A6BCA4600216}" dt="2026-02-17T00:47:31.034" v="1096" actId="113"/>
        <pc:sldMkLst>
          <pc:docMk/>
          <pc:sldMk cId="2585050941" sldId="310"/>
        </pc:sldMkLst>
        <pc:spChg chg="mod">
          <ac:chgData name="Jacob Wyngaard" userId="6181fcd471e98458" providerId="LiveId" clId="{788BA123-62C9-4DDC-86E5-A6BCA4600216}" dt="2026-02-17T00:41:06.551" v="598" actId="1076"/>
          <ac:spMkLst>
            <pc:docMk/>
            <pc:sldMk cId="2585050941" sldId="310"/>
            <ac:spMk id="4" creationId="{F70625E9-7459-BBD1-42F8-1E979B69228D}"/>
          </ac:spMkLst>
        </pc:spChg>
        <pc:spChg chg="mod">
          <ac:chgData name="Jacob Wyngaard" userId="6181fcd471e98458" providerId="LiveId" clId="{788BA123-62C9-4DDC-86E5-A6BCA4600216}" dt="2026-02-17T00:47:31.034" v="1096" actId="113"/>
          <ac:spMkLst>
            <pc:docMk/>
            <pc:sldMk cId="2585050941" sldId="310"/>
            <ac:spMk id="5" creationId="{8663DBAD-1638-1EB8-6734-93B4491CD854}"/>
          </ac:spMkLst>
        </pc:spChg>
        <pc:spChg chg="add mod">
          <ac:chgData name="Jacob Wyngaard" userId="6181fcd471e98458" providerId="LiveId" clId="{788BA123-62C9-4DDC-86E5-A6BCA4600216}" dt="2026-02-17T00:43:06.180" v="798" actId="1076"/>
          <ac:spMkLst>
            <pc:docMk/>
            <pc:sldMk cId="2585050941" sldId="310"/>
            <ac:spMk id="6" creationId="{A384FA5A-7307-1855-21D3-AD0D79A01D7F}"/>
          </ac:spMkLst>
        </pc:spChg>
      </pc:sldChg>
      <pc:sldChg chg="addSp delSp modSp add mod">
        <pc:chgData name="Jacob Wyngaard" userId="6181fcd471e98458" providerId="LiveId" clId="{788BA123-62C9-4DDC-86E5-A6BCA4600216}" dt="2026-02-17T01:03:02.649" v="1766" actId="478"/>
        <pc:sldMkLst>
          <pc:docMk/>
          <pc:sldMk cId="1526910787" sldId="311"/>
        </pc:sldMkLst>
        <pc:spChg chg="mod">
          <ac:chgData name="Jacob Wyngaard" userId="6181fcd471e98458" providerId="LiveId" clId="{788BA123-62C9-4DDC-86E5-A6BCA4600216}" dt="2026-02-17T00:52:59.416" v="1145" actId="14100"/>
          <ac:spMkLst>
            <pc:docMk/>
            <pc:sldMk cId="1526910787" sldId="311"/>
            <ac:spMk id="4" creationId="{D60F9BD9-A3AC-5C49-9A61-5723DBB8D5CD}"/>
          </ac:spMkLst>
        </pc:spChg>
        <pc:spChg chg="mod">
          <ac:chgData name="Jacob Wyngaard" userId="6181fcd471e98458" providerId="LiveId" clId="{788BA123-62C9-4DDC-86E5-A6BCA4600216}" dt="2026-02-17T00:56:30.298" v="1365" actId="20577"/>
          <ac:spMkLst>
            <pc:docMk/>
            <pc:sldMk cId="1526910787" sldId="311"/>
            <ac:spMk id="5" creationId="{1DF2383B-BF7C-E9D9-9D39-F767B791F919}"/>
          </ac:spMkLst>
        </pc:spChg>
        <pc:spChg chg="add mod">
          <ac:chgData name="Jacob Wyngaard" userId="6181fcd471e98458" providerId="LiveId" clId="{788BA123-62C9-4DDC-86E5-A6BCA4600216}" dt="2026-02-17T01:00:26.775" v="1533" actId="20577"/>
          <ac:spMkLst>
            <pc:docMk/>
            <pc:sldMk cId="1526910787" sldId="311"/>
            <ac:spMk id="8" creationId="{793BA0E7-152A-47A9-7044-18B66BF5F83E}"/>
          </ac:spMkLst>
        </pc:spChg>
        <pc:spChg chg="add mod">
          <ac:chgData name="Jacob Wyngaard" userId="6181fcd471e98458" providerId="LiveId" clId="{788BA123-62C9-4DDC-86E5-A6BCA4600216}" dt="2026-02-17T01:02:09.998" v="1641" actId="14100"/>
          <ac:spMkLst>
            <pc:docMk/>
            <pc:sldMk cId="1526910787" sldId="311"/>
            <ac:spMk id="9" creationId="{1EB60950-632A-C01F-E57B-503A9D1D48A2}"/>
          </ac:spMkLst>
        </pc:spChg>
        <pc:graphicFrameChg chg="add mod modGraphic">
          <ac:chgData name="Jacob Wyngaard" userId="6181fcd471e98458" providerId="LiveId" clId="{788BA123-62C9-4DDC-86E5-A6BCA4600216}" dt="2026-02-17T00:59:32.949" v="1441" actId="20577"/>
          <ac:graphicFrameMkLst>
            <pc:docMk/>
            <pc:sldMk cId="1526910787" sldId="311"/>
            <ac:graphicFrameMk id="6" creationId="{6E92FFE0-1A7C-DE7D-20AF-CB543C78CBB9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2-17T02:47:34.464" v="2266" actId="1076"/>
        <pc:sldMkLst>
          <pc:docMk/>
          <pc:sldMk cId="4289787205" sldId="314"/>
        </pc:sldMkLst>
        <pc:spChg chg="mod">
          <ac:chgData name="Jacob Wyngaard" userId="6181fcd471e98458" providerId="LiveId" clId="{788BA123-62C9-4DDC-86E5-A6BCA4600216}" dt="2026-02-17T01:08:37.369" v="1941" actId="14100"/>
          <ac:spMkLst>
            <pc:docMk/>
            <pc:sldMk cId="4289787205" sldId="314"/>
            <ac:spMk id="4" creationId="{C71296F8-B1AF-2C04-97DA-D66B520C3840}"/>
          </ac:spMkLst>
        </pc:spChg>
        <pc:spChg chg="add mod">
          <ac:chgData name="Jacob Wyngaard" userId="6181fcd471e98458" providerId="LiveId" clId="{788BA123-62C9-4DDC-86E5-A6BCA4600216}" dt="2026-02-17T02:47:30.042" v="2265" actId="1076"/>
          <ac:spMkLst>
            <pc:docMk/>
            <pc:sldMk cId="4289787205" sldId="314"/>
            <ac:spMk id="15" creationId="{3D2322A9-AE6C-D164-B6EC-791C7878A95A}"/>
          </ac:spMkLst>
        </pc:spChg>
        <pc:spChg chg="add mod">
          <ac:chgData name="Jacob Wyngaard" userId="6181fcd471e98458" providerId="LiveId" clId="{788BA123-62C9-4DDC-86E5-A6BCA4600216}" dt="2026-02-17T02:47:25.418" v="2264" actId="1076"/>
          <ac:spMkLst>
            <pc:docMk/>
            <pc:sldMk cId="4289787205" sldId="314"/>
            <ac:spMk id="16" creationId="{AAB22DAB-FEE0-E224-2483-AB612B2448FF}"/>
          </ac:spMkLst>
        </pc:spChg>
        <pc:spChg chg="add mod">
          <ac:chgData name="Jacob Wyngaard" userId="6181fcd471e98458" providerId="LiveId" clId="{788BA123-62C9-4DDC-86E5-A6BCA4600216}" dt="2026-02-17T02:47:34.464" v="2266" actId="1076"/>
          <ac:spMkLst>
            <pc:docMk/>
            <pc:sldMk cId="4289787205" sldId="314"/>
            <ac:spMk id="17" creationId="{8BC23BCE-3BAB-00DE-30B2-53B96A12DEAD}"/>
          </ac:spMkLst>
        </pc:spChg>
        <pc:spChg chg="add mod">
          <ac:chgData name="Jacob Wyngaard" userId="6181fcd471e98458" providerId="LiveId" clId="{788BA123-62C9-4DDC-86E5-A6BCA4600216}" dt="2026-02-17T02:47:30.042" v="2265" actId="1076"/>
          <ac:spMkLst>
            <pc:docMk/>
            <pc:sldMk cId="4289787205" sldId="314"/>
            <ac:spMk id="18" creationId="{A336210B-80E8-DA08-E827-10A0BA11597B}"/>
          </ac:spMkLst>
        </pc:spChg>
        <pc:spChg chg="add mod">
          <ac:chgData name="Jacob Wyngaard" userId="6181fcd471e98458" providerId="LiveId" clId="{788BA123-62C9-4DDC-86E5-A6BCA4600216}" dt="2026-02-17T02:47:25.418" v="2264" actId="1076"/>
          <ac:spMkLst>
            <pc:docMk/>
            <pc:sldMk cId="4289787205" sldId="314"/>
            <ac:spMk id="19" creationId="{9AB1CB42-0601-C09F-A4B7-F3FDE2046A9C}"/>
          </ac:spMkLst>
        </pc:spChg>
        <pc:picChg chg="add mod modCrop">
          <ac:chgData name="Jacob Wyngaard" userId="6181fcd471e98458" providerId="LiveId" clId="{788BA123-62C9-4DDC-86E5-A6BCA4600216}" dt="2026-02-17T02:47:18.715" v="2263" actId="1076"/>
          <ac:picMkLst>
            <pc:docMk/>
            <pc:sldMk cId="4289787205" sldId="314"/>
            <ac:picMk id="14" creationId="{6A57A076-8A60-28B3-6F11-4E66E029C000}"/>
          </ac:picMkLst>
        </pc:picChg>
        <pc:cxnChg chg="add mod">
          <ac:chgData name="Jacob Wyngaard" userId="6181fcd471e98458" providerId="LiveId" clId="{788BA123-62C9-4DDC-86E5-A6BCA4600216}" dt="2026-02-17T02:47:34.464" v="2266" actId="1076"/>
          <ac:cxnSpMkLst>
            <pc:docMk/>
            <pc:sldMk cId="4289787205" sldId="314"/>
            <ac:cxnSpMk id="22" creationId="{A9BACB64-70CD-948B-0D87-3633C1AE0B27}"/>
          </ac:cxnSpMkLst>
        </pc:cxnChg>
      </pc:sldChg>
      <pc:sldChg chg="addSp modSp add mod">
        <pc:chgData name="Jacob Wyngaard" userId="6181fcd471e98458" providerId="LiveId" clId="{788BA123-62C9-4DDC-86E5-A6BCA4600216}" dt="2026-02-17T03:10:09.355" v="2908" actId="14100"/>
        <pc:sldMkLst>
          <pc:docMk/>
          <pc:sldMk cId="1630495839" sldId="315"/>
        </pc:sldMkLst>
        <pc:spChg chg="mod">
          <ac:chgData name="Jacob Wyngaard" userId="6181fcd471e98458" providerId="LiveId" clId="{788BA123-62C9-4DDC-86E5-A6BCA4600216}" dt="2026-02-17T02:58:53.822" v="2453" actId="14100"/>
          <ac:spMkLst>
            <pc:docMk/>
            <pc:sldMk cId="1630495839" sldId="315"/>
            <ac:spMk id="4" creationId="{F7D19791-2C43-9702-AE7A-A0FF206A9495}"/>
          </ac:spMkLst>
        </pc:spChg>
        <pc:spChg chg="mod">
          <ac:chgData name="Jacob Wyngaard" userId="6181fcd471e98458" providerId="LiveId" clId="{788BA123-62C9-4DDC-86E5-A6BCA4600216}" dt="2026-02-17T03:08:42.385" v="2873" actId="20577"/>
          <ac:spMkLst>
            <pc:docMk/>
            <pc:sldMk cId="1630495839" sldId="315"/>
            <ac:spMk id="5" creationId="{84032285-A3C0-F8F8-3F65-D05065FF3D0A}"/>
          </ac:spMkLst>
        </pc:spChg>
        <pc:spChg chg="add mod">
          <ac:chgData name="Jacob Wyngaard" userId="6181fcd471e98458" providerId="LiveId" clId="{788BA123-62C9-4DDC-86E5-A6BCA4600216}" dt="2026-02-17T03:10:09.355" v="2908" actId="14100"/>
          <ac:spMkLst>
            <pc:docMk/>
            <pc:sldMk cId="1630495839" sldId="315"/>
            <ac:spMk id="7" creationId="{DF287D4B-DEF8-1C87-4BB9-D1734E312199}"/>
          </ac:spMkLst>
        </pc:spChg>
      </pc:sldChg>
      <pc:sldChg chg="add ord">
        <pc:chgData name="Jacob Wyngaard" userId="6181fcd471e98458" providerId="LiveId" clId="{788BA123-62C9-4DDC-86E5-A6BCA4600216}" dt="2026-02-17T01:18:23.744" v="2177"/>
        <pc:sldMkLst>
          <pc:docMk/>
          <pc:sldMk cId="916820622" sldId="316"/>
        </pc:sldMkLst>
      </pc:sldChg>
      <pc:sldChg chg="addSp delSp modSp add mod">
        <pc:chgData name="Jacob Wyngaard" userId="6181fcd471e98458" providerId="LiveId" clId="{788BA123-62C9-4DDC-86E5-A6BCA4600216}" dt="2026-02-17T03:00:11.760" v="2492" actId="207"/>
        <pc:sldMkLst>
          <pc:docMk/>
          <pc:sldMk cId="1602887601" sldId="317"/>
        </pc:sldMkLst>
        <pc:spChg chg="add mod">
          <ac:chgData name="Jacob Wyngaard" userId="6181fcd471e98458" providerId="LiveId" clId="{788BA123-62C9-4DDC-86E5-A6BCA4600216}" dt="2026-02-17T02:58:28.826" v="2433" actId="1076"/>
          <ac:spMkLst>
            <pc:docMk/>
            <pc:sldMk cId="1602887601" sldId="317"/>
            <ac:spMk id="5" creationId="{9D546C68-D616-DB03-AA47-4563A6F6D0D7}"/>
          </ac:spMkLst>
        </pc:spChg>
        <pc:spChg chg="add mod">
          <ac:chgData name="Jacob Wyngaard" userId="6181fcd471e98458" providerId="LiveId" clId="{788BA123-62C9-4DDC-86E5-A6BCA4600216}" dt="2026-02-17T02:56:38.245" v="2377" actId="1076"/>
          <ac:spMkLst>
            <pc:docMk/>
            <pc:sldMk cId="1602887601" sldId="317"/>
            <ac:spMk id="7" creationId="{6EB55C53-1781-1673-82B8-8BD74841BDA8}"/>
          </ac:spMkLst>
        </pc:spChg>
        <pc:spChg chg="add mod">
          <ac:chgData name="Jacob Wyngaard" userId="6181fcd471e98458" providerId="LiveId" clId="{788BA123-62C9-4DDC-86E5-A6BCA4600216}" dt="2026-02-17T02:57:09.964" v="2390" actId="20577"/>
          <ac:spMkLst>
            <pc:docMk/>
            <pc:sldMk cId="1602887601" sldId="317"/>
            <ac:spMk id="9" creationId="{DC1BA292-6FBA-52AD-518D-B704E99D4446}"/>
          </ac:spMkLst>
        </pc:spChg>
        <pc:spChg chg="add mod">
          <ac:chgData name="Jacob Wyngaard" userId="6181fcd471e98458" providerId="LiveId" clId="{788BA123-62C9-4DDC-86E5-A6BCA4600216}" dt="2026-02-17T02:58:05.167" v="2426" actId="20577"/>
          <ac:spMkLst>
            <pc:docMk/>
            <pc:sldMk cId="1602887601" sldId="317"/>
            <ac:spMk id="10" creationId="{5E8A7360-0BB9-3763-DAA9-BD1B408749E7}"/>
          </ac:spMkLst>
        </pc:spChg>
        <pc:spChg chg="add mod">
          <ac:chgData name="Jacob Wyngaard" userId="6181fcd471e98458" providerId="LiveId" clId="{788BA123-62C9-4DDC-86E5-A6BCA4600216}" dt="2026-02-17T02:58:19.323" v="2431" actId="1076"/>
          <ac:spMkLst>
            <pc:docMk/>
            <pc:sldMk cId="1602887601" sldId="317"/>
            <ac:spMk id="11" creationId="{43CD3937-F9CF-5A32-2DE7-499D5D677A90}"/>
          </ac:spMkLst>
        </pc:spChg>
        <pc:spChg chg="add mod">
          <ac:chgData name="Jacob Wyngaard" userId="6181fcd471e98458" providerId="LiveId" clId="{788BA123-62C9-4DDC-86E5-A6BCA4600216}" dt="2026-02-17T03:00:11.760" v="2492" actId="207"/>
          <ac:spMkLst>
            <pc:docMk/>
            <pc:sldMk cId="1602887601" sldId="317"/>
            <ac:spMk id="12" creationId="{C5911650-0D0B-41C7-861A-2147F49B422C}"/>
          </ac:spMkLst>
        </pc:spChg>
        <pc:spChg chg="mod">
          <ac:chgData name="Jacob Wyngaard" userId="6181fcd471e98458" providerId="LiveId" clId="{788BA123-62C9-4DDC-86E5-A6BCA4600216}" dt="2026-02-17T02:55:34.807" v="2334" actId="1076"/>
          <ac:spMkLst>
            <pc:docMk/>
            <pc:sldMk cId="1602887601" sldId="317"/>
            <ac:spMk id="17" creationId="{C7ACE0FD-EC29-0E01-0D9F-BE276085456E}"/>
          </ac:spMkLst>
        </pc:spChg>
        <pc:graphicFrameChg chg="add mod modGraphic">
          <ac:chgData name="Jacob Wyngaard" userId="6181fcd471e98458" providerId="LiveId" clId="{788BA123-62C9-4DDC-86E5-A6BCA4600216}" dt="2026-02-17T02:56:10.479" v="2368" actId="20577"/>
          <ac:graphicFrameMkLst>
            <pc:docMk/>
            <pc:sldMk cId="1602887601" sldId="317"/>
            <ac:graphicFrameMk id="6" creationId="{6312254D-BC3E-3702-0115-0736730735C9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2-17T03:13:41.011" v="2959" actId="14100"/>
        <pc:sldMkLst>
          <pc:docMk/>
          <pc:sldMk cId="1156055420" sldId="318"/>
        </pc:sldMkLst>
        <pc:spChg chg="mod">
          <ac:chgData name="Jacob Wyngaard" userId="6181fcd471e98458" providerId="LiveId" clId="{788BA123-62C9-4DDC-86E5-A6BCA4600216}" dt="2026-02-17T03:12:17.683" v="2939" actId="1076"/>
          <ac:spMkLst>
            <pc:docMk/>
            <pc:sldMk cId="1156055420" sldId="318"/>
            <ac:spMk id="4" creationId="{979E6784-EE2F-1A70-F6C4-BBA09F8176FE}"/>
          </ac:spMkLst>
        </pc:spChg>
        <pc:spChg chg="add mod">
          <ac:chgData name="Jacob Wyngaard" userId="6181fcd471e98458" providerId="LiveId" clId="{788BA123-62C9-4DDC-86E5-A6BCA4600216}" dt="2026-02-17T03:13:30.932" v="2950" actId="14100"/>
          <ac:spMkLst>
            <pc:docMk/>
            <pc:sldMk cId="1156055420" sldId="318"/>
            <ac:spMk id="9" creationId="{5F195E68-D398-B156-10BB-39EA1929F95B}"/>
          </ac:spMkLst>
        </pc:spChg>
        <pc:spChg chg="add mod">
          <ac:chgData name="Jacob Wyngaard" userId="6181fcd471e98458" providerId="LiveId" clId="{788BA123-62C9-4DDC-86E5-A6BCA4600216}" dt="2026-02-17T03:13:41.011" v="2959" actId="14100"/>
          <ac:spMkLst>
            <pc:docMk/>
            <pc:sldMk cId="1156055420" sldId="318"/>
            <ac:spMk id="10" creationId="{C51748A9-982F-3CF2-59A7-D4C15A6842F9}"/>
          </ac:spMkLst>
        </pc:spChg>
        <pc:picChg chg="add mod">
          <ac:chgData name="Jacob Wyngaard" userId="6181fcd471e98458" providerId="LiveId" clId="{788BA123-62C9-4DDC-86E5-A6BCA4600216}" dt="2026-02-17T03:12:51.337" v="2945" actId="1076"/>
          <ac:picMkLst>
            <pc:docMk/>
            <pc:sldMk cId="1156055420" sldId="318"/>
            <ac:picMk id="8" creationId="{C40EE090-36B7-4948-57A7-30BAC205D5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7E91-9664-BDA5-AE6A-7E9F1545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CFE4F-2CAC-BD89-E921-D73551D47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D460-C988-88CF-2071-95F254F2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CDBAC-336F-85E1-422A-689018CA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F25C-C2EF-C005-AA68-1C08046D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11313-B669-D9E7-B26D-83B5F9E49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9D76C-F18E-FDA8-F96C-A9D072093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18013-FBDC-F138-B23A-D6317B960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4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842E-CE6C-9FF0-C899-B05DE638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1D5F6-00C6-5CDF-888B-A6F753DC7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F08FF-964E-4363-6D67-B2369AFE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5FF06-F318-1FAE-4CBF-4402621CF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75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5D62D-1BCF-0AF6-A45D-E156B32E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0EBA-2D41-5AAA-6F3B-1B38548B8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4DE5B-2F68-FA0E-D991-B9566152B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CF54D-FAA8-427C-ABB2-033283DDB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1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A87A-45D8-DA25-3534-B69E1BAA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85408-8AAB-2CC5-C913-E646C9095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1F0E6-DB65-65D5-9A17-7F205DEB0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A362C-987C-BCB2-388E-85B7845A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96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D7EC-B491-C8A9-6A86-D2E05B31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A7A1-ECE7-EEE7-68B5-B196BDA10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BE9AF-774E-9105-109A-79C9B0443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A6186-79BD-C633-1D54-091F39A18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3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C86F-4289-DB86-522A-88A6860C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DB8C2-C42E-4539-59F2-DBE8B5610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7B448-F4DC-473E-D86C-81ECB6EA5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49908-FFAE-3499-9F3C-AB1AD9FCD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77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3068-089D-AD8A-D6FC-E158A325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35F2-FB9F-75F1-F06A-1E9816683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9D64D-B0A5-082F-B430-6024838AC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5A7B4-4A4C-2345-159F-75B32BBE1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1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FCCF-8628-719A-355B-188BA51E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F205A-1AC1-15C0-AE33-5633FD72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8D9BC-64A5-BDCF-96BC-9DF828E9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D62B-3BEB-FF97-2139-263CC6628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7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D815-EB5B-CEDC-226C-8BE2A741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8C28B-4E14-B7E3-FC0F-E9EB0F641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AAE79-214E-0CED-FABD-6620F71F7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427BE-5AEA-08CD-EC65-B617D9717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80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91CB-99BA-C013-9F68-3A957E13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67D41-8BC8-8C81-2E1E-00A1BEE2D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6BFE-6AC7-55BC-8B15-4B3841654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FAB3A-68E7-9A16-5B24-362F4BD4E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39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525D-2B87-4161-1CC1-0AE0F709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0DA2A-08B0-AB56-3F97-91F28DE4F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CB08-A98C-7E51-19A6-293787A11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1AADA-9C8E-F1C6-C658-FA7EBE7E1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0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E795-005B-4D2B-FCB8-6CAF51DB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FAC7-53F3-4D31-51ED-5D9519E8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FCFCE-BB41-BB77-26DA-9F4CEE5DE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C7B83-B56E-F06D-55EE-6F7461F5C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2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4C11-4913-DB8F-62F7-9161289D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D815B-089E-70F2-4E3E-B8142FBE1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B07E7-91DC-B408-9D23-7A6876F13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6A308-47ED-3B4F-B5CA-208B3076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2D3C-9D57-507F-2E04-311C920E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B2007-6571-D1DF-85CA-CAD644B42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2B93-8060-54FB-5534-4388C7090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3F1F-2A0E-8B78-2EE3-27610536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34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C306-7C9D-031C-6EC1-AF095AC7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84F09-708B-C92A-CFFD-DFE8EC6C6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B761C-B9AB-1059-FAA9-E5767AE52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331B-40F7-63A5-BDB0-0C5576427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38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5E5B-78CB-AA17-C0DD-A65B9D0C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EB8D5-EEFC-F4E7-EAB3-3C9D1968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6C428-605A-8A81-2830-6A890DA6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033B7-DA57-D4C8-B6A5-8B45C3A1C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19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9EA2-D033-3BB0-CDAD-8B826670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D3B56-E1D2-2947-1D21-A57583598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0C6C-D3DD-5174-BDCC-C3B2790E4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63EB8-B470-ABAE-EE08-DDBC6ACBB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D7B1-75DE-C832-1B6B-225C3188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FFF31-CC62-F430-CECD-D25DD926A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C5758-277E-B97A-1CFE-B906C2A25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8F91D-6727-E878-7270-82FDEDC8D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42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B146-31DE-CA22-D26E-FEBC7A5D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AA43B-74A7-4B72-D749-291191460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936E1-34DC-9112-FB85-10B893AED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5C86-1C57-9491-EA67-8CA060BF2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89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C038-D651-8B85-8260-C26D5EAA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9B73A-403E-6BBC-A9D7-B1EA7FEEE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1AE01-8BC7-8564-3618-55DD1F989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4232-47E6-3A8A-9504-C16A1604A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04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C9CA-A58A-4DE5-CD64-FF2436F4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C6BEA-5774-C0D4-0B37-9144390FF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EE03C-309A-6E6C-72D3-55F49A117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27C4-4059-1E46-013A-709E4BAC8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09A1-764A-3DFF-64D3-B68D182A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0588D-D4D7-9EDF-0967-768912529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63FFE-129E-46E1-BF72-7F08E0505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7814-744F-E01D-B570-77D8C65F8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598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133F-9BF3-07E1-36AC-9BF2D682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48AC3-A0E5-BEBE-63A0-2F060FDF6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DEA69-A293-15BE-32D2-069731A41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5446E-D69B-FC4A-8A28-85AA3EFA4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01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2B49-9842-D0CE-7F3B-71CE4BDA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38F1C-1CF3-7A47-9E1B-38DE61FD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A02BB-7D24-7A3A-270D-A68E31223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AE356-D2F6-404D-C77B-9A58091FB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51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12AC-B116-C766-2306-BC84A9A0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11E25-6965-7247-C1BD-B512BE03E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9252A-0BAB-93E5-298B-78953110E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A9625-3DEC-09E6-E7E4-0B7515331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5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47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1809494"/>
            <a:ext cx="550606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[Continued]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D9B65E-8F5A-5551-6AF0-DE082A8F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" t="1073" r="2525" b="68842"/>
          <a:stretch>
            <a:fillRect/>
          </a:stretch>
        </p:blipFill>
        <p:spPr>
          <a:xfrm>
            <a:off x="6715431" y="2009767"/>
            <a:ext cx="5395256" cy="25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A1A3-7088-1D76-977C-6B40A6B8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17655A-BBD6-32BD-BEF9-328E8BD07E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4DB23-C81C-2E90-63DA-2A1F8BC572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26395-4C2F-CF61-0495-2CA4A3A53348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F543F-425E-267C-5C7A-43E59D38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54A052-DEB4-04B8-A37D-9C668B8C423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80490-F860-2EB6-AF90-4FB3A0AAD735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96E1-7EB9-6B28-C6F9-90A9B5EF62A9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B8581-75DA-0270-F4D1-13E4A938B558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1F8EF-D377-64E2-9B70-B07B86A07DB5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49C1B-8068-5833-2389-544CE42534BE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BA0E7-8F72-2368-93C1-6C0767785DC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186BD-F98A-7125-8842-69E6EAC18B4B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F13BB-63FB-8220-25B5-ACF67A5659A8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B0AC8-5AB7-F7EB-5391-EAE4CB024BDA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5930E-AA35-39C6-D9C2-0CCAF7264280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06B7E-8C1E-61FD-89B6-6DCA7499FE64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A52623-00BE-1689-8AFB-3B20B50A43EC}"/>
              </a:ext>
            </a:extLst>
          </p:cNvPr>
          <p:cNvCxnSpPr>
            <a:cxnSpLocks/>
          </p:cNvCxnSpPr>
          <p:nvPr/>
        </p:nvCxnSpPr>
        <p:spPr>
          <a:xfrm>
            <a:off x="6346723" y="2246593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A8C4E3-0FEF-8F12-5A05-FFAC6308DF9E}"/>
              </a:ext>
            </a:extLst>
          </p:cNvPr>
          <p:cNvCxnSpPr>
            <a:cxnSpLocks/>
          </p:cNvCxnSpPr>
          <p:nvPr/>
        </p:nvCxnSpPr>
        <p:spPr>
          <a:xfrm flipH="1">
            <a:off x="6346723" y="4614354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25C433-34CC-589F-6AE6-203B881E43E7}"/>
              </a:ext>
            </a:extLst>
          </p:cNvPr>
          <p:cNvCxnSpPr>
            <a:cxnSpLocks/>
          </p:cNvCxnSpPr>
          <p:nvPr/>
        </p:nvCxnSpPr>
        <p:spPr>
          <a:xfrm flipH="1" flipV="1">
            <a:off x="6346722" y="2644877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E6E785-2B5B-EC40-8F7B-8CA4956F76C3}"/>
              </a:ext>
            </a:extLst>
          </p:cNvPr>
          <p:cNvCxnSpPr>
            <a:cxnSpLocks/>
          </p:cNvCxnSpPr>
          <p:nvPr/>
        </p:nvCxnSpPr>
        <p:spPr>
          <a:xfrm flipH="1">
            <a:off x="6365908" y="3266395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30ED5B-9CC8-8F83-7304-9BE4573557CA}"/>
                  </a:ext>
                </a:extLst>
              </p:cNvPr>
              <p:cNvSpPr txBox="1"/>
              <p:nvPr/>
            </p:nvSpPr>
            <p:spPr>
              <a:xfrm>
                <a:off x="10982632" y="4325253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30ED5B-9CC8-8F83-7304-9BE457355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32" y="4325253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t="-10526" r="-540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33C9AD-E8E9-366E-BE0D-EC3FC9D9DD0F}"/>
                  </a:ext>
                </a:extLst>
              </p:cNvPr>
              <p:cNvSpPr txBox="1"/>
              <p:nvPr/>
            </p:nvSpPr>
            <p:spPr>
              <a:xfrm>
                <a:off x="5028371" y="1813806"/>
                <a:ext cx="2636701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Player 1’s Payoff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33C9AD-E8E9-366E-BE0D-EC3FC9D9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371" y="1813806"/>
                <a:ext cx="2636701" cy="461665"/>
              </a:xfrm>
              <a:prstGeom prst="rect">
                <a:avLst/>
              </a:prstGeom>
              <a:blipFill>
                <a:blip r:embed="rId5"/>
                <a:stretch>
                  <a:fillRect t="-13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937C8D-2FDD-F748-8702-2996C0D14B2D}"/>
              </a:ext>
            </a:extLst>
          </p:cNvPr>
          <p:cNvCxnSpPr>
            <a:cxnSpLocks/>
          </p:cNvCxnSpPr>
          <p:nvPr/>
        </p:nvCxnSpPr>
        <p:spPr>
          <a:xfrm flipH="1">
            <a:off x="6346721" y="2896989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88DAA0B-C6FB-976F-92CF-FFF163B2F9F1}"/>
              </a:ext>
            </a:extLst>
          </p:cNvPr>
          <p:cNvSpPr txBox="1"/>
          <p:nvPr/>
        </p:nvSpPr>
        <p:spPr>
          <a:xfrm>
            <a:off x="11036710" y="2496917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7F5323-C550-943A-9F94-6EFB7A164B67}"/>
              </a:ext>
            </a:extLst>
          </p:cNvPr>
          <p:cNvSpPr txBox="1"/>
          <p:nvPr/>
        </p:nvSpPr>
        <p:spPr>
          <a:xfrm>
            <a:off x="11036710" y="29865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A75D68-6241-A6AB-7B3C-7D062E956447}"/>
              </a:ext>
            </a:extLst>
          </p:cNvPr>
          <p:cNvSpPr txBox="1"/>
          <p:nvPr/>
        </p:nvSpPr>
        <p:spPr>
          <a:xfrm>
            <a:off x="11036710" y="541663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7B56B-C131-BEF3-100C-D5810DC6A6F8}"/>
                  </a:ext>
                </a:extLst>
              </p:cNvPr>
              <p:cNvSpPr txBox="1"/>
              <p:nvPr/>
            </p:nvSpPr>
            <p:spPr>
              <a:xfrm>
                <a:off x="8086556" y="4791214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7B56B-C131-BEF3-100C-D5810DC6A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56" y="4791214"/>
                <a:ext cx="794278" cy="66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5CDD0C-EBB4-53DF-5C33-6DCE9D02DB16}"/>
              </a:ext>
            </a:extLst>
          </p:cNvPr>
          <p:cNvCxnSpPr>
            <a:cxnSpLocks/>
          </p:cNvCxnSpPr>
          <p:nvPr/>
        </p:nvCxnSpPr>
        <p:spPr>
          <a:xfrm flipV="1">
            <a:off x="8668070" y="4542245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A21A3E-9316-BBCD-0303-7D18171A9DD5}"/>
              </a:ext>
            </a:extLst>
          </p:cNvPr>
          <p:cNvCxnSpPr>
            <a:cxnSpLocks/>
          </p:cNvCxnSpPr>
          <p:nvPr/>
        </p:nvCxnSpPr>
        <p:spPr>
          <a:xfrm flipH="1">
            <a:off x="6364015" y="4092044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BEAF2B-D110-25B4-7398-BC7E18ED91BE}"/>
              </a:ext>
            </a:extLst>
          </p:cNvPr>
          <p:cNvCxnSpPr>
            <a:cxnSpLocks/>
          </p:cNvCxnSpPr>
          <p:nvPr/>
        </p:nvCxnSpPr>
        <p:spPr>
          <a:xfrm flipH="1" flipV="1">
            <a:off x="8563332" y="4041789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B468DDB-9C5E-68F6-3BF1-C4CBC6E02422}"/>
              </a:ext>
            </a:extLst>
          </p:cNvPr>
          <p:cNvSpPr/>
          <p:nvPr/>
        </p:nvSpPr>
        <p:spPr>
          <a:xfrm>
            <a:off x="8571270" y="4059733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B33380-65EF-1BB8-A4B3-5974D2FC682F}"/>
              </a:ext>
            </a:extLst>
          </p:cNvPr>
          <p:cNvSpPr txBox="1"/>
          <p:nvPr/>
        </p:nvSpPr>
        <p:spPr>
          <a:xfrm>
            <a:off x="8483695" y="3892144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</p:spTree>
    <p:extLst>
      <p:ext uri="{BB962C8B-B14F-4D97-AF65-F5344CB8AC3E}">
        <p14:creationId xmlns:p14="http://schemas.microsoft.com/office/powerpoint/2010/main" val="24570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22A7-F066-C7BD-8154-9F72B8F9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BC5B99-A322-E0D6-765C-0244B596221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FF003-E721-70FB-0F8F-379EE4BB3B7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28397-AC9A-9E95-BAAE-5115266D3F90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094A7-2BBE-11E0-2C6B-FA872C85E5C0}"/>
              </a:ext>
            </a:extLst>
          </p:cNvPr>
          <p:cNvSpPr txBox="1"/>
          <p:nvPr/>
        </p:nvSpPr>
        <p:spPr>
          <a:xfrm>
            <a:off x="6096000" y="4123813"/>
            <a:ext cx="6050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find Player 2’s best strategy?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110F09-C7A9-DC5D-0E2B-3C73F924AC2F}"/>
                  </a:ext>
                </a:extLst>
              </p:cNvPr>
              <p:cNvSpPr txBox="1"/>
              <p:nvPr/>
            </p:nvSpPr>
            <p:spPr>
              <a:xfrm>
                <a:off x="6427081" y="1920480"/>
                <a:ext cx="5625637" cy="1876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From the graph, we know that Player 1’s equilibrium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and that the value of the game is</a:t>
                </a:r>
              </a:p>
              <a:p>
                <a:pPr lvl="1"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110F09-C7A9-DC5D-0E2B-3C73F924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81" y="1920480"/>
                <a:ext cx="5625637" cy="1876796"/>
              </a:xfrm>
              <a:prstGeom prst="rect">
                <a:avLst/>
              </a:prstGeom>
              <a:blipFill>
                <a:blip r:embed="rId3"/>
                <a:stretch>
                  <a:fillRect t="-2597" r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11172A-94EC-01E8-F608-622029C40941}"/>
                  </a:ext>
                </a:extLst>
              </p:cNvPr>
              <p:cNvSpPr txBox="1"/>
              <p:nvPr/>
            </p:nvSpPr>
            <p:spPr>
              <a:xfrm>
                <a:off x="6450024" y="4699983"/>
                <a:ext cx="5342895" cy="138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If Player 2’s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then</a:t>
                </a:r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11172A-94EC-01E8-F608-622029C40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024" y="4699983"/>
                <a:ext cx="5342895" cy="1386020"/>
              </a:xfrm>
              <a:prstGeom prst="rect">
                <a:avLst/>
              </a:prstGeom>
              <a:blipFill>
                <a:blip r:embed="rId4"/>
                <a:stretch>
                  <a:fillRect t="-3524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16E3CF-1949-22C2-870A-565E2EDF2DB3}"/>
              </a:ext>
            </a:extLst>
          </p:cNvPr>
          <p:cNvCxnSpPr>
            <a:cxnSpLocks/>
          </p:cNvCxnSpPr>
          <p:nvPr/>
        </p:nvCxnSpPr>
        <p:spPr>
          <a:xfrm>
            <a:off x="551436" y="2340165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7661F6-CE2B-701C-559F-3505E0B49BB4}"/>
              </a:ext>
            </a:extLst>
          </p:cNvPr>
          <p:cNvCxnSpPr>
            <a:cxnSpLocks/>
          </p:cNvCxnSpPr>
          <p:nvPr/>
        </p:nvCxnSpPr>
        <p:spPr>
          <a:xfrm flipH="1">
            <a:off x="551436" y="4707926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5876DF-8112-C45E-A2FA-4373929362E8}"/>
              </a:ext>
            </a:extLst>
          </p:cNvPr>
          <p:cNvCxnSpPr>
            <a:cxnSpLocks/>
          </p:cNvCxnSpPr>
          <p:nvPr/>
        </p:nvCxnSpPr>
        <p:spPr>
          <a:xfrm flipH="1" flipV="1">
            <a:off x="551435" y="2738449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636572E-5BF5-0AAF-A7D6-12C5C63681E9}"/>
              </a:ext>
            </a:extLst>
          </p:cNvPr>
          <p:cNvCxnSpPr>
            <a:cxnSpLocks/>
          </p:cNvCxnSpPr>
          <p:nvPr/>
        </p:nvCxnSpPr>
        <p:spPr>
          <a:xfrm flipH="1">
            <a:off x="570621" y="3359967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297E7A-D066-5AB7-0F48-4B3916E88A7C}"/>
                  </a:ext>
                </a:extLst>
              </p:cNvPr>
              <p:cNvSpPr txBox="1"/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297E7A-D066-5AB7-0F48-4B3916E88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44C67B5F-E39D-E388-5FC1-E1863B766BCD}"/>
              </a:ext>
            </a:extLst>
          </p:cNvPr>
          <p:cNvSpPr txBox="1"/>
          <p:nvPr/>
        </p:nvSpPr>
        <p:spPr>
          <a:xfrm>
            <a:off x="139282" y="1787279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5716F1-31AC-044C-533B-7CFBCB4275E7}"/>
              </a:ext>
            </a:extLst>
          </p:cNvPr>
          <p:cNvCxnSpPr>
            <a:cxnSpLocks/>
          </p:cNvCxnSpPr>
          <p:nvPr/>
        </p:nvCxnSpPr>
        <p:spPr>
          <a:xfrm flipH="1">
            <a:off x="551434" y="2990561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F3B9AAB-DD71-1B70-6718-9ABB1BFEE872}"/>
              </a:ext>
            </a:extLst>
          </p:cNvPr>
          <p:cNvSpPr txBox="1"/>
          <p:nvPr/>
        </p:nvSpPr>
        <p:spPr>
          <a:xfrm>
            <a:off x="5241423" y="2590489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EB7C89-B9CE-1A43-494D-773465F1276A}"/>
              </a:ext>
            </a:extLst>
          </p:cNvPr>
          <p:cNvSpPr txBox="1"/>
          <p:nvPr/>
        </p:nvSpPr>
        <p:spPr>
          <a:xfrm>
            <a:off x="5241423" y="3080155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1538E9-1A95-7B8B-7EC8-3C265F3A1292}"/>
              </a:ext>
            </a:extLst>
          </p:cNvPr>
          <p:cNvSpPr txBox="1"/>
          <p:nvPr/>
        </p:nvSpPr>
        <p:spPr>
          <a:xfrm>
            <a:off x="5118712" y="52536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309771-2461-5B36-6A55-F9F3F3AF5B71}"/>
                  </a:ext>
                </a:extLst>
              </p:cNvPr>
              <p:cNvSpPr txBox="1"/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309771-2461-5B36-6A55-F9F3F3AF5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CB442D-683F-5AF7-D808-B79ED6469EC4}"/>
              </a:ext>
            </a:extLst>
          </p:cNvPr>
          <p:cNvCxnSpPr>
            <a:cxnSpLocks/>
          </p:cNvCxnSpPr>
          <p:nvPr/>
        </p:nvCxnSpPr>
        <p:spPr>
          <a:xfrm flipV="1">
            <a:off x="2872783" y="4635817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BD592F4-CA5E-C4C3-FA10-41537D9E00D5}"/>
              </a:ext>
            </a:extLst>
          </p:cNvPr>
          <p:cNvCxnSpPr>
            <a:cxnSpLocks/>
          </p:cNvCxnSpPr>
          <p:nvPr/>
        </p:nvCxnSpPr>
        <p:spPr>
          <a:xfrm flipH="1">
            <a:off x="568728" y="4185616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89B7F6-5090-1981-6525-13FAFF4DF2F9}"/>
              </a:ext>
            </a:extLst>
          </p:cNvPr>
          <p:cNvCxnSpPr>
            <a:cxnSpLocks/>
          </p:cNvCxnSpPr>
          <p:nvPr/>
        </p:nvCxnSpPr>
        <p:spPr>
          <a:xfrm flipH="1" flipV="1">
            <a:off x="2768045" y="4135361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39B26EE-A2D9-3B1D-199A-7E357C02B23A}"/>
              </a:ext>
            </a:extLst>
          </p:cNvPr>
          <p:cNvSpPr/>
          <p:nvPr/>
        </p:nvSpPr>
        <p:spPr>
          <a:xfrm>
            <a:off x="2775983" y="4153305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FE5079-7A90-0309-E979-9FF7B80625D5}"/>
              </a:ext>
            </a:extLst>
          </p:cNvPr>
          <p:cNvSpPr txBox="1"/>
          <p:nvPr/>
        </p:nvSpPr>
        <p:spPr>
          <a:xfrm>
            <a:off x="2688408" y="3985716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5ADD2D-A85C-6841-82E7-B8D7F4489191}"/>
                  </a:ext>
                </a:extLst>
              </p:cNvPr>
              <p:cNvSpPr txBox="1"/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5ADD2D-A85C-6841-82E7-B8D7F448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blipFill>
                <a:blip r:embed="rId7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943137E-272A-531E-5949-0875D5E56C4E}"/>
                  </a:ext>
                </a:extLst>
              </p:cNvPr>
              <p:cNvSpPr txBox="1"/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943137E-272A-531E-5949-0875D5E56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blipFill>
                <a:blip r:embed="rId8"/>
                <a:stretch>
                  <a:fillRect r="-16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2704E8D-2FBC-3AB8-92E1-A787D4D294EC}"/>
                  </a:ext>
                </a:extLst>
              </p:cNvPr>
              <p:cNvSpPr txBox="1"/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2704E8D-2FBC-3AB8-92E1-A787D4D29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blipFill>
                <a:blip r:embed="rId9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92F82-D8AB-AF0C-2D97-241E589AB60F}"/>
                  </a:ext>
                </a:extLst>
              </p:cNvPr>
              <p:cNvSpPr txBox="1"/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92F82-D8AB-AF0C-2D97-241E589AB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blipFill>
                <a:blip r:embed="rId10"/>
                <a:stretch>
                  <a:fillRect t="-10526" r="-1794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0E44AE67-8380-AD9D-29B9-CD4B3E025A20}"/>
              </a:ext>
            </a:extLst>
          </p:cNvPr>
          <p:cNvSpPr txBox="1"/>
          <p:nvPr/>
        </p:nvSpPr>
        <p:spPr>
          <a:xfrm>
            <a:off x="6733957" y="6200508"/>
            <a:ext cx="5011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Three unknowns, two constraints</a:t>
            </a:r>
          </a:p>
        </p:txBody>
      </p:sp>
    </p:spTree>
    <p:extLst>
      <p:ext uri="{BB962C8B-B14F-4D97-AF65-F5344CB8AC3E}">
        <p14:creationId xmlns:p14="http://schemas.microsoft.com/office/powerpoint/2010/main" val="4560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26F8-BE76-BBC9-4B1C-5E979F2B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F963BC-9D9A-18CF-E36B-740E2B4C1DE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98195-126B-DC22-EFCC-4DFDB390DD3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02ECC-2F77-DC46-124E-94B86E8C7216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6EA9BA4-5FFD-D0A1-3F0F-4D2FA2087F1C}"/>
                  </a:ext>
                </a:extLst>
              </p:cNvPr>
              <p:cNvSpPr txBox="1"/>
              <p:nvPr/>
            </p:nvSpPr>
            <p:spPr>
              <a:xfrm>
                <a:off x="6709823" y="1816688"/>
                <a:ext cx="5342895" cy="984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6EA9BA4-5FFD-D0A1-3F0F-4D2FA2087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823" y="1816688"/>
                <a:ext cx="5342895" cy="984565"/>
              </a:xfrm>
              <a:prstGeom prst="rect">
                <a:avLst/>
              </a:prstGeom>
              <a:blipFill>
                <a:blip r:embed="rId3"/>
                <a:stretch>
                  <a:fillRect t="-3704" b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B1C5DD-663C-8BAC-BE12-64772F73FA9B}"/>
              </a:ext>
            </a:extLst>
          </p:cNvPr>
          <p:cNvCxnSpPr>
            <a:cxnSpLocks/>
          </p:cNvCxnSpPr>
          <p:nvPr/>
        </p:nvCxnSpPr>
        <p:spPr>
          <a:xfrm>
            <a:off x="551436" y="2340165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B5E20-73EA-2EF7-1019-B768DB89E842}"/>
              </a:ext>
            </a:extLst>
          </p:cNvPr>
          <p:cNvCxnSpPr>
            <a:cxnSpLocks/>
          </p:cNvCxnSpPr>
          <p:nvPr/>
        </p:nvCxnSpPr>
        <p:spPr>
          <a:xfrm flipH="1">
            <a:off x="551436" y="4707926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6A2DEF-6122-DB6B-1998-2D7DCA42F585}"/>
              </a:ext>
            </a:extLst>
          </p:cNvPr>
          <p:cNvCxnSpPr>
            <a:cxnSpLocks/>
          </p:cNvCxnSpPr>
          <p:nvPr/>
        </p:nvCxnSpPr>
        <p:spPr>
          <a:xfrm flipH="1" flipV="1">
            <a:off x="551435" y="2738449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8AE330-9B57-7A11-D1CA-675970E503B1}"/>
              </a:ext>
            </a:extLst>
          </p:cNvPr>
          <p:cNvCxnSpPr>
            <a:cxnSpLocks/>
          </p:cNvCxnSpPr>
          <p:nvPr/>
        </p:nvCxnSpPr>
        <p:spPr>
          <a:xfrm flipH="1">
            <a:off x="570621" y="3359967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F7D82-159F-BBE6-EA0D-D7D8D208DA11}"/>
                  </a:ext>
                </a:extLst>
              </p:cNvPr>
              <p:cNvSpPr txBox="1"/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F7D82-159F-BBE6-EA0D-D7D8D208D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8826EF6-D731-BBB7-1273-C9DC93884B95}"/>
              </a:ext>
            </a:extLst>
          </p:cNvPr>
          <p:cNvSpPr txBox="1"/>
          <p:nvPr/>
        </p:nvSpPr>
        <p:spPr>
          <a:xfrm>
            <a:off x="139282" y="1787279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556DBA-F894-5512-F0C7-31C2C2279683}"/>
              </a:ext>
            </a:extLst>
          </p:cNvPr>
          <p:cNvCxnSpPr>
            <a:cxnSpLocks/>
          </p:cNvCxnSpPr>
          <p:nvPr/>
        </p:nvCxnSpPr>
        <p:spPr>
          <a:xfrm flipH="1">
            <a:off x="551434" y="2990561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177C6CC-7170-B008-6A81-63007DB26199}"/>
              </a:ext>
            </a:extLst>
          </p:cNvPr>
          <p:cNvSpPr txBox="1"/>
          <p:nvPr/>
        </p:nvSpPr>
        <p:spPr>
          <a:xfrm>
            <a:off x="5241423" y="2590489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F6F89A-58DF-5C0F-7646-BBC58EAB20B6}"/>
              </a:ext>
            </a:extLst>
          </p:cNvPr>
          <p:cNvSpPr txBox="1"/>
          <p:nvPr/>
        </p:nvSpPr>
        <p:spPr>
          <a:xfrm>
            <a:off x="5241423" y="3080155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45046F-9325-5A6A-E4D2-F5157A87700A}"/>
              </a:ext>
            </a:extLst>
          </p:cNvPr>
          <p:cNvSpPr txBox="1"/>
          <p:nvPr/>
        </p:nvSpPr>
        <p:spPr>
          <a:xfrm>
            <a:off x="5118712" y="52536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4CAF61-7729-CB95-00D0-2DF39818DB26}"/>
                  </a:ext>
                </a:extLst>
              </p:cNvPr>
              <p:cNvSpPr txBox="1"/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4CAF61-7729-CB95-00D0-2DF39818D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0A66BE5-116E-3B8C-50AD-ECAC4E291E35}"/>
              </a:ext>
            </a:extLst>
          </p:cNvPr>
          <p:cNvCxnSpPr>
            <a:cxnSpLocks/>
          </p:cNvCxnSpPr>
          <p:nvPr/>
        </p:nvCxnSpPr>
        <p:spPr>
          <a:xfrm flipV="1">
            <a:off x="2872783" y="4635817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D548E1-FC4F-76F6-E034-20F9D25EF598}"/>
              </a:ext>
            </a:extLst>
          </p:cNvPr>
          <p:cNvCxnSpPr>
            <a:cxnSpLocks/>
          </p:cNvCxnSpPr>
          <p:nvPr/>
        </p:nvCxnSpPr>
        <p:spPr>
          <a:xfrm flipH="1">
            <a:off x="568728" y="4185616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7A9111D-F40C-695F-42F1-2C5246CDE4F3}"/>
              </a:ext>
            </a:extLst>
          </p:cNvPr>
          <p:cNvCxnSpPr>
            <a:cxnSpLocks/>
          </p:cNvCxnSpPr>
          <p:nvPr/>
        </p:nvCxnSpPr>
        <p:spPr>
          <a:xfrm flipH="1" flipV="1">
            <a:off x="2768045" y="4135361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D169133-66F3-D250-A5DC-59702022D3A5}"/>
              </a:ext>
            </a:extLst>
          </p:cNvPr>
          <p:cNvSpPr/>
          <p:nvPr/>
        </p:nvSpPr>
        <p:spPr>
          <a:xfrm>
            <a:off x="2775983" y="4153305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345D7B-2074-0473-E597-CD6CF54C3468}"/>
              </a:ext>
            </a:extLst>
          </p:cNvPr>
          <p:cNvSpPr txBox="1"/>
          <p:nvPr/>
        </p:nvSpPr>
        <p:spPr>
          <a:xfrm>
            <a:off x="2688408" y="3985716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DE6B9F-4252-356E-AF4E-BD6DB54FECF5}"/>
                  </a:ext>
                </a:extLst>
              </p:cNvPr>
              <p:cNvSpPr txBox="1"/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DE6B9F-4252-356E-AF4E-BD6DB54FE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blipFill>
                <a:blip r:embed="rId6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E0B973-9E0E-03B5-D430-25C011D5A0BE}"/>
                  </a:ext>
                </a:extLst>
              </p:cNvPr>
              <p:cNvSpPr txBox="1"/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E0B973-9E0E-03B5-D430-25C011D5A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blipFill>
                <a:blip r:embed="rId7"/>
                <a:stretch>
                  <a:fillRect r="-16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9EA1C2-603E-7159-9D31-89E95538CB63}"/>
                  </a:ext>
                </a:extLst>
              </p:cNvPr>
              <p:cNvSpPr txBox="1"/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9EA1C2-603E-7159-9D31-89E95538C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blipFill>
                <a:blip r:embed="rId8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4DCB2D2-59D7-2D71-7413-C6A5D0A1208D}"/>
                  </a:ext>
                </a:extLst>
              </p:cNvPr>
              <p:cNvSpPr txBox="1"/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4DCB2D2-59D7-2D71-7413-C6A5D0A12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blipFill>
                <a:blip r:embed="rId9"/>
                <a:stretch>
                  <a:fillRect r="-3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D8DC628-3B0A-DC82-4E66-F38435405F57}"/>
              </a:ext>
            </a:extLst>
          </p:cNvPr>
          <p:cNvSpPr txBox="1"/>
          <p:nvPr/>
        </p:nvSpPr>
        <p:spPr>
          <a:xfrm>
            <a:off x="6617664" y="2908441"/>
            <a:ext cx="557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What if we could eliminate one of Player 2’s strategies?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BAFB7-4CE4-3665-F35A-45C3C62D0B64}"/>
                  </a:ext>
                </a:extLst>
              </p:cNvPr>
              <p:cNvSpPr txBox="1"/>
              <p:nvPr/>
            </p:nvSpPr>
            <p:spPr>
              <a:xfrm>
                <a:off x="6903700" y="3794811"/>
                <a:ext cx="50405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Line </a:t>
                </a:r>
                <a:r>
                  <a:rPr lang="en-US" sz="2400" dirty="0">
                    <a:solidFill>
                      <a:srgbClr val="064EA1"/>
                    </a:solidFill>
                  </a:rPr>
                  <a:t>C</a:t>
                </a:r>
                <a:r>
                  <a:rPr lang="en-US" sz="2400" dirty="0"/>
                  <a:t> is never part of the minimum line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rgbClr val="064EA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BAFB7-4CE4-3665-F35A-45C3C62D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00" y="3794811"/>
                <a:ext cx="5040509" cy="830997"/>
              </a:xfrm>
              <a:prstGeom prst="rect">
                <a:avLst/>
              </a:prstGeom>
              <a:blipFill>
                <a:blip r:embed="rId10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3CBA46-6B15-F107-CED7-2ACEB90D4D24}"/>
              </a:ext>
            </a:extLst>
          </p:cNvPr>
          <p:cNvSpPr txBox="1"/>
          <p:nvPr/>
        </p:nvSpPr>
        <p:spPr>
          <a:xfrm>
            <a:off x="6327187" y="4743432"/>
            <a:ext cx="5858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Now we have the system of equations:</a:t>
            </a:r>
            <a:endParaRPr lang="en-US" sz="2400" dirty="0">
              <a:solidFill>
                <a:srgbClr val="064EA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5A7337-6ADD-0EF6-32D6-55BFA1DC1CBC}"/>
                  </a:ext>
                </a:extLst>
              </p:cNvPr>
              <p:cNvSpPr txBox="1"/>
              <p:nvPr/>
            </p:nvSpPr>
            <p:spPr>
              <a:xfrm>
                <a:off x="6617664" y="5215216"/>
                <a:ext cx="5342895" cy="984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5A7337-6ADD-0EF6-32D6-55BFA1DC1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664" y="5215216"/>
                <a:ext cx="5342895" cy="984565"/>
              </a:xfrm>
              <a:prstGeom prst="rect">
                <a:avLst/>
              </a:prstGeom>
              <a:blipFill>
                <a:blip r:embed="rId11"/>
                <a:stretch>
                  <a:fillRect t="-3727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35EA40-148A-FB11-8257-351028E8FA78}"/>
                  </a:ext>
                </a:extLst>
              </p:cNvPr>
              <p:cNvSpPr txBox="1"/>
              <p:nvPr/>
            </p:nvSpPr>
            <p:spPr>
              <a:xfrm>
                <a:off x="6479331" y="6136191"/>
                <a:ext cx="5705898" cy="614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2’s equilibrium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35EA40-148A-FB11-8257-351028E8F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331" y="6136191"/>
                <a:ext cx="5705898" cy="614464"/>
              </a:xfrm>
              <a:prstGeom prst="rect">
                <a:avLst/>
              </a:prstGeom>
              <a:blipFill>
                <a:blip r:embed="rId12"/>
                <a:stretch>
                  <a:fillRect l="-1709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83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1CBE-7A85-1CFD-CC8C-108FA1D1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4CF298-DC42-3C77-ACFB-B7B15045DAF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BC1D60-4DB5-1B27-D183-4134078EB14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794C5-A1E0-CBC5-B883-5B395E95A521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A35BF-C36A-9DB8-DAAF-3C663B29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AF85A-FDC8-BA6D-E44E-CEF434C0E6E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D48E1-C0E5-9C8E-DA56-C6BFB6BDF547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F7D4E-9067-F1A3-3E28-94A225B243FB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95E96-18F1-32F4-D9FB-D4C77CE13E8D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60C07-B18B-FED6-82F1-4011E8F2F72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F16BE-50AA-8B06-8FFA-429C52B051E6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47727-2944-EA10-8ECD-72C1FAD5CE9F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FF966-2E79-ED30-72C6-D8C0372DA26D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7BA502-2DF3-F9F3-9297-579912BBD342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80AA3-41DA-3869-2629-5A244151179A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DA714-F511-6269-F54E-C84F03362DB5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3F45E9-CAEB-8571-DA09-0A9CC6CB1612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533774-4126-1B06-B685-17CCB1B1D6EA}"/>
              </a:ext>
            </a:extLst>
          </p:cNvPr>
          <p:cNvSpPr txBox="1"/>
          <p:nvPr/>
        </p:nvSpPr>
        <p:spPr>
          <a:xfrm>
            <a:off x="5486248" y="1841004"/>
            <a:ext cx="63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eliminate strategy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using the payoff matrix?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FFBAE-2AA1-1EA3-87E3-1B4B27BDA8DD}"/>
              </a:ext>
            </a:extLst>
          </p:cNvPr>
          <p:cNvSpPr txBox="1"/>
          <p:nvPr/>
        </p:nvSpPr>
        <p:spPr>
          <a:xfrm>
            <a:off x="5742932" y="2939808"/>
            <a:ext cx="6060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are allowed to eliminate strictly dominated strategies; the dominant strategies can be mixed strategies!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9E7F89-B509-F269-DB9D-9EAE501BAC99}"/>
              </a:ext>
            </a:extLst>
          </p:cNvPr>
          <p:cNvSpPr txBox="1"/>
          <p:nvPr/>
        </p:nvSpPr>
        <p:spPr>
          <a:xfrm>
            <a:off x="5815781" y="4407944"/>
            <a:ext cx="5987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If strategy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can be strictly dominated by a convex hull of other strategies, then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can be eliminated</a:t>
            </a:r>
          </a:p>
        </p:txBody>
      </p:sp>
    </p:spTree>
    <p:extLst>
      <p:ext uri="{BB962C8B-B14F-4D97-AF65-F5344CB8AC3E}">
        <p14:creationId xmlns:p14="http://schemas.microsoft.com/office/powerpoint/2010/main" val="235754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ADFC-D0EB-4B61-AF14-502B322B9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DC35D3-E1F0-4FCA-9ECB-70B6534EC7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AEF2D-6E8A-5844-2CE8-6A564BF844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C781B-97A3-C726-3E30-5D77168316DA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A7D6A-021A-1339-9D1A-1F9110AD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8D133-A2AF-B45D-7B46-7BF52C50E7D9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BD05-31AC-ADCB-CDB5-23C0E9F41336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F6811-CC95-9919-0F95-FD164E7ABC67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0BDA2-F6D3-7871-6893-9679397DC5E0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2B334-F8B3-28FD-97BD-67BAAF6EC323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5AFE2-8CFD-2422-062D-48F93D5610C8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A0E36-5711-204B-1DE2-1C684B5288CC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A67D2-32F6-FF33-43A6-5800010FAE73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FDC459-BD58-E348-C9FC-6BF035B24920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E6FE1-0A8F-D4FD-6A06-B111B25CC7D0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5B050-2BB7-C277-326F-80B806ADCE7A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29CE8B-5172-0653-DE4C-562FF4BA2F50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A0668F-8513-7B41-8541-F0F710F4FA8A}"/>
                  </a:ext>
                </a:extLst>
              </p:cNvPr>
              <p:cNvSpPr txBox="1"/>
              <p:nvPr/>
            </p:nvSpPr>
            <p:spPr>
              <a:xfrm>
                <a:off x="5879691" y="1841004"/>
                <a:ext cx="6115664" cy="144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We can describe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 </a:t>
                </a:r>
                <a:r>
                  <a:rPr lang="en-US" sz="2400" dirty="0"/>
                  <a:t>as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A0668F-8513-7B41-8541-F0F710F4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91" y="1841004"/>
                <a:ext cx="6115664" cy="1446806"/>
              </a:xfrm>
              <a:prstGeom prst="rect">
                <a:avLst/>
              </a:prstGeom>
              <a:blipFill>
                <a:blip r:embed="rId4"/>
                <a:stretch>
                  <a:fillRect t="-3376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26414A7-5EE0-BDC0-862A-C2CA197122D1}"/>
              </a:ext>
            </a:extLst>
          </p:cNvPr>
          <p:cNvSpPr txBox="1"/>
          <p:nvPr/>
        </p:nvSpPr>
        <p:spPr>
          <a:xfrm>
            <a:off x="5879691" y="3467117"/>
            <a:ext cx="6016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For this mixed strategy to dominate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, the following two inequalities must hold: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77E4-687D-E9A8-E00D-4E561999999A}"/>
                  </a:ext>
                </a:extLst>
              </p:cNvPr>
              <p:cNvSpPr txBox="1"/>
              <p:nvPr/>
            </p:nvSpPr>
            <p:spPr>
              <a:xfrm>
                <a:off x="5879691" y="4340131"/>
                <a:ext cx="601653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77E4-687D-E9A8-E00D-4E5619999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91" y="4340131"/>
                <a:ext cx="6016538" cy="830997"/>
              </a:xfrm>
              <a:prstGeom prst="rect">
                <a:avLst/>
              </a:prstGeom>
              <a:blipFill>
                <a:blip r:embed="rId5"/>
                <a:stretch>
                  <a:fillRect t="-441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81A710-024C-52A1-78FF-F740882E5E1E}"/>
                  </a:ext>
                </a:extLst>
              </p:cNvPr>
              <p:cNvSpPr txBox="1"/>
              <p:nvPr/>
            </p:nvSpPr>
            <p:spPr>
              <a:xfrm>
                <a:off x="5170008" y="5258069"/>
                <a:ext cx="6942530" cy="1355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Since these two inequalities hold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∈(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64EA1"/>
                    </a:solidFill>
                  </a:rPr>
                  <a:t>C </a:t>
                </a:r>
                <a:r>
                  <a:rPr lang="en-US" sz="2400" dirty="0"/>
                  <a:t>is strictly dominated by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</a:t>
                </a:r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81A710-024C-52A1-78FF-F740882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008" y="5258069"/>
                <a:ext cx="6942530" cy="1355820"/>
              </a:xfrm>
              <a:prstGeom prst="rect">
                <a:avLst/>
              </a:prstGeom>
              <a:blipFill>
                <a:blip r:embed="rId6"/>
                <a:stretch>
                  <a:fillRect r="-105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63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5372-A4DA-6247-E50B-6A321E89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74FFD5-92A0-1D8D-A25F-7E117E69124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60794-A965-D2C9-00AB-B436DBD5033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3F7DE-3714-2F7D-6C42-A48441C33169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ACB365-F5AA-BB90-6F3F-06B4DE0F397F}"/>
              </a:ext>
            </a:extLst>
          </p:cNvPr>
          <p:cNvSpPr txBox="1"/>
          <p:nvPr/>
        </p:nvSpPr>
        <p:spPr>
          <a:xfrm>
            <a:off x="501445" y="1779638"/>
            <a:ext cx="10776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Does every zero-sum game with a 2 x 3 payoff matrix have a Player 2 strategy that’s strictly dominated by a convex hull of the other strategies?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DB615-54B5-85CE-E40B-F40960351B53}"/>
              </a:ext>
            </a:extLst>
          </p:cNvPr>
          <p:cNvSpPr txBox="1"/>
          <p:nvPr/>
        </p:nvSpPr>
        <p:spPr>
          <a:xfrm>
            <a:off x="232325" y="2832689"/>
            <a:ext cx="1172735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Claim: A Player 2 strategy cannot be strictly dominated if it contains a row minimum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34A71-C114-1F12-0861-9C22C1F5E7A3}"/>
                  </a:ext>
                </a:extLst>
              </p:cNvPr>
              <p:cNvSpPr txBox="1"/>
              <p:nvPr/>
            </p:nvSpPr>
            <p:spPr>
              <a:xfrm>
                <a:off x="0" y="3563647"/>
                <a:ext cx="12287788" cy="333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Proof: Consider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en-US" sz="2400" dirty="0"/>
                  <a:t>Player 2 strategy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and Player 1 strategy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2400" dirty="0"/>
                  <a:t> for all columns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  <a:p>
                <a:pPr lvl="1" algn="ctr"/>
                <a:r>
                  <a:rPr lang="en-US" sz="2400" dirty="0"/>
                  <a:t>For Column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to be strictly dominated by a convex hull of other strategies,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  <a:p>
                <a:pPr lvl="1" algn="ctr"/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e>
                    </m:fun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34A71-C114-1F12-0861-9C22C1F5E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63647"/>
                <a:ext cx="12287788" cy="3336939"/>
              </a:xfrm>
              <a:prstGeom prst="rect">
                <a:avLst/>
              </a:prstGeom>
              <a:blipFill>
                <a:blip r:embed="rId3"/>
                <a:stretch>
                  <a:fillRect t="-1097" b="-8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2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003B-984A-E3A8-BAA0-C4F83A6A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5DCD57-6CAF-FCEB-CFB8-C7E245D95AD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F715B-2EC4-5D00-A58E-5CB214AA2DC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F0741-E328-D0F7-F848-AB9741A7D2CE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D9E51-B06D-D836-139C-0044B2F52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3F8ED5-26A4-823A-F2AE-E28D64172167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FABE3-9671-53BF-B758-C48A255E0E01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6B3F1-46A0-38A5-537E-68FEBDF35E19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A9E6C-A9E2-427D-891F-971E727CDFD5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5C3F2-3003-99DC-6753-518D4CF30248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A3F12-9A27-3585-5598-50761CE09190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7B93A-2B21-0E5C-3616-93F3F4D4C69F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1FD03-969E-DB6C-0365-82F36FA52F65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EBE9A-CE08-9491-03A1-B4759815E553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1F27F0-2646-92C4-BA16-77593075F19E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148D4-2985-829F-C265-83E06E95071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03CF3-DC64-7C11-A43B-A5BE8F430809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27247-5118-9500-C562-9DFC99D64DB5}"/>
              </a:ext>
            </a:extLst>
          </p:cNvPr>
          <p:cNvSpPr txBox="1"/>
          <p:nvPr/>
        </p:nvSpPr>
        <p:spPr>
          <a:xfrm>
            <a:off x="501445" y="1779638"/>
            <a:ext cx="10776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Does every zero-sum game with a 2 x 3 payoff matrix have a Player 2 strategy that’s strictly dominated by a convex hull of the other strategies?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9968A-393C-38AC-CCCC-7D6E55A32106}"/>
              </a:ext>
            </a:extLst>
          </p:cNvPr>
          <p:cNvSpPr txBox="1"/>
          <p:nvPr/>
        </p:nvSpPr>
        <p:spPr>
          <a:xfrm>
            <a:off x="5486248" y="2940602"/>
            <a:ext cx="6268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Because </a:t>
            </a:r>
            <a:r>
              <a:rPr lang="en-US" sz="2400" dirty="0">
                <a:solidFill>
                  <a:srgbClr val="064EA1"/>
                </a:solidFill>
              </a:rPr>
              <a:t>A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64EA1"/>
                </a:solidFill>
              </a:rPr>
              <a:t> B </a:t>
            </a:r>
            <a:r>
              <a:rPr lang="en-US" sz="2400" dirty="0"/>
              <a:t>contain row minimums</a:t>
            </a:r>
            <a:r>
              <a:rPr lang="en-US" sz="2400" dirty="0">
                <a:solidFill>
                  <a:srgbClr val="064EA1"/>
                </a:solidFill>
              </a:rPr>
              <a:t>, </a:t>
            </a:r>
            <a:r>
              <a:rPr lang="en-US" sz="2400" dirty="0"/>
              <a:t>the only strategy that could be strictly dominated in this example is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FBC979-900E-D7BC-F84A-AA819623CAB5}"/>
                  </a:ext>
                </a:extLst>
              </p:cNvPr>
              <p:cNvSpPr txBox="1"/>
              <p:nvPr/>
            </p:nvSpPr>
            <p:spPr>
              <a:xfrm>
                <a:off x="5675609" y="4393197"/>
                <a:ext cx="6115664" cy="1488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We can describe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 </a:t>
                </a:r>
                <a:r>
                  <a:rPr lang="en-US" sz="2400" dirty="0"/>
                  <a:t>as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FBC979-900E-D7BC-F84A-AA819623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609" y="4393197"/>
                <a:ext cx="6115664" cy="1488293"/>
              </a:xfrm>
              <a:prstGeom prst="rect">
                <a:avLst/>
              </a:prstGeom>
              <a:blipFill>
                <a:blip r:embed="rId4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38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99DA-650A-7E43-35E1-C6E2D4F2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C92C31-46B2-F466-3CB6-CE171D4425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02BA89-3C65-7880-5013-AEBD1AC063A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2BB1B-5955-858C-92A0-1BE2FBA1B98B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B064E-2E63-C03F-57B9-3DB1B50B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BAC92B-EFFB-29E9-0F21-49BB7932D687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11E3C-CF4C-D9F1-2B42-1011FCD28C6B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A64B2-8FF9-C6D6-F514-A0D686F98794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46040-C769-72E8-C07A-A2AD2F38DA75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A2F50-D5DF-4461-9C3C-6DA2656D91E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A45C6-3044-F1B9-071D-A88B95C826C0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D1FA1-2B2F-78D2-4021-37E991DECC1B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F1F5C-B9C9-2901-A10B-717823CBC948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EC1E1-6184-E940-73A5-118603BE57DB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D5EED6-C34B-E308-DB5F-D9C698709AB7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B002F6-8EA5-350D-F7E4-8885C065CCF2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A0434-1A0F-0AB2-F279-9A82593ED42D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78380-AB72-96E5-D3FE-DF31485C4CFE}"/>
              </a:ext>
            </a:extLst>
          </p:cNvPr>
          <p:cNvSpPr txBox="1"/>
          <p:nvPr/>
        </p:nvSpPr>
        <p:spPr>
          <a:xfrm>
            <a:off x="5860919" y="1816688"/>
            <a:ext cx="6016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For a mixed strategy of </a:t>
            </a:r>
            <a:r>
              <a:rPr lang="en-US" sz="2400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to dominate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, the following two inequalities must hold: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CC033C-1C10-9D48-978A-81A5BD72E7DD}"/>
                  </a:ext>
                </a:extLst>
              </p:cNvPr>
              <p:cNvSpPr txBox="1"/>
              <p:nvPr/>
            </p:nvSpPr>
            <p:spPr>
              <a:xfrm>
                <a:off x="5860919" y="3122892"/>
                <a:ext cx="6016538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CC033C-1C10-9D48-978A-81A5BD72E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919" y="3122892"/>
                <a:ext cx="6016538" cy="907941"/>
              </a:xfrm>
              <a:prstGeom prst="rect">
                <a:avLst/>
              </a:prstGeom>
              <a:blipFill>
                <a:blip r:embed="rId4"/>
                <a:stretch>
                  <a:fillRect t="-4027" b="-1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395FDC-B434-8118-8037-5C05505B7FDA}"/>
                  </a:ext>
                </a:extLst>
              </p:cNvPr>
              <p:cNvSpPr txBox="1"/>
              <p:nvPr/>
            </p:nvSpPr>
            <p:spPr>
              <a:xfrm>
                <a:off x="6096000" y="4410257"/>
                <a:ext cx="6016538" cy="121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1+99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&lt;2       ⇒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100−99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395FDC-B434-8118-8037-5C05505B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10257"/>
                <a:ext cx="6016538" cy="1217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6EB7531-9A28-99CB-19C8-69952B5468C4}"/>
              </a:ext>
            </a:extLst>
          </p:cNvPr>
          <p:cNvSpPr txBox="1"/>
          <p:nvPr/>
        </p:nvSpPr>
        <p:spPr>
          <a:xfrm>
            <a:off x="6096000" y="4059764"/>
            <a:ext cx="6016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But this requires that: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168EB1-BB8E-7EEE-A949-9B3D463C509B}"/>
              </a:ext>
            </a:extLst>
          </p:cNvPr>
          <p:cNvSpPr txBox="1"/>
          <p:nvPr/>
        </p:nvSpPr>
        <p:spPr>
          <a:xfrm>
            <a:off x="5249023" y="5746917"/>
            <a:ext cx="7240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No mixed strategy of </a:t>
            </a:r>
            <a:r>
              <a:rPr lang="en-US" sz="2400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to dominates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7039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1BEC-F39F-D2AD-79F9-4218AD60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864BEA-022F-2BED-3426-9FB30D1F484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3F307-0D94-9B3D-EAE4-F852CE96456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26F6E-8B6A-37AD-62DA-A644CC117C5F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4E732-E852-4E14-0C6E-79851D6E9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3" y="329515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B4424-83BE-DAFA-EFBC-52FD02680C32}"/>
              </a:ext>
            </a:extLst>
          </p:cNvPr>
          <p:cNvSpPr txBox="1"/>
          <p:nvPr/>
        </p:nvSpPr>
        <p:spPr>
          <a:xfrm>
            <a:off x="18437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A5D8E-0611-D872-C680-105691651A81}"/>
              </a:ext>
            </a:extLst>
          </p:cNvPr>
          <p:cNvSpPr txBox="1"/>
          <p:nvPr/>
        </p:nvSpPr>
        <p:spPr>
          <a:xfrm>
            <a:off x="31391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DD301-8DD6-C602-BB14-7F5CC5088E6E}"/>
              </a:ext>
            </a:extLst>
          </p:cNvPr>
          <p:cNvSpPr txBox="1"/>
          <p:nvPr/>
        </p:nvSpPr>
        <p:spPr>
          <a:xfrm>
            <a:off x="4434574" y="423343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E061F-5213-3397-CD35-C58FEFF9C017}"/>
              </a:ext>
            </a:extLst>
          </p:cNvPr>
          <p:cNvSpPr txBox="1"/>
          <p:nvPr/>
        </p:nvSpPr>
        <p:spPr>
          <a:xfrm>
            <a:off x="18437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7712-E71A-B1C7-FC36-5DA5EAEADAFB}"/>
              </a:ext>
            </a:extLst>
          </p:cNvPr>
          <p:cNvSpPr txBox="1"/>
          <p:nvPr/>
        </p:nvSpPr>
        <p:spPr>
          <a:xfrm>
            <a:off x="31391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AF815-B785-6C3A-2A41-E3A185872A3B}"/>
              </a:ext>
            </a:extLst>
          </p:cNvPr>
          <p:cNvSpPr txBox="1"/>
          <p:nvPr/>
        </p:nvSpPr>
        <p:spPr>
          <a:xfrm>
            <a:off x="4434574" y="486590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4EAB9-4552-C95D-E350-A0A029AF5DA6}"/>
              </a:ext>
            </a:extLst>
          </p:cNvPr>
          <p:cNvSpPr txBox="1"/>
          <p:nvPr/>
        </p:nvSpPr>
        <p:spPr>
          <a:xfrm>
            <a:off x="18437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339FC-570C-441E-ACCA-35F23F33FD2D}"/>
              </a:ext>
            </a:extLst>
          </p:cNvPr>
          <p:cNvSpPr txBox="1"/>
          <p:nvPr/>
        </p:nvSpPr>
        <p:spPr>
          <a:xfrm>
            <a:off x="31391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CE7C0F-63D8-6B19-AB47-371B9835B97D}"/>
              </a:ext>
            </a:extLst>
          </p:cNvPr>
          <p:cNvSpPr txBox="1"/>
          <p:nvPr/>
        </p:nvSpPr>
        <p:spPr>
          <a:xfrm>
            <a:off x="4434574" y="424831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88F55-64C8-FAC1-93E3-EAF701614484}"/>
              </a:ext>
            </a:extLst>
          </p:cNvPr>
          <p:cNvSpPr txBox="1"/>
          <p:nvPr/>
        </p:nvSpPr>
        <p:spPr>
          <a:xfrm>
            <a:off x="18437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28424D-5581-9DA9-A6BF-644ECB492D08}"/>
              </a:ext>
            </a:extLst>
          </p:cNvPr>
          <p:cNvSpPr txBox="1"/>
          <p:nvPr/>
        </p:nvSpPr>
        <p:spPr>
          <a:xfrm>
            <a:off x="31391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BBB62-1389-2E69-A9F7-931F1AB527F0}"/>
              </a:ext>
            </a:extLst>
          </p:cNvPr>
          <p:cNvSpPr txBox="1"/>
          <p:nvPr/>
        </p:nvSpPr>
        <p:spPr>
          <a:xfrm>
            <a:off x="4434574" y="489092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F03F1-5AEE-8CEB-7589-FB8889C32018}"/>
              </a:ext>
            </a:extLst>
          </p:cNvPr>
          <p:cNvSpPr txBox="1"/>
          <p:nvPr/>
        </p:nvSpPr>
        <p:spPr>
          <a:xfrm>
            <a:off x="1398577" y="1841004"/>
            <a:ext cx="86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find the Nash equilibrium for this game?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63CB19-9AFA-8EAC-DAC2-4BC9AB1647B1}"/>
              </a:ext>
            </a:extLst>
          </p:cNvPr>
          <p:cNvCxnSpPr>
            <a:cxnSpLocks/>
          </p:cNvCxnSpPr>
          <p:nvPr/>
        </p:nvCxnSpPr>
        <p:spPr>
          <a:xfrm flipH="1">
            <a:off x="6440617" y="5356102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62C9F4-B48A-2C8E-78EF-E84797B396FF}"/>
              </a:ext>
            </a:extLst>
          </p:cNvPr>
          <p:cNvCxnSpPr>
            <a:cxnSpLocks/>
          </p:cNvCxnSpPr>
          <p:nvPr/>
        </p:nvCxnSpPr>
        <p:spPr>
          <a:xfrm flipH="1">
            <a:off x="6440612" y="2943017"/>
            <a:ext cx="4721245" cy="2252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69E058-35C7-7FCD-7C92-3F7B276CB4E3}"/>
              </a:ext>
            </a:extLst>
          </p:cNvPr>
          <p:cNvCxnSpPr>
            <a:cxnSpLocks/>
          </p:cNvCxnSpPr>
          <p:nvPr/>
        </p:nvCxnSpPr>
        <p:spPr>
          <a:xfrm flipH="1">
            <a:off x="6436978" y="4754488"/>
            <a:ext cx="4724879" cy="2502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79C4E-3F6B-E0FE-DED3-E3E1324D0B56}"/>
                  </a:ext>
                </a:extLst>
              </p:cNvPr>
              <p:cNvSpPr txBox="1"/>
              <p:nvPr/>
            </p:nvSpPr>
            <p:spPr>
              <a:xfrm>
                <a:off x="11076526" y="5067001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79C4E-3F6B-E0FE-DED3-E3E1324D0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6526" y="5067001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3199266-C35A-B8CD-CCCA-509D9E8B0601}"/>
              </a:ext>
            </a:extLst>
          </p:cNvPr>
          <p:cNvSpPr txBox="1"/>
          <p:nvPr/>
        </p:nvSpPr>
        <p:spPr>
          <a:xfrm>
            <a:off x="6028463" y="2435455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8D1A6-A6F7-AC2F-064D-D470B127C8C0}"/>
              </a:ext>
            </a:extLst>
          </p:cNvPr>
          <p:cNvSpPr txBox="1"/>
          <p:nvPr/>
        </p:nvSpPr>
        <p:spPr>
          <a:xfrm>
            <a:off x="9735847" y="4075728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627055-1585-0820-EA6E-8F8061C17084}"/>
              </a:ext>
            </a:extLst>
          </p:cNvPr>
          <p:cNvSpPr txBox="1"/>
          <p:nvPr/>
        </p:nvSpPr>
        <p:spPr>
          <a:xfrm>
            <a:off x="11069353" y="4443331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28CCCE-576C-C11E-FC35-3DFBEEB9FF0C}"/>
              </a:ext>
            </a:extLst>
          </p:cNvPr>
          <p:cNvSpPr txBox="1"/>
          <p:nvPr/>
        </p:nvSpPr>
        <p:spPr>
          <a:xfrm>
            <a:off x="11038969" y="2571017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FD5D2C3-C616-65A8-6A87-EC53765CD168}"/>
              </a:ext>
            </a:extLst>
          </p:cNvPr>
          <p:cNvCxnSpPr>
            <a:cxnSpLocks/>
          </p:cNvCxnSpPr>
          <p:nvPr/>
        </p:nvCxnSpPr>
        <p:spPr>
          <a:xfrm flipV="1">
            <a:off x="10521939" y="5278313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C1FF15-F991-9C00-538A-A741AAD6E144}"/>
              </a:ext>
            </a:extLst>
          </p:cNvPr>
          <p:cNvCxnSpPr>
            <a:cxnSpLocks/>
          </p:cNvCxnSpPr>
          <p:nvPr/>
        </p:nvCxnSpPr>
        <p:spPr>
          <a:xfrm flipH="1">
            <a:off x="6436978" y="4961589"/>
            <a:ext cx="465267" cy="2370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402440-48D7-28C3-B2CB-366D9F6B5544}"/>
                  </a:ext>
                </a:extLst>
              </p:cNvPr>
              <p:cNvSpPr txBox="1"/>
              <p:nvPr/>
            </p:nvSpPr>
            <p:spPr>
              <a:xfrm>
                <a:off x="5951658" y="3155792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402440-48D7-28C3-B2CB-366D9F6B5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658" y="3155792"/>
                <a:ext cx="234864" cy="461665"/>
              </a:xfrm>
              <a:prstGeom prst="rect">
                <a:avLst/>
              </a:prstGeom>
              <a:blipFill>
                <a:blip r:embed="rId5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AFFD2-B736-108A-C939-A39E6A718E28}"/>
                  </a:ext>
                </a:extLst>
              </p:cNvPr>
              <p:cNvSpPr txBox="1"/>
              <p:nvPr/>
            </p:nvSpPr>
            <p:spPr>
              <a:xfrm>
                <a:off x="10181130" y="5433892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.98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AFFD2-B736-108A-C939-A39E6A718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1130" y="5433892"/>
                <a:ext cx="234864" cy="461665"/>
              </a:xfrm>
              <a:prstGeom prst="rect">
                <a:avLst/>
              </a:prstGeom>
              <a:blipFill>
                <a:blip r:embed="rId6"/>
                <a:stretch>
                  <a:fillRect r="-16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4F4DEE-CF42-95A7-9CD6-9A08FEA67DE4}"/>
                  </a:ext>
                </a:extLst>
              </p:cNvPr>
              <p:cNvSpPr txBox="1"/>
              <p:nvPr/>
            </p:nvSpPr>
            <p:spPr>
              <a:xfrm>
                <a:off x="5951614" y="4233245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4F4DEE-CF42-95A7-9CD6-9A08FEA67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614" y="4233245"/>
                <a:ext cx="262767" cy="461665"/>
              </a:xfrm>
              <a:prstGeom prst="rect">
                <a:avLst/>
              </a:prstGeom>
              <a:blipFill>
                <a:blip r:embed="rId7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6FBBB1-1F42-A8FD-5577-C48960127140}"/>
                  </a:ext>
                </a:extLst>
              </p:cNvPr>
              <p:cNvSpPr txBox="1"/>
              <p:nvPr/>
            </p:nvSpPr>
            <p:spPr>
              <a:xfrm>
                <a:off x="5486248" y="5732581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6FBBB1-1F42-A8FD-5577-C4896012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5732581"/>
                <a:ext cx="954366" cy="461665"/>
              </a:xfrm>
              <a:prstGeom prst="rect">
                <a:avLst/>
              </a:prstGeom>
              <a:blipFill>
                <a:blip r:embed="rId8"/>
                <a:stretch>
                  <a:fillRect r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E29DBF-A5A4-DFDE-FE6F-3B54E76A5266}"/>
              </a:ext>
            </a:extLst>
          </p:cNvPr>
          <p:cNvCxnSpPr>
            <a:cxnSpLocks/>
          </p:cNvCxnSpPr>
          <p:nvPr/>
        </p:nvCxnSpPr>
        <p:spPr>
          <a:xfrm>
            <a:off x="6440614" y="2897120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DEA8BD-D0F0-EF00-9C1F-3CBDE4D669A4}"/>
              </a:ext>
            </a:extLst>
          </p:cNvPr>
          <p:cNvCxnSpPr>
            <a:cxnSpLocks/>
          </p:cNvCxnSpPr>
          <p:nvPr/>
        </p:nvCxnSpPr>
        <p:spPr>
          <a:xfrm flipH="1" flipV="1">
            <a:off x="6419374" y="3085090"/>
            <a:ext cx="4624980" cy="19565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0C8F4FA-E696-91EE-96FC-B8254F89C678}"/>
              </a:ext>
            </a:extLst>
          </p:cNvPr>
          <p:cNvCxnSpPr>
            <a:cxnSpLocks/>
          </p:cNvCxnSpPr>
          <p:nvPr/>
        </p:nvCxnSpPr>
        <p:spPr>
          <a:xfrm flipH="1">
            <a:off x="6883941" y="4784730"/>
            <a:ext cx="3557917" cy="19965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5A0616-3710-8BAD-DD48-BD0DD994F3EB}"/>
              </a:ext>
            </a:extLst>
          </p:cNvPr>
          <p:cNvCxnSpPr>
            <a:cxnSpLocks/>
          </p:cNvCxnSpPr>
          <p:nvPr/>
        </p:nvCxnSpPr>
        <p:spPr>
          <a:xfrm>
            <a:off x="10441858" y="4784730"/>
            <a:ext cx="602496" cy="25530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B179DF-D322-20B4-CDBB-AD3CD977281E}"/>
                  </a:ext>
                </a:extLst>
              </p:cNvPr>
              <p:cNvSpPr txBox="1"/>
              <p:nvPr/>
            </p:nvSpPr>
            <p:spPr>
              <a:xfrm>
                <a:off x="5486247" y="6105752"/>
                <a:ext cx="7065357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At Nash Equilibrium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B179DF-D322-20B4-CDBB-AD3CD9772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7" y="6105752"/>
                <a:ext cx="7065357" cy="784830"/>
              </a:xfrm>
              <a:prstGeom prst="rect">
                <a:avLst/>
              </a:prstGeom>
              <a:blipFill>
                <a:blip r:embed="rId9"/>
                <a:stretch>
                  <a:fillRect t="-3906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45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9711-23B8-B78B-3EBA-7319EE83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81FD2E-6753-97AC-2F2C-ABBA350B51C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981C8-01F7-A4FA-B675-87B6AD3438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56C5-27E8-E79D-B315-4123DFD507B0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1EABA-56A9-E6EB-F6C8-8ABBC1223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8670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A26AE1-7DF3-0A7D-35A6-C1C93621CC19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EE5A0-3E56-9831-0E5C-C604B1C81C78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29075-783D-0D4B-FC8D-5DC61EC4B74D}"/>
              </a:ext>
            </a:extLst>
          </p:cNvPr>
          <p:cNvSpPr txBox="1"/>
          <p:nvPr/>
        </p:nvSpPr>
        <p:spPr>
          <a:xfrm>
            <a:off x="4258171" y="39469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ECE8A-AB82-85DF-4C38-B846F7F4DEFF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DA38F-2825-DD52-49A3-4898D24B82C0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8289D-6C1F-CA38-1B57-EE1D451D49DC}"/>
              </a:ext>
            </a:extLst>
          </p:cNvPr>
          <p:cNvSpPr txBox="1"/>
          <p:nvPr/>
        </p:nvSpPr>
        <p:spPr>
          <a:xfrm>
            <a:off x="4258171" y="45794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23FF3-41E3-474A-29C6-78B3DC9B5DFF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B3B97-E4DD-CFEB-FEDC-7B9DB5E4A5ED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4DA16-2815-03A2-74F7-FC65B62212BF}"/>
              </a:ext>
            </a:extLst>
          </p:cNvPr>
          <p:cNvSpPr txBox="1"/>
          <p:nvPr/>
        </p:nvSpPr>
        <p:spPr>
          <a:xfrm>
            <a:off x="4258171" y="396183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A43ED-B29F-6D57-AFDB-B6F9D703760F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E2069-2D30-1C9E-9FC7-2ED42BC83C66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85CA5-899D-9908-FFF8-5396E999589E}"/>
              </a:ext>
            </a:extLst>
          </p:cNvPr>
          <p:cNvSpPr txBox="1"/>
          <p:nvPr/>
        </p:nvSpPr>
        <p:spPr>
          <a:xfrm>
            <a:off x="4258171" y="460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6A89-C23B-0469-AE12-A167F16BA058}"/>
              </a:ext>
            </a:extLst>
          </p:cNvPr>
          <p:cNvSpPr txBox="1"/>
          <p:nvPr/>
        </p:nvSpPr>
        <p:spPr>
          <a:xfrm>
            <a:off x="1398577" y="1841004"/>
            <a:ext cx="86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now use the </a:t>
            </a:r>
            <a:r>
              <a:rPr lang="en-US" sz="2400" b="1" dirty="0"/>
              <a:t>Strong Minimax Theorem</a:t>
            </a:r>
            <a:r>
              <a:rPr lang="en-US" sz="2400" dirty="0"/>
              <a:t>: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E32A2-3B65-6436-D7F2-6A91D9832B59}"/>
                  </a:ext>
                </a:extLst>
              </p:cNvPr>
              <p:cNvSpPr txBox="1"/>
              <p:nvPr/>
            </p:nvSpPr>
            <p:spPr>
              <a:xfrm>
                <a:off x="2177844" y="2350357"/>
                <a:ext cx="7585588" cy="523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E32A2-3B65-6436-D7F2-6A91D9832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844" y="2350357"/>
                <a:ext cx="7585588" cy="523477"/>
              </a:xfrm>
              <a:prstGeom prst="rect">
                <a:avLst/>
              </a:prstGeom>
              <a:blipFill>
                <a:blip r:embed="rId4"/>
                <a:stretch>
                  <a:fillRect t="-3529" b="-2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907099-05F9-DD68-1315-F593EFACCC48}"/>
                  </a:ext>
                </a:extLst>
              </p:cNvPr>
              <p:cNvSpPr txBox="1"/>
              <p:nvPr/>
            </p:nvSpPr>
            <p:spPr>
              <a:xfrm>
                <a:off x="6425706" y="3033035"/>
                <a:ext cx="4468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907099-05F9-DD68-1315-F593EFAC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706" y="3033035"/>
                <a:ext cx="4468436" cy="461665"/>
              </a:xfrm>
              <a:prstGeom prst="rect">
                <a:avLst/>
              </a:prstGeom>
              <a:blipFill>
                <a:blip r:embed="rId5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A4DEE4-B9B4-3293-9717-267F1D26F421}"/>
                  </a:ext>
                </a:extLst>
              </p:cNvPr>
              <p:cNvSpPr txBox="1"/>
              <p:nvPr/>
            </p:nvSpPr>
            <p:spPr>
              <a:xfrm>
                <a:off x="5486248" y="3368466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𝑖𝐴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=98.02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A4DEE4-B9B4-3293-9717-267F1D26F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3368466"/>
                <a:ext cx="7585588" cy="1130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C0D8C1-A5D7-A338-EE64-7693885797E1}"/>
                  </a:ext>
                </a:extLst>
              </p:cNvPr>
              <p:cNvSpPr txBox="1"/>
              <p:nvPr/>
            </p:nvSpPr>
            <p:spPr>
              <a:xfrm>
                <a:off x="5486248" y="4539659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𝑖𝐵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=2.98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C0D8C1-A5D7-A338-EE64-76938857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4539659"/>
                <a:ext cx="7585588" cy="1130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B85FC6-0A61-2550-2BF6-FC312DD685D5}"/>
                  </a:ext>
                </a:extLst>
              </p:cNvPr>
              <p:cNvSpPr txBox="1"/>
              <p:nvPr/>
            </p:nvSpPr>
            <p:spPr>
              <a:xfrm>
                <a:off x="5486248" y="5738381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𝑖𝐶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=2.98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B85FC6-0A61-2550-2BF6-FC312DD6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5738381"/>
                <a:ext cx="7585588" cy="1130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23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29AF-B113-ADAC-7FA6-114D30F4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2667EA-44BC-535E-548A-C1DC9526124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A362F-6218-9052-764A-BFB60D6AFF6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16876-6DD1-3D96-093C-FD36E20BC17D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B5EF1-DC69-90A4-4A67-665F76D2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8670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7E6866-75C4-8739-5A61-6450821CEA43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4D89A-97C1-469E-81CE-464D764001A0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33C73-0CF4-996C-DB70-735C781306CE}"/>
              </a:ext>
            </a:extLst>
          </p:cNvPr>
          <p:cNvSpPr txBox="1"/>
          <p:nvPr/>
        </p:nvSpPr>
        <p:spPr>
          <a:xfrm>
            <a:off x="4258171" y="39469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4307D-BAD2-F3FE-868F-4839E70F810D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C8868-167B-5261-8A2D-641F80C76916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9E4A8-1E61-8610-4BB9-9C19ACE22893}"/>
              </a:ext>
            </a:extLst>
          </p:cNvPr>
          <p:cNvSpPr txBox="1"/>
          <p:nvPr/>
        </p:nvSpPr>
        <p:spPr>
          <a:xfrm>
            <a:off x="4258171" y="45794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CD0AE-4AFA-E0EE-E31C-FF6211BC096A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248E7-EAFA-458D-B9E4-227C10A58EC8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60A49F-278E-A521-383E-E9E9321C4B60}"/>
              </a:ext>
            </a:extLst>
          </p:cNvPr>
          <p:cNvSpPr txBox="1"/>
          <p:nvPr/>
        </p:nvSpPr>
        <p:spPr>
          <a:xfrm>
            <a:off x="4258171" y="396183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3BF07-3B5A-DB7B-BB63-783E0376A662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3D4D50-9F5D-1A12-4C08-E5D5FB9A1D7C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860DF-204B-99BA-B6C7-36A0E9EC4A76}"/>
              </a:ext>
            </a:extLst>
          </p:cNvPr>
          <p:cNvSpPr txBox="1"/>
          <p:nvPr/>
        </p:nvSpPr>
        <p:spPr>
          <a:xfrm>
            <a:off x="4258171" y="460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6EEBF1-8033-4505-5831-CA6D356F299D}"/>
                  </a:ext>
                </a:extLst>
              </p:cNvPr>
              <p:cNvSpPr txBox="1"/>
              <p:nvPr/>
            </p:nvSpPr>
            <p:spPr>
              <a:xfrm>
                <a:off x="6505278" y="1880931"/>
                <a:ext cx="4468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6EEBF1-8033-4505-5831-CA6D356F2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278" y="1880931"/>
                <a:ext cx="4468436" cy="461665"/>
              </a:xfrm>
              <a:prstGeom prst="rect">
                <a:avLst/>
              </a:prstGeom>
              <a:blipFill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F76B2E-AD80-9158-EE58-23D2622C3AA2}"/>
                  </a:ext>
                </a:extLst>
              </p:cNvPr>
              <p:cNvSpPr txBox="1"/>
              <p:nvPr/>
            </p:nvSpPr>
            <p:spPr>
              <a:xfrm>
                <a:off x="6124399" y="2471366"/>
                <a:ext cx="5651152" cy="95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𝑖𝐴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𝑖𝐵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𝑖𝐶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=2.98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F76B2E-AD80-9158-EE58-23D2622C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399" y="2471366"/>
                <a:ext cx="5651152" cy="957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8CE3A6-1A90-55A1-60C6-2DBEA474FA5E}"/>
                  </a:ext>
                </a:extLst>
              </p:cNvPr>
              <p:cNvSpPr txBox="1"/>
              <p:nvPr/>
            </p:nvSpPr>
            <p:spPr>
              <a:xfrm>
                <a:off x="6271913" y="3615266"/>
                <a:ext cx="53561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The Value of the Game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2.98</m:t>
                    </m:r>
                  </m:oMath>
                </a14:m>
                <a:r>
                  <a:rPr lang="en-US" sz="2400" dirty="0"/>
                  <a:t> and Strategy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</a:t>
                </a:r>
                <a:r>
                  <a:rPr lang="en-US" sz="2400" dirty="0"/>
                  <a:t> is eliminated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8CE3A6-1A90-55A1-60C6-2DBEA474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913" y="3615266"/>
                <a:ext cx="5356123" cy="830997"/>
              </a:xfrm>
              <a:prstGeom prst="rect">
                <a:avLst/>
              </a:prstGeom>
              <a:blipFill>
                <a:blip r:embed="rId6"/>
                <a:stretch>
                  <a:fillRect t="-5882" r="-11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FC132B0-F17B-0CA5-A9DE-5250AAB14F26}"/>
              </a:ext>
            </a:extLst>
          </p:cNvPr>
          <p:cNvSpPr txBox="1"/>
          <p:nvPr/>
        </p:nvSpPr>
        <p:spPr>
          <a:xfrm>
            <a:off x="5696725" y="4604590"/>
            <a:ext cx="65064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Player 2 chooses their strategy to make Player 1’s payoff consistent across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ACBEC-F9BF-8C06-A40F-BC9B41F6A164}"/>
                  </a:ext>
                </a:extLst>
              </p:cNvPr>
              <p:cNvSpPr txBox="1"/>
              <p:nvPr/>
            </p:nvSpPr>
            <p:spPr>
              <a:xfrm>
                <a:off x="6642016" y="5686147"/>
                <a:ext cx="47535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2’s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0,.01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ACBEC-F9BF-8C06-A40F-BC9B41F6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016" y="5686147"/>
                <a:ext cx="4753571" cy="461665"/>
              </a:xfrm>
              <a:prstGeom prst="rect">
                <a:avLst/>
              </a:prstGeom>
              <a:blipFill>
                <a:blip r:embed="rId7"/>
                <a:stretch>
                  <a:fillRect t="-10667" r="-38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19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D7D2-EF4C-3DD9-2F72-B2F26EE4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BFC265-F170-B7A0-CEBD-6B24A20525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81091-E8C5-0A65-FF1C-B80DC2BFC92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1200-780C-8EDB-F71D-CB832026ECA9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1EAF0-57BB-BCF5-E992-17EA149A5D5A}"/>
              </a:ext>
            </a:extLst>
          </p:cNvPr>
          <p:cNvSpPr txBox="1"/>
          <p:nvPr/>
        </p:nvSpPr>
        <p:spPr>
          <a:xfrm>
            <a:off x="-383458" y="1805574"/>
            <a:ext cx="935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Python library 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nashpy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has three methods of finding equilibria: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84DBA5-28FE-A430-FC7A-54D3879791BD}"/>
              </a:ext>
            </a:extLst>
          </p:cNvPr>
          <p:cNvSpPr txBox="1"/>
          <p:nvPr/>
        </p:nvSpPr>
        <p:spPr>
          <a:xfrm>
            <a:off x="-481780" y="2304721"/>
            <a:ext cx="410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ctr">
              <a:spcAft>
                <a:spcPts val="600"/>
              </a:spcAft>
              <a:buAutoNum type="arabicPeriod"/>
            </a:pPr>
            <a:r>
              <a:rPr lang="en-US" sz="2400" dirty="0"/>
              <a:t>Support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89245-CF0A-CD16-D7E9-739257CF0276}"/>
                  </a:ext>
                </a:extLst>
              </p:cNvPr>
              <p:cNvSpPr txBox="1"/>
              <p:nvPr/>
            </p:nvSpPr>
            <p:spPr>
              <a:xfrm>
                <a:off x="0" y="2762710"/>
                <a:ext cx="41059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,ℓ ∈[1, 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89245-CF0A-CD16-D7E9-739257CF0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62710"/>
                <a:ext cx="410595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ADE6B20-E9CD-7DFE-29CB-D27DE6902E30}"/>
                  </a:ext>
                </a:extLst>
              </p:cNvPr>
              <p:cNvSpPr txBox="1"/>
              <p:nvPr/>
            </p:nvSpPr>
            <p:spPr>
              <a:xfrm>
                <a:off x="537186" y="3212090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ADE6B20-E9CD-7DFE-29CB-D27DE6902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86" y="3212090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526" r="-101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807B9BB-0509-7B2B-B412-1E0348E466A7}"/>
              </a:ext>
            </a:extLst>
          </p:cNvPr>
          <p:cNvSpPr txBox="1"/>
          <p:nvPr/>
        </p:nvSpPr>
        <p:spPr>
          <a:xfrm>
            <a:off x="792826" y="3664215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D272B6-E4C7-AAFF-BE33-7AA52E421BF6}"/>
                  </a:ext>
                </a:extLst>
              </p:cNvPr>
              <p:cNvSpPr txBox="1"/>
              <p:nvPr/>
            </p:nvSpPr>
            <p:spPr>
              <a:xfrm>
                <a:off x="1315556" y="4108581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D272B6-E4C7-AAFF-BE33-7AA52E42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556" y="4108581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77D931-5831-EF5C-82D1-F8CD04DAF1A4}"/>
                  </a:ext>
                </a:extLst>
              </p:cNvPr>
              <p:cNvSpPr txBox="1"/>
              <p:nvPr/>
            </p:nvSpPr>
            <p:spPr>
              <a:xfrm>
                <a:off x="792826" y="4535581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77D931-5831-EF5C-82D1-F8CD04DAF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26" y="4535581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3D7604-3CCE-5D2B-958B-FCEA52C9E89A}"/>
                  </a:ext>
                </a:extLst>
              </p:cNvPr>
              <p:cNvSpPr txBox="1"/>
              <p:nvPr/>
            </p:nvSpPr>
            <p:spPr>
              <a:xfrm>
                <a:off x="466048" y="5466401"/>
                <a:ext cx="9871587" cy="1391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outside support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outside support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3D7604-3CCE-5D2B-958B-FCEA52C9E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48" y="5466401"/>
                <a:ext cx="9871587" cy="1391599"/>
              </a:xfrm>
              <a:prstGeom prst="rect">
                <a:avLst/>
              </a:prstGeom>
              <a:blipFill>
                <a:blip r:embed="rId7"/>
                <a:stretch>
                  <a:fillRect t="-3070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08A1E2-43F0-4BF6-B0AF-7A4825C465D5}"/>
                  </a:ext>
                </a:extLst>
              </p:cNvPr>
              <p:cNvSpPr txBox="1"/>
              <p:nvPr/>
            </p:nvSpPr>
            <p:spPr>
              <a:xfrm>
                <a:off x="537186" y="5004402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08A1E2-43F0-4BF6-B0AF-7A4825C46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86" y="5004402"/>
                <a:ext cx="6341806" cy="461665"/>
              </a:xfrm>
              <a:prstGeom prst="rect">
                <a:avLst/>
              </a:prstGeom>
              <a:blipFill>
                <a:blip r:embed="rId8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432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7ED8-A324-E8A1-D9AC-A8795F23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DEF4BA-52C1-4689-4460-1F6944DB619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53E42-7D76-473A-339D-7DA1AD043FE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6840A-8CD1-56BE-98C6-9A2C5E5D6891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1AC3F4-F38C-D13F-37DF-60C16170DD6A}"/>
              </a:ext>
            </a:extLst>
          </p:cNvPr>
          <p:cNvSpPr txBox="1"/>
          <p:nvPr/>
        </p:nvSpPr>
        <p:spPr>
          <a:xfrm>
            <a:off x="-383457" y="1805574"/>
            <a:ext cx="4817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Support Enumeration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A45001-4936-FF78-F4DA-9E7EA7B45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3316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B2C091-A0E7-1FA7-F07C-671EDA537860}"/>
              </a:ext>
            </a:extLst>
          </p:cNvPr>
          <p:cNvSpPr txBox="1"/>
          <p:nvPr/>
        </p:nvSpPr>
        <p:spPr>
          <a:xfrm>
            <a:off x="16673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21846-23FF-B1E7-FB72-BAE5FCCF1B36}"/>
              </a:ext>
            </a:extLst>
          </p:cNvPr>
          <p:cNvSpPr txBox="1"/>
          <p:nvPr/>
        </p:nvSpPr>
        <p:spPr>
          <a:xfrm>
            <a:off x="29627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9D24D-0EC5-A0C5-7CA5-4557C31ECAE5}"/>
              </a:ext>
            </a:extLst>
          </p:cNvPr>
          <p:cNvSpPr txBox="1"/>
          <p:nvPr/>
        </p:nvSpPr>
        <p:spPr>
          <a:xfrm>
            <a:off x="4258171" y="402160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A6E04-38B8-8CF8-8841-BF783AEE1B62}"/>
              </a:ext>
            </a:extLst>
          </p:cNvPr>
          <p:cNvSpPr txBox="1"/>
          <p:nvPr/>
        </p:nvSpPr>
        <p:spPr>
          <a:xfrm>
            <a:off x="16673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7BB44-B090-A5D1-8782-C3573A18CF8C}"/>
              </a:ext>
            </a:extLst>
          </p:cNvPr>
          <p:cNvSpPr txBox="1"/>
          <p:nvPr/>
        </p:nvSpPr>
        <p:spPr>
          <a:xfrm>
            <a:off x="29627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CED6F-5BFF-E419-B107-3F516A2D8066}"/>
              </a:ext>
            </a:extLst>
          </p:cNvPr>
          <p:cNvSpPr txBox="1"/>
          <p:nvPr/>
        </p:nvSpPr>
        <p:spPr>
          <a:xfrm>
            <a:off x="4258171" y="46540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5CE4B-25C7-693C-3560-1B0E40DCD52A}"/>
              </a:ext>
            </a:extLst>
          </p:cNvPr>
          <p:cNvSpPr txBox="1"/>
          <p:nvPr/>
        </p:nvSpPr>
        <p:spPr>
          <a:xfrm>
            <a:off x="16673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DB9E9-B3DE-54EE-50A6-9651D6689708}"/>
              </a:ext>
            </a:extLst>
          </p:cNvPr>
          <p:cNvSpPr txBox="1"/>
          <p:nvPr/>
        </p:nvSpPr>
        <p:spPr>
          <a:xfrm>
            <a:off x="29627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331DB-CA67-FD76-16D0-B966D241C1D7}"/>
              </a:ext>
            </a:extLst>
          </p:cNvPr>
          <p:cNvSpPr txBox="1"/>
          <p:nvPr/>
        </p:nvSpPr>
        <p:spPr>
          <a:xfrm>
            <a:off x="4258171" y="403647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A63D6-A557-2B8D-D555-733B2CA138E4}"/>
              </a:ext>
            </a:extLst>
          </p:cNvPr>
          <p:cNvSpPr txBox="1"/>
          <p:nvPr/>
        </p:nvSpPr>
        <p:spPr>
          <a:xfrm>
            <a:off x="16673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14341-EBCF-11E7-D9CA-FE67C890483F}"/>
              </a:ext>
            </a:extLst>
          </p:cNvPr>
          <p:cNvSpPr txBox="1"/>
          <p:nvPr/>
        </p:nvSpPr>
        <p:spPr>
          <a:xfrm>
            <a:off x="29627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2BD12-6464-784C-64D0-E75574BBCEAC}"/>
              </a:ext>
            </a:extLst>
          </p:cNvPr>
          <p:cNvSpPr txBox="1"/>
          <p:nvPr/>
        </p:nvSpPr>
        <p:spPr>
          <a:xfrm>
            <a:off x="4258171" y="467908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80A9-1187-0769-C1DD-CB4239ADBB96}"/>
                  </a:ext>
                </a:extLst>
              </p:cNvPr>
              <p:cNvSpPr txBox="1"/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Suppose we choose a support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1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80A9-1187-0769-C1DD-CB4239ADB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blipFill>
                <a:blip r:embed="rId4"/>
                <a:stretch>
                  <a:fillRect t="-10526" r="-85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A466ED42-11FB-6F9D-50AF-452258B9503E}"/>
              </a:ext>
            </a:extLst>
          </p:cNvPr>
          <p:cNvSpPr/>
          <p:nvPr/>
        </p:nvSpPr>
        <p:spPr>
          <a:xfrm>
            <a:off x="5664487" y="4021601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4466AA-A919-C629-0CAB-830DDB025A7E}"/>
                  </a:ext>
                </a:extLst>
              </p:cNvPr>
              <p:cNvSpPr txBox="1"/>
              <p:nvPr/>
            </p:nvSpPr>
            <p:spPr>
              <a:xfrm>
                <a:off x="7449426" y="3370014"/>
                <a:ext cx="3394584" cy="958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4466AA-A919-C629-0CAB-830DDB02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426" y="3370014"/>
                <a:ext cx="3394584" cy="958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74E5B5-66D4-CE36-E21A-ED1E3E25A38E}"/>
                  </a:ext>
                </a:extLst>
              </p:cNvPr>
              <p:cNvSpPr txBox="1"/>
              <p:nvPr/>
            </p:nvSpPr>
            <p:spPr>
              <a:xfrm>
                <a:off x="6833585" y="5061081"/>
                <a:ext cx="462626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74E5B5-66D4-CE36-E21A-ED1E3E25A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585" y="5061081"/>
                <a:ext cx="4626266" cy="7184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5954DF-BD67-88F2-5EF8-8DDC31FA9B5E}"/>
                  </a:ext>
                </a:extLst>
              </p:cNvPr>
              <p:cNvSpPr txBox="1"/>
              <p:nvPr/>
            </p:nvSpPr>
            <p:spPr>
              <a:xfrm>
                <a:off x="7921711" y="4417048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5954DF-BD67-88F2-5EF8-8DDC31FA9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711" y="4417048"/>
                <a:ext cx="2496472" cy="531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791FD-5AF4-2D98-94B3-2962586CFA10}"/>
                  </a:ext>
                </a:extLst>
              </p:cNvPr>
              <p:cNvSpPr txBox="1"/>
              <p:nvPr/>
            </p:nvSpPr>
            <p:spPr>
              <a:xfrm>
                <a:off x="7898482" y="5854644"/>
                <a:ext cx="249647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791FD-5AF4-2D98-94B3-2962586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482" y="5854644"/>
                <a:ext cx="2496472" cy="5280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5190CC3A-E40D-8438-F26E-8E90E59D24CA}"/>
              </a:ext>
            </a:extLst>
          </p:cNvPr>
          <p:cNvSpPr/>
          <p:nvPr/>
        </p:nvSpPr>
        <p:spPr>
          <a:xfrm>
            <a:off x="1773817" y="4046607"/>
            <a:ext cx="1050995" cy="120236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D0B914-28EA-EC80-7414-A8571EFE6B95}"/>
              </a:ext>
            </a:extLst>
          </p:cNvPr>
          <p:cNvSpPr/>
          <p:nvPr/>
        </p:nvSpPr>
        <p:spPr>
          <a:xfrm>
            <a:off x="4346711" y="4052693"/>
            <a:ext cx="1050995" cy="120236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5EE0F1-BD82-BD38-F2AA-845999A22000}"/>
              </a:ext>
            </a:extLst>
          </p:cNvPr>
          <p:cNvSpPr txBox="1"/>
          <p:nvPr/>
        </p:nvSpPr>
        <p:spPr>
          <a:xfrm>
            <a:off x="6256729" y="2907079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indifference equations:</a:t>
            </a:r>
          </a:p>
        </p:txBody>
      </p:sp>
    </p:spTree>
    <p:extLst>
      <p:ext uri="{BB962C8B-B14F-4D97-AF65-F5344CB8AC3E}">
        <p14:creationId xmlns:p14="http://schemas.microsoft.com/office/powerpoint/2010/main" val="129378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4BCE-6714-167A-E4AE-3BB5C0A6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E8345E-5C9F-6B42-A073-6AD03D0C2EC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8207D-ABEF-C764-A84A-C93A9E36C61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0D401-2547-F157-8793-DCEC3EAE3891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94D3A-E516-2EE5-6AA1-62547A00E97D}"/>
              </a:ext>
            </a:extLst>
          </p:cNvPr>
          <p:cNvSpPr txBox="1"/>
          <p:nvPr/>
        </p:nvSpPr>
        <p:spPr>
          <a:xfrm>
            <a:off x="-383457" y="1805574"/>
            <a:ext cx="4817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Support Enumeration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879B7C-AA10-2F2C-F956-4B5558E5ADB7}"/>
                  </a:ext>
                </a:extLst>
              </p:cNvPr>
              <p:cNvSpPr txBox="1"/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Suppose we choose a support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1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879B7C-AA10-2F2C-F956-4B5558E5A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blipFill>
                <a:blip r:embed="rId3"/>
                <a:stretch>
                  <a:fillRect t="-10526" r="-85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94640-BF4F-5619-3025-A044BDBC86B6}"/>
                  </a:ext>
                </a:extLst>
              </p:cNvPr>
              <p:cNvSpPr txBox="1"/>
              <p:nvPr/>
            </p:nvSpPr>
            <p:spPr>
              <a:xfrm>
                <a:off x="1311988" y="3369321"/>
                <a:ext cx="3394584" cy="958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94640-BF4F-5619-3025-A044BDBC8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88" y="3369321"/>
                <a:ext cx="3394584" cy="958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F0B956-D145-0354-B0D0-66D26AA2826D}"/>
                  </a:ext>
                </a:extLst>
              </p:cNvPr>
              <p:cNvSpPr txBox="1"/>
              <p:nvPr/>
            </p:nvSpPr>
            <p:spPr>
              <a:xfrm>
                <a:off x="54317" y="5164305"/>
                <a:ext cx="462626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F0B956-D145-0354-B0D0-66D26AA2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7" y="5164305"/>
                <a:ext cx="4626266" cy="718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5B475B-0335-73AF-2AA0-D19B2EB05E6C}"/>
                  </a:ext>
                </a:extLst>
              </p:cNvPr>
              <p:cNvSpPr txBox="1"/>
              <p:nvPr/>
            </p:nvSpPr>
            <p:spPr>
              <a:xfrm>
                <a:off x="2407336" y="4328173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5B475B-0335-73AF-2AA0-D19B2EB0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36" y="4328173"/>
                <a:ext cx="2496472" cy="531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F78E18-2595-B1BD-3732-0B3EA5B93B4A}"/>
                  </a:ext>
                </a:extLst>
              </p:cNvPr>
              <p:cNvSpPr txBox="1"/>
              <p:nvPr/>
            </p:nvSpPr>
            <p:spPr>
              <a:xfrm>
                <a:off x="2407336" y="5973229"/>
                <a:ext cx="249647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F78E18-2595-B1BD-3732-0B3EA5B93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36" y="5973229"/>
                <a:ext cx="2496472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F629E24E-6669-DBF7-0E88-ABB66D5444FD}"/>
              </a:ext>
            </a:extLst>
          </p:cNvPr>
          <p:cNvSpPr txBox="1"/>
          <p:nvPr/>
        </p:nvSpPr>
        <p:spPr>
          <a:xfrm>
            <a:off x="2477012" y="2740912"/>
            <a:ext cx="6692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Solving the indifference equations, we get: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E903A09-819F-08CB-BFEE-6C52FB65DC54}"/>
              </a:ext>
            </a:extLst>
          </p:cNvPr>
          <p:cNvSpPr/>
          <p:nvPr/>
        </p:nvSpPr>
        <p:spPr>
          <a:xfrm>
            <a:off x="5129309" y="3868722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2ECC082-A593-8A0B-6971-831F165105D4}"/>
              </a:ext>
            </a:extLst>
          </p:cNvPr>
          <p:cNvSpPr/>
          <p:nvPr/>
        </p:nvSpPr>
        <p:spPr>
          <a:xfrm>
            <a:off x="4466916" y="3369321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E9B4D4E-2697-F161-DCE4-1D6082849D8C}"/>
              </a:ext>
            </a:extLst>
          </p:cNvPr>
          <p:cNvSpPr/>
          <p:nvPr/>
        </p:nvSpPr>
        <p:spPr>
          <a:xfrm>
            <a:off x="4466916" y="5073847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3C01094-127C-1B6E-FF42-E0575F1AEDD8}"/>
              </a:ext>
            </a:extLst>
          </p:cNvPr>
          <p:cNvSpPr/>
          <p:nvPr/>
        </p:nvSpPr>
        <p:spPr>
          <a:xfrm>
            <a:off x="5120020" y="5601498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4CC240-B46A-ABBF-6E0B-602E012A2E1F}"/>
                  </a:ext>
                </a:extLst>
              </p:cNvPr>
              <p:cNvSpPr txBox="1"/>
              <p:nvPr/>
            </p:nvSpPr>
            <p:spPr>
              <a:xfrm>
                <a:off x="6673475" y="3309346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4CC240-B46A-ABBF-6E0B-602E012A2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5" y="3309346"/>
                <a:ext cx="2496472" cy="5314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1CF858-8F25-4CDB-B343-CD3044B4D7BC}"/>
                  </a:ext>
                </a:extLst>
              </p:cNvPr>
              <p:cNvSpPr txBox="1"/>
              <p:nvPr/>
            </p:nvSpPr>
            <p:spPr>
              <a:xfrm>
                <a:off x="6807527" y="3853251"/>
                <a:ext cx="2182279" cy="529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=99/98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1CF858-8F25-4CDB-B343-CD3044B4D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527" y="3853251"/>
                <a:ext cx="2182279" cy="5292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025073-4990-E45E-8D28-28A35337A123}"/>
                  </a:ext>
                </a:extLst>
              </p:cNvPr>
              <p:cNvSpPr txBox="1"/>
              <p:nvPr/>
            </p:nvSpPr>
            <p:spPr>
              <a:xfrm>
                <a:off x="7010945" y="4374536"/>
                <a:ext cx="21590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025073-4990-E45E-8D28-28A35337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945" y="4374536"/>
                <a:ext cx="21590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1A1997-6719-530D-B224-40D393456B06}"/>
                  </a:ext>
                </a:extLst>
              </p:cNvPr>
              <p:cNvSpPr txBox="1"/>
              <p:nvPr/>
            </p:nvSpPr>
            <p:spPr>
              <a:xfrm>
                <a:off x="6650430" y="5095286"/>
                <a:ext cx="2496472" cy="527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1A1997-6719-530D-B224-40D39345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430" y="5095286"/>
                <a:ext cx="2496472" cy="5273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8B3B86-5DEF-FC72-DEA2-9F452577B8E8}"/>
                  </a:ext>
                </a:extLst>
              </p:cNvPr>
              <p:cNvSpPr txBox="1"/>
              <p:nvPr/>
            </p:nvSpPr>
            <p:spPr>
              <a:xfrm>
                <a:off x="6915483" y="5618725"/>
                <a:ext cx="179198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8B3B86-5DEF-FC72-DEA2-9F452577B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483" y="5618725"/>
                <a:ext cx="1791982" cy="5280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A9D60C-E3D4-DAD4-1AE2-088EB9CBD0D0}"/>
                  </a:ext>
                </a:extLst>
              </p:cNvPr>
              <p:cNvSpPr txBox="1"/>
              <p:nvPr/>
            </p:nvSpPr>
            <p:spPr>
              <a:xfrm>
                <a:off x="6915482" y="6103127"/>
                <a:ext cx="2296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A9D60C-E3D4-DAD4-1AE2-088EB9CBD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482" y="6103127"/>
                <a:ext cx="229628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Brace 38">
            <a:extLst>
              <a:ext uri="{FF2B5EF4-FFF2-40B4-BE49-F238E27FC236}">
                <a16:creationId xmlns:a16="http://schemas.microsoft.com/office/drawing/2014/main" id="{8A1E8206-EF63-0387-D19A-D8D29CDD1503}"/>
              </a:ext>
            </a:extLst>
          </p:cNvPr>
          <p:cNvSpPr/>
          <p:nvPr/>
        </p:nvSpPr>
        <p:spPr>
          <a:xfrm flipH="1">
            <a:off x="6399459" y="3355690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D314DE4C-B2F4-CB70-3DF0-FFD688C5C6C2}"/>
              </a:ext>
            </a:extLst>
          </p:cNvPr>
          <p:cNvSpPr/>
          <p:nvPr/>
        </p:nvSpPr>
        <p:spPr>
          <a:xfrm flipH="1">
            <a:off x="6411177" y="5103939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C9435B81-E366-A389-C5DE-82D4AFC77FB9}"/>
              </a:ext>
            </a:extLst>
          </p:cNvPr>
          <p:cNvSpPr/>
          <p:nvPr/>
        </p:nvSpPr>
        <p:spPr>
          <a:xfrm rot="10800000">
            <a:off x="8972517" y="3384642"/>
            <a:ext cx="812146" cy="38083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1D4C86-26FE-2B8E-8EDD-BA72CEEBBE50}"/>
              </a:ext>
            </a:extLst>
          </p:cNvPr>
          <p:cNvSpPr txBox="1"/>
          <p:nvPr/>
        </p:nvSpPr>
        <p:spPr>
          <a:xfrm>
            <a:off x="9378589" y="3159560"/>
            <a:ext cx="1996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</a:rPr>
              <a:t>Invalid Solution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B9DA941C-65B2-409E-B5C1-2D2D191942D9}"/>
              </a:ext>
            </a:extLst>
          </p:cNvPr>
          <p:cNvSpPr/>
          <p:nvPr/>
        </p:nvSpPr>
        <p:spPr>
          <a:xfrm rot="10800000">
            <a:off x="9171057" y="6150082"/>
            <a:ext cx="812147" cy="38083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10FB8B-7A44-31D0-C477-8E8EDD14D8DA}"/>
                  </a:ext>
                </a:extLst>
              </p:cNvPr>
              <p:cNvSpPr txBox="1"/>
              <p:nvPr/>
            </p:nvSpPr>
            <p:spPr>
              <a:xfrm>
                <a:off x="9378589" y="5949238"/>
                <a:ext cx="30035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for zero sum games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10FB8B-7A44-31D0-C477-8E8EDD14D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589" y="5949238"/>
                <a:ext cx="3003512" cy="830997"/>
              </a:xfrm>
              <a:prstGeom prst="rect">
                <a:avLst/>
              </a:prstGeom>
              <a:blipFill>
                <a:blip r:embed="rId14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70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D9FD-7FFF-8309-B290-CC150EB6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DEEEE-712D-FBAB-24E2-0E9159BE098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FD918-5EFE-AAF8-FC8D-2A40AC42E19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F292D-D46B-AA98-1308-8B63161B4A0B}"/>
                  </a:ext>
                </a:extLst>
              </p:cNvPr>
              <p:cNvSpPr txBox="1"/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Zero Sum Game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x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Matrix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F292D-D46B-AA98-1308-8B63161B4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blipFill>
                <a:blip r:embed="rId3"/>
                <a:stretch>
                  <a:fillRect l="-2287" t="-15517" r="-381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F24C3D0-EC8E-AA57-0CFB-A7FA533D7410}"/>
              </a:ext>
            </a:extLst>
          </p:cNvPr>
          <p:cNvSpPr txBox="1"/>
          <p:nvPr/>
        </p:nvSpPr>
        <p:spPr>
          <a:xfrm>
            <a:off x="-609600" y="1808870"/>
            <a:ext cx="410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2.   Vertex Enumeration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B5EE-CE50-EF8C-8682-B56C8012F803}"/>
              </a:ext>
            </a:extLst>
          </p:cNvPr>
          <p:cNvSpPr txBox="1"/>
          <p:nvPr/>
        </p:nvSpPr>
        <p:spPr>
          <a:xfrm>
            <a:off x="-373626" y="2209598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We represent the possible payoffs for Player 1 and Player 2 through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DA235-0AAB-22EA-641C-9D4BB90ED20A}"/>
              </a:ext>
            </a:extLst>
          </p:cNvPr>
          <p:cNvSpPr txBox="1"/>
          <p:nvPr/>
        </p:nvSpPr>
        <p:spPr>
          <a:xfrm>
            <a:off x="250721" y="3946393"/>
            <a:ext cx="112136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Since the Nash equilibrium must be on a vertex, we iterate through all possible pairs of fully labeled vertices (one from each polytope)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1C9481-89AA-47C8-2B7C-4F3E0E08ADF4}"/>
                  </a:ext>
                </a:extLst>
              </p:cNvPr>
              <p:cNvSpPr txBox="1"/>
              <p:nvPr/>
            </p:nvSpPr>
            <p:spPr>
              <a:xfrm>
                <a:off x="3092244" y="5454228"/>
                <a:ext cx="7585588" cy="523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1C9481-89AA-47C8-2B7C-4F3E0E08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44" y="5454228"/>
                <a:ext cx="7585588" cy="523477"/>
              </a:xfrm>
              <a:prstGeom prst="rect">
                <a:avLst/>
              </a:prstGeom>
              <a:blipFill>
                <a:blip r:embed="rId4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AF3451-F187-17FD-AF8D-55C63C036B4A}"/>
                  </a:ext>
                </a:extLst>
              </p:cNvPr>
              <p:cNvSpPr txBox="1"/>
              <p:nvPr/>
            </p:nvSpPr>
            <p:spPr>
              <a:xfrm>
                <a:off x="2895599" y="6128569"/>
                <a:ext cx="7408607" cy="544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2∗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AF3451-F187-17FD-AF8D-55C63C036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6128569"/>
                <a:ext cx="7408607" cy="544893"/>
              </a:xfrm>
              <a:prstGeom prst="rect">
                <a:avLst/>
              </a:prstGeom>
              <a:blipFill>
                <a:blip r:embed="rId5"/>
                <a:stretch>
                  <a:fillRect t="-3333" b="-1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9F381DE-3F7F-2D2E-C43D-250C3359956E}"/>
              </a:ext>
            </a:extLst>
          </p:cNvPr>
          <p:cNvSpPr txBox="1"/>
          <p:nvPr/>
        </p:nvSpPr>
        <p:spPr>
          <a:xfrm>
            <a:off x="459657" y="4841699"/>
            <a:ext cx="10613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pair of vertices is fully labeled if they satisfy the Strong Minimax Theorem: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A5DEF1-93E0-249E-86DF-F972F96364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771" t="17410" r="6380" b="36513"/>
          <a:stretch>
            <a:fillRect/>
          </a:stretch>
        </p:blipFill>
        <p:spPr>
          <a:xfrm>
            <a:off x="2632585" y="2678707"/>
            <a:ext cx="6449961" cy="12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72AB-BE1C-982B-11D5-BB31F553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059448-0250-3499-342A-C7C95F6FC06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1B1BD-CB20-9614-F82E-6E0D2035E55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FB4DA-CA94-00F6-207F-A058EB4F890F}"/>
                  </a:ext>
                </a:extLst>
              </p:cNvPr>
              <p:cNvSpPr txBox="1"/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Zero Sum Game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x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Matrix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FB4DA-CA94-00F6-207F-A058EB4F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blipFill>
                <a:blip r:embed="rId3"/>
                <a:stretch>
                  <a:fillRect l="-2287" t="-15517" r="-381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8947A6D-C9FA-3129-8F51-2B517460ABD3}"/>
              </a:ext>
            </a:extLst>
          </p:cNvPr>
          <p:cNvSpPr txBox="1"/>
          <p:nvPr/>
        </p:nvSpPr>
        <p:spPr>
          <a:xfrm>
            <a:off x="-344129" y="1816688"/>
            <a:ext cx="7060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How do we solve zero sum games in general?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4BF3DA-E716-503A-61BF-207C372B24FF}"/>
              </a:ext>
            </a:extLst>
          </p:cNvPr>
          <p:cNvSpPr txBox="1"/>
          <p:nvPr/>
        </p:nvSpPr>
        <p:spPr>
          <a:xfrm>
            <a:off x="0" y="2409035"/>
            <a:ext cx="935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Python library 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nashpy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has three methods of finding equilibria: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49335-FB74-3EFC-DC12-562AC6B86579}"/>
              </a:ext>
            </a:extLst>
          </p:cNvPr>
          <p:cNvSpPr txBox="1"/>
          <p:nvPr/>
        </p:nvSpPr>
        <p:spPr>
          <a:xfrm>
            <a:off x="0" y="3001382"/>
            <a:ext cx="4552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3.   Lemke 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CA3E6-77C7-E148-FCF5-4CBD31E4C91C}"/>
              </a:ext>
            </a:extLst>
          </p:cNvPr>
          <p:cNvSpPr txBox="1"/>
          <p:nvPr/>
        </p:nvSpPr>
        <p:spPr>
          <a:xfrm>
            <a:off x="0" y="3463047"/>
            <a:ext cx="10658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Very efficient but not guaranteed to find all of the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424130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FE60-B757-7006-834E-FC996D78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66E840-BBDC-8F83-C456-F35A110A5FE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BA5A5-B5DF-01C5-B23A-5318EF120E0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C0D53-10C6-584A-D8CB-27B3FFCDE55B}"/>
              </a:ext>
            </a:extLst>
          </p:cNvPr>
          <p:cNvSpPr txBox="1"/>
          <p:nvPr/>
        </p:nvSpPr>
        <p:spPr>
          <a:xfrm>
            <a:off x="3529780" y="351682"/>
            <a:ext cx="736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Sample </a:t>
            </a:r>
            <a:r>
              <a:rPr lang="en-US" sz="4000" b="1" dirty="0" err="1">
                <a:solidFill>
                  <a:schemeClr val="bg1"/>
                </a:solidFill>
              </a:rPr>
              <a:t>NashPy</a:t>
            </a:r>
            <a:r>
              <a:rPr lang="en-US" sz="4000" b="1" dirty="0">
                <a:solidFill>
                  <a:schemeClr val="bg1"/>
                </a:solidFill>
              </a:rPr>
              <a:t>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06DB-CB82-38D9-CA6B-4DB85562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" y="1895081"/>
            <a:ext cx="12093677" cy="480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39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50ADA-81B8-C35C-40D5-9AEFD870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57FB4-BA9A-96DA-B778-06C2D6763F0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13A247-52BD-67BD-FC86-F6FB530C33F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B8262-8485-BB00-A690-CF4D0D4C0CC4}"/>
              </a:ext>
            </a:extLst>
          </p:cNvPr>
          <p:cNvSpPr txBox="1"/>
          <p:nvPr/>
        </p:nvSpPr>
        <p:spPr>
          <a:xfrm>
            <a:off x="904568" y="29655"/>
            <a:ext cx="1086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Imputations and </a:t>
            </a:r>
          </a:p>
          <a:p>
            <a:pPr algn="ctr"/>
            <a:r>
              <a:rPr lang="en-US" sz="4000" b="1" dirty="0">
                <a:solidFill>
                  <a:srgbClr val="FFFFFF"/>
                </a:solidFill>
              </a:rPr>
              <a:t>von Neumann-Morgenstern solutions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D561F-5C61-F3AB-5A6D-FFB9A245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503" y="1934638"/>
            <a:ext cx="8312993" cy="467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6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67AEB-063E-D6B3-7D44-41CE9D0F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A010C4-1890-FC7A-D952-A940DE422D4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A7B1E-2F9F-9039-82B4-A5A30F0D54A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9BAB8-EF2B-FACA-F7B2-DAA32B270CB7}"/>
              </a:ext>
            </a:extLst>
          </p:cNvPr>
          <p:cNvSpPr txBox="1"/>
          <p:nvPr/>
        </p:nvSpPr>
        <p:spPr>
          <a:xfrm>
            <a:off x="1597187" y="378560"/>
            <a:ext cx="9694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Cooperative Games with Side Payments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6877F-6D49-54B4-214A-08A9DB3A99DB}"/>
              </a:ext>
            </a:extLst>
          </p:cNvPr>
          <p:cNvSpPr txBox="1"/>
          <p:nvPr/>
        </p:nvSpPr>
        <p:spPr>
          <a:xfrm>
            <a:off x="-310271" y="1843566"/>
            <a:ext cx="118970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Aft>
                <a:spcPts val="1200"/>
              </a:spcAft>
            </a:pPr>
            <a:r>
              <a:rPr lang="en-US" sz="2400" dirty="0"/>
              <a:t>Instead of considering individual payoff functions, we only need to consider the total coalition payoff given by the </a:t>
            </a:r>
            <a:r>
              <a:rPr lang="en-US" sz="2400" b="1" dirty="0"/>
              <a:t>value function </a:t>
            </a:r>
            <a:r>
              <a:rPr lang="en-US" sz="2400" dirty="0"/>
              <a:t>and the division of coalition payoff specified by the </a:t>
            </a:r>
            <a:r>
              <a:rPr lang="en-US" sz="2400" b="1" dirty="0"/>
              <a:t>imputation 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The value function maps a set of players (“a coalition”) to a payoff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The imputation determines how much of the payoff each coalition member gets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9038E-7CF7-4538-CAD4-F9EE9F01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06940"/>
            <a:ext cx="4047723" cy="26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7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2233-07AC-9DB8-0C85-AB76A6D2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DEFF1A-A57C-FC06-245A-D261730A9FC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B46159-70B0-9FFB-B65A-3AF9EB1121B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625E9-7459-BBD1-42F8-1E979B69228D}"/>
              </a:ext>
            </a:extLst>
          </p:cNvPr>
          <p:cNvSpPr txBox="1"/>
          <p:nvPr/>
        </p:nvSpPr>
        <p:spPr>
          <a:xfrm>
            <a:off x="2187123" y="394977"/>
            <a:ext cx="9694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Value Functions and Imputations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3DBAD-1638-1EB8-6734-93B4491CD854}"/>
                  </a:ext>
                </a:extLst>
              </p:cNvPr>
              <p:cNvSpPr txBox="1"/>
              <p:nvPr/>
            </p:nvSpPr>
            <p:spPr>
              <a:xfrm>
                <a:off x="0" y="3577527"/>
                <a:ext cx="11897032" cy="309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An imputation is written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/>
                  <a:t> is the payoff for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player. We have two important assumptions about imputations:</a:t>
                </a:r>
              </a:p>
              <a:p>
                <a:pPr lvl="1"/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Individual Rationality: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  </a:t>
                </a:r>
              </a:p>
              <a:p>
                <a:pPr lvl="1"/>
                <a:r>
                  <a:rPr lang="en-US" sz="2400" dirty="0"/>
                  <a:t>      [“The group pays me as much as I can earn myself”}</a:t>
                </a:r>
              </a:p>
              <a:p>
                <a:pPr lvl="1"/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Group Rationality: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1,2,…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      [“We divide </a:t>
                </a:r>
                <a:r>
                  <a:rPr lang="en-US" sz="2400" u="sng" dirty="0"/>
                  <a:t>all</a:t>
                </a:r>
                <a:r>
                  <a:rPr lang="en-US" sz="2400" dirty="0"/>
                  <a:t> of the money”]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3DBAD-1638-1EB8-6734-93B4491CD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77527"/>
                <a:ext cx="11897032" cy="3091552"/>
              </a:xfrm>
              <a:prstGeom prst="rect">
                <a:avLst/>
              </a:prstGeom>
              <a:blipFill>
                <a:blip r:embed="rId3"/>
                <a:stretch>
                  <a:fillRect t="-986" b="-16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84FA5A-7307-1855-21D3-AD0D79A01D7F}"/>
                  </a:ext>
                </a:extLst>
              </p:cNvPr>
              <p:cNvSpPr txBox="1"/>
              <p:nvPr/>
            </p:nvSpPr>
            <p:spPr>
              <a:xfrm>
                <a:off x="-15303" y="1859340"/>
                <a:ext cx="1189703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value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must have the super-additive property: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∪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for sets of players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satisfying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Otherwise, making coalitions is not rational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84FA5A-7307-1855-21D3-AD0D79A01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03" y="1859340"/>
                <a:ext cx="11897032" cy="1569660"/>
              </a:xfrm>
              <a:prstGeom prst="rect">
                <a:avLst/>
              </a:prstGeom>
              <a:blipFill>
                <a:blip r:embed="rId4"/>
                <a:stretch>
                  <a:fillRect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050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EAF0-5D96-A002-0A2C-B4CFB220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664606-41DC-AE84-1A78-395E265927E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229F4-DA08-486D-DC6B-71EEFED48E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F9BD9-A3AC-5C49-9A61-5723DBB8D5CD}"/>
              </a:ext>
            </a:extLst>
          </p:cNvPr>
          <p:cNvSpPr txBox="1"/>
          <p:nvPr/>
        </p:nvSpPr>
        <p:spPr>
          <a:xfrm>
            <a:off x="4365523" y="403178"/>
            <a:ext cx="6472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Sub-Coalitions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2383B-BF7C-E9D9-9D39-F767B791F919}"/>
              </a:ext>
            </a:extLst>
          </p:cNvPr>
          <p:cNvSpPr txBox="1"/>
          <p:nvPr/>
        </p:nvSpPr>
        <p:spPr>
          <a:xfrm>
            <a:off x="-339768" y="1871283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Even with individual and group rationality, some imputations may encourage </a:t>
            </a:r>
          </a:p>
          <a:p>
            <a:pPr lvl="1"/>
            <a:r>
              <a:rPr lang="en-US" sz="2400" dirty="0"/>
              <a:t>sub-coalitions to form 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Example</a:t>
            </a:r>
            <a:r>
              <a:rPr lang="en-US" sz="2400" dirty="0"/>
              <a:t> Suppose we have three players (1,2,3) and the following value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E92FFE0-1A7C-DE7D-20AF-CB543C78CB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57375"/>
                  </p:ext>
                </p:extLst>
              </p:nvPr>
            </p:nvGraphicFramePr>
            <p:xfrm>
              <a:off x="1020361" y="3601413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E92FFE0-1A7C-DE7D-20AF-CB543C78CB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57375"/>
                  </p:ext>
                </p:extLst>
              </p:nvPr>
            </p:nvGraphicFramePr>
            <p:xfrm>
              <a:off x="1020361" y="3601413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1075" r="-8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578" t="-1075" r="-7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425" t="-1075" r="-59827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156" t="-1075" r="-5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156" t="-1075" r="-4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156" t="-1075" r="-3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701" t="-1075" r="-200000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1734" t="-1075" r="-10115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1734" t="-1075" r="-1156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101075" r="-802312" b="-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3BA0E7-152A-47A9-7044-18B66BF5F83E}"/>
                  </a:ext>
                </a:extLst>
              </p:cNvPr>
              <p:cNvSpPr txBox="1"/>
              <p:nvPr/>
            </p:nvSpPr>
            <p:spPr>
              <a:xfrm>
                <a:off x="1020361" y="4931328"/>
                <a:ext cx="106974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imputation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[2,2,2]</m:t>
                    </m:r>
                  </m:oMath>
                </a14:m>
                <a:r>
                  <a:rPr lang="en-US" sz="2400" dirty="0"/>
                  <a:t> is rational from an individual and group perspective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3BA0E7-152A-47A9-7044-18B66BF5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61" y="4931328"/>
                <a:ext cx="10697497" cy="461665"/>
              </a:xfrm>
              <a:prstGeom prst="rect">
                <a:avLst/>
              </a:prstGeom>
              <a:blipFill>
                <a:blip r:embed="rId4"/>
                <a:stretch>
                  <a:fillRect l="-85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EB60950-632A-C01F-E57B-503A9D1D48A2}"/>
              </a:ext>
            </a:extLst>
          </p:cNvPr>
          <p:cNvSpPr txBox="1"/>
          <p:nvPr/>
        </p:nvSpPr>
        <p:spPr>
          <a:xfrm>
            <a:off x="442453" y="5526178"/>
            <a:ext cx="11275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But Players 2 and 3 would benefit by breaking off and forming their own sub-coalition</a:t>
            </a:r>
          </a:p>
        </p:txBody>
      </p:sp>
    </p:spTree>
    <p:extLst>
      <p:ext uri="{BB962C8B-B14F-4D97-AF65-F5344CB8AC3E}">
        <p14:creationId xmlns:p14="http://schemas.microsoft.com/office/powerpoint/2010/main" val="1526910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32152-9404-A86E-F104-D6C52A86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773C29-138B-3BD2-C4A8-FCB8742308A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FFE45-4409-5853-F5BC-A0E5D64E721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2E3A8-7E25-666B-F762-C2064AEF4D02}"/>
              </a:ext>
            </a:extLst>
          </p:cNvPr>
          <p:cNvSpPr txBox="1"/>
          <p:nvPr/>
        </p:nvSpPr>
        <p:spPr>
          <a:xfrm>
            <a:off x="4965290" y="378560"/>
            <a:ext cx="2310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FA953-B1CA-4975-95CB-FF5595B8D915}"/>
              </a:ext>
            </a:extLst>
          </p:cNvPr>
          <p:cNvSpPr txBox="1"/>
          <p:nvPr/>
        </p:nvSpPr>
        <p:spPr>
          <a:xfrm>
            <a:off x="-349600" y="1740696"/>
            <a:ext cx="1189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 </a:t>
            </a:r>
            <a:r>
              <a:rPr lang="en-US" sz="2400" b="1" dirty="0"/>
              <a:t>core</a:t>
            </a:r>
            <a:r>
              <a:rPr lang="en-US" sz="2400" dirty="0"/>
              <a:t> is the set of imputations which 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individually rational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group rational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have no preferable sub-coalitions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E03A8-422B-8BCA-B55C-FEC6254B2288}"/>
              </a:ext>
            </a:extLst>
          </p:cNvPr>
          <p:cNvSpPr txBox="1"/>
          <p:nvPr/>
        </p:nvSpPr>
        <p:spPr>
          <a:xfrm>
            <a:off x="-143123" y="334023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Example</a:t>
            </a:r>
            <a:r>
              <a:rPr lang="en-US" sz="2400" dirty="0"/>
              <a:t> Suppose we have three players (1,2,3) and the following value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CBD2BA-27DD-1DB8-4012-026DF5ABEE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8837" y="3872175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CBD2BA-27DD-1DB8-4012-026DF5ABEE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8837" y="3872175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1075" r="-8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578" t="-1075" r="-7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425" t="-1075" r="-59827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156" t="-1075" r="-5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156" t="-1075" r="-4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156" t="-1075" r="-3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701" t="-1075" r="-200000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1734" t="-1075" r="-10115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1734" t="-1075" r="-1156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101075" r="-802312" b="-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F8754-75CA-79E4-EE7F-80B4825B4C6D}"/>
                  </a:ext>
                </a:extLst>
              </p:cNvPr>
              <p:cNvSpPr txBox="1"/>
              <p:nvPr/>
            </p:nvSpPr>
            <p:spPr>
              <a:xfrm>
                <a:off x="-143123" y="5070350"/>
                <a:ext cx="6465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If the imputation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is the core, then: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5F8754-75CA-79E4-EE7F-80B4825B4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123" y="5070350"/>
                <a:ext cx="6465265" cy="461665"/>
              </a:xfrm>
              <a:prstGeom prst="rect">
                <a:avLst/>
              </a:prstGeom>
              <a:blipFill>
                <a:blip r:embed="rId4"/>
                <a:stretch>
                  <a:fillRect t="-10667" r="-1038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FB56B7-5848-D197-A37B-5346B270547A}"/>
                  </a:ext>
                </a:extLst>
              </p:cNvPr>
              <p:cNvSpPr txBox="1"/>
              <p:nvPr/>
            </p:nvSpPr>
            <p:spPr>
              <a:xfrm>
                <a:off x="-143123" y="5532015"/>
                <a:ext cx="81662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Individually rationality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FB56B7-5848-D197-A37B-5346B2705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123" y="5532015"/>
                <a:ext cx="8166246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534695-539C-6EF6-6F38-F8BD4058980E}"/>
                  </a:ext>
                </a:extLst>
              </p:cNvPr>
              <p:cNvSpPr txBox="1"/>
              <p:nvPr/>
            </p:nvSpPr>
            <p:spPr>
              <a:xfrm>
                <a:off x="-143123" y="5910557"/>
                <a:ext cx="6465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Group rationality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534695-539C-6EF6-6F38-F8BD40589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123" y="5910557"/>
                <a:ext cx="6465265" cy="461665"/>
              </a:xfrm>
              <a:prstGeom prst="rect">
                <a:avLst/>
              </a:prstGeom>
              <a:blipFill>
                <a:blip r:embed="rId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134AF0-4017-5C2E-0CF1-16CFEED9AF0F}"/>
                  </a:ext>
                </a:extLst>
              </p:cNvPr>
              <p:cNvSpPr txBox="1"/>
              <p:nvPr/>
            </p:nvSpPr>
            <p:spPr>
              <a:xfrm>
                <a:off x="-143124" y="6289099"/>
                <a:ext cx="122662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No preferable sub-coalitions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134AF0-4017-5C2E-0CF1-16CFEED9A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124" y="6289099"/>
                <a:ext cx="12266297" cy="461665"/>
              </a:xfrm>
              <a:prstGeom prst="rect">
                <a:avLst/>
              </a:prstGeom>
              <a:blipFill>
                <a:blip r:embed="rId7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820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5C12-FFD0-84F1-73DD-D2FF4EB91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E6309B-8989-B025-AC61-1BEFA135FD4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59E525-AC77-3330-57F4-92A7290B5ED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296F8-B1AF-2C04-97DA-D66B520C3840}"/>
              </a:ext>
            </a:extLst>
          </p:cNvPr>
          <p:cNvSpPr txBox="1"/>
          <p:nvPr/>
        </p:nvSpPr>
        <p:spPr>
          <a:xfrm>
            <a:off x="4965290" y="378560"/>
            <a:ext cx="2310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Core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57A076-8A60-28B3-6F11-4E66E029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97" r="16439"/>
          <a:stretch>
            <a:fillRect/>
          </a:stretch>
        </p:blipFill>
        <p:spPr>
          <a:xfrm>
            <a:off x="6872752" y="1840390"/>
            <a:ext cx="5083274" cy="4935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2322A9-AE6C-D164-B6EC-791C7878A95A}"/>
                  </a:ext>
                </a:extLst>
              </p:cNvPr>
              <p:cNvSpPr txBox="1"/>
              <p:nvPr/>
            </p:nvSpPr>
            <p:spPr>
              <a:xfrm>
                <a:off x="2108462" y="3769590"/>
                <a:ext cx="418418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Individually rationality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2322A9-AE6C-D164-B6EC-791C7878A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462" y="3769590"/>
                <a:ext cx="4184181" cy="830997"/>
              </a:xfrm>
              <a:prstGeom prst="rect">
                <a:avLst/>
              </a:prstGeom>
              <a:blipFill>
                <a:blip r:embed="rId4"/>
                <a:stretch>
                  <a:fillRect t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B22DAB-FEE0-E224-2483-AB612B2448FF}"/>
                  </a:ext>
                </a:extLst>
              </p:cNvPr>
              <p:cNvSpPr txBox="1"/>
              <p:nvPr/>
            </p:nvSpPr>
            <p:spPr>
              <a:xfrm>
                <a:off x="2177290" y="2400269"/>
                <a:ext cx="30043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Group rationality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B22DAB-FEE0-E224-2483-AB612B244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90" y="2400269"/>
                <a:ext cx="3004310" cy="830997"/>
              </a:xfrm>
              <a:prstGeom prst="rect">
                <a:avLst/>
              </a:prstGeom>
              <a:blipFill>
                <a:blip r:embed="rId5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C23BCE-3BAB-00DE-30B2-53B96A12DEAD}"/>
                  </a:ext>
                </a:extLst>
              </p:cNvPr>
              <p:cNvSpPr txBox="1"/>
              <p:nvPr/>
            </p:nvSpPr>
            <p:spPr>
              <a:xfrm>
                <a:off x="739596" y="5339220"/>
                <a:ext cx="55530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No preferable sub-coalitions</a:t>
                </a:r>
              </a:p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C23BCE-3BAB-00DE-30B2-53B96A12D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6" y="5339220"/>
                <a:ext cx="5553047" cy="830997"/>
              </a:xfrm>
              <a:prstGeom prst="rect">
                <a:avLst/>
              </a:prstGeom>
              <a:blipFill>
                <a:blip r:embed="rId6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336210B-80E8-DA08-E827-10A0BA11597B}"/>
              </a:ext>
            </a:extLst>
          </p:cNvPr>
          <p:cNvSpPr/>
          <p:nvPr/>
        </p:nvSpPr>
        <p:spPr>
          <a:xfrm>
            <a:off x="1076071" y="3719894"/>
            <a:ext cx="1187525" cy="899351"/>
          </a:xfrm>
          <a:prstGeom prst="triangle">
            <a:avLst>
              <a:gd name="adj" fmla="val 50733"/>
            </a:avLst>
          </a:prstGeom>
          <a:solidFill>
            <a:srgbClr val="E9F5E7"/>
          </a:solidFill>
          <a:ln>
            <a:solidFill>
              <a:srgbClr val="B2B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AB1CB42-0601-C09F-A4B7-F3FDE2046A9C}"/>
              </a:ext>
            </a:extLst>
          </p:cNvPr>
          <p:cNvSpPr/>
          <p:nvPr/>
        </p:nvSpPr>
        <p:spPr>
          <a:xfrm>
            <a:off x="989765" y="2296717"/>
            <a:ext cx="1187525" cy="983726"/>
          </a:xfrm>
          <a:prstGeom prst="triangle">
            <a:avLst/>
          </a:prstGeom>
          <a:solidFill>
            <a:srgbClr val="EBF1F8"/>
          </a:solidFill>
          <a:ln>
            <a:solidFill>
              <a:srgbClr val="5E8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BACB64-70CD-948B-0D87-3633C1AE0B27}"/>
              </a:ext>
            </a:extLst>
          </p:cNvPr>
          <p:cNvCxnSpPr/>
          <p:nvPr/>
        </p:nvCxnSpPr>
        <p:spPr>
          <a:xfrm>
            <a:off x="1807483" y="5198193"/>
            <a:ext cx="3746090" cy="0"/>
          </a:xfrm>
          <a:prstGeom prst="line">
            <a:avLst/>
          </a:prstGeom>
          <a:ln w="28575">
            <a:solidFill>
              <a:srgbClr val="F21C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787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50E0-AD4E-5461-FF91-7C352760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8598E-A9B3-121F-547B-9E18C8DFDCE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DA20DE-68E4-2656-3A74-8F1DD91DD4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AAC5E-2727-98D5-0D27-4E73514573E4}"/>
              </a:ext>
            </a:extLst>
          </p:cNvPr>
          <p:cNvSpPr txBox="1"/>
          <p:nvPr/>
        </p:nvSpPr>
        <p:spPr>
          <a:xfrm>
            <a:off x="4965290" y="378560"/>
            <a:ext cx="2310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Core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ACE0FD-EC29-0E01-0D9F-BE276085456E}"/>
              </a:ext>
            </a:extLst>
          </p:cNvPr>
          <p:cNvSpPr txBox="1"/>
          <p:nvPr/>
        </p:nvSpPr>
        <p:spPr>
          <a:xfrm>
            <a:off x="-273125" y="1843566"/>
            <a:ext cx="7185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Note that the Core may be empty for some games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46C68-D616-DB03-AA47-4563A6F6D0D7}"/>
              </a:ext>
            </a:extLst>
          </p:cNvPr>
          <p:cNvSpPr txBox="1"/>
          <p:nvPr/>
        </p:nvSpPr>
        <p:spPr>
          <a:xfrm>
            <a:off x="-197203" y="2370370"/>
            <a:ext cx="11410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“Simple Majority” Example</a:t>
            </a:r>
            <a:r>
              <a:rPr lang="en-US" sz="2400" dirty="0"/>
              <a:t> Suppose we have three players (1,2,3) and the following value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312254D-BC3E-3702-0115-073673073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176538"/>
                  </p:ext>
                </p:extLst>
              </p:nvPr>
            </p:nvGraphicFramePr>
            <p:xfrm>
              <a:off x="1173301" y="3432200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312254D-BC3E-3702-0115-073673073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2176538"/>
                  </p:ext>
                </p:extLst>
              </p:nvPr>
            </p:nvGraphicFramePr>
            <p:xfrm>
              <a:off x="1173301" y="3432200"/>
              <a:ext cx="9500157" cy="11279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5573">
                      <a:extLst>
                        <a:ext uri="{9D8B030D-6E8A-4147-A177-3AD203B41FA5}">
                          <a16:colId xmlns:a16="http://schemas.microsoft.com/office/drawing/2014/main" val="3086080715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684933827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18163662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107801053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4069171329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46192575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2956007834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564513728"/>
                        </a:ext>
                      </a:extLst>
                    </a:gridCol>
                    <a:gridCol w="1055573">
                      <a:extLst>
                        <a:ext uri="{9D8B030D-6E8A-4147-A177-3AD203B41FA5}">
                          <a16:colId xmlns:a16="http://schemas.microsoft.com/office/drawing/2014/main" val="924432951"/>
                        </a:ext>
                      </a:extLst>
                    </a:gridCol>
                  </a:tblGrid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2151" r="-8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578" t="-2151" r="-702312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425" t="-2151" r="-59827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156" t="-2151" r="-5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156" t="-2151" r="-4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156" t="-2151" r="-301734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701" t="-2151" r="-200000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1734" t="-2151" r="-101156" b="-1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1734" t="-2151" r="-1156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3283808"/>
                      </a:ext>
                    </a:extLst>
                  </a:tr>
                  <a:tr h="5639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78" t="-102151" r="-802312" b="-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7266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B55C53-1781-1673-82B8-8BD74841BDA8}"/>
                  </a:ext>
                </a:extLst>
              </p:cNvPr>
              <p:cNvSpPr txBox="1"/>
              <p:nvPr/>
            </p:nvSpPr>
            <p:spPr>
              <a:xfrm>
                <a:off x="2177289" y="4723323"/>
                <a:ext cx="66619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Group rationality: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B55C53-1781-1673-82B8-8BD74841B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89" y="4723323"/>
                <a:ext cx="6661911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1BA292-6FBA-52AD-518D-B704E99D4446}"/>
                  </a:ext>
                </a:extLst>
              </p:cNvPr>
              <p:cNvSpPr txBox="1"/>
              <p:nvPr/>
            </p:nvSpPr>
            <p:spPr>
              <a:xfrm>
                <a:off x="1173301" y="5184988"/>
                <a:ext cx="98202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No preferable sub-coalitions: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1BA292-6FBA-52AD-518D-B704E99D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01" y="5184988"/>
                <a:ext cx="9820249" cy="461665"/>
              </a:xfrm>
              <a:prstGeom prst="rect">
                <a:avLst/>
              </a:prstGeom>
              <a:blipFill>
                <a:blip r:embed="rId5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A7360-0BB9-3763-DAA9-BD1B408749E7}"/>
                  </a:ext>
                </a:extLst>
              </p:cNvPr>
              <p:cNvSpPr txBox="1"/>
              <p:nvPr/>
            </p:nvSpPr>
            <p:spPr>
              <a:xfrm>
                <a:off x="598119" y="5719479"/>
                <a:ext cx="98202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A7360-0BB9-3763-DAA9-BD1B40874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19" y="5719479"/>
                <a:ext cx="982024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CD3937-F9CF-5A32-2DE7-499D5D677A90}"/>
                  </a:ext>
                </a:extLst>
              </p:cNvPr>
              <p:cNvSpPr txBox="1"/>
              <p:nvPr/>
            </p:nvSpPr>
            <p:spPr>
              <a:xfrm>
                <a:off x="4806326" y="6181144"/>
                <a:ext cx="18206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CD3937-F9CF-5A32-2DE7-499D5D677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326" y="6181144"/>
                <a:ext cx="182061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5911650-0D0B-41C7-861A-2147F49B422C}"/>
              </a:ext>
            </a:extLst>
          </p:cNvPr>
          <p:cNvSpPr txBox="1"/>
          <p:nvPr/>
        </p:nvSpPr>
        <p:spPr>
          <a:xfrm>
            <a:off x="6459793" y="6181143"/>
            <a:ext cx="2754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>
                <a:solidFill>
                  <a:srgbClr val="FF0000"/>
                </a:solidFill>
              </a:rPr>
              <a:t>A Contradiction</a:t>
            </a:r>
          </a:p>
        </p:txBody>
      </p:sp>
    </p:spTree>
    <p:extLst>
      <p:ext uri="{BB962C8B-B14F-4D97-AF65-F5344CB8AC3E}">
        <p14:creationId xmlns:p14="http://schemas.microsoft.com/office/powerpoint/2010/main" val="160288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6F7B-C6D3-F8B1-DDC3-6FF76665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A0EBDF-B418-4852-68FD-0759C5F103A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1B9E1-4E8E-D3E6-902E-DD4A7B4E050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19791-2C43-9702-AE7A-A0FF206A9495}"/>
              </a:ext>
            </a:extLst>
          </p:cNvPr>
          <p:cNvSpPr txBox="1"/>
          <p:nvPr/>
        </p:nvSpPr>
        <p:spPr>
          <a:xfrm>
            <a:off x="3982065" y="378560"/>
            <a:ext cx="3854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Shapley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032285-A3C0-F8F8-3F65-D05065FF3D0A}"/>
                  </a:ext>
                </a:extLst>
              </p:cNvPr>
              <p:cNvSpPr txBox="1"/>
              <p:nvPr/>
            </p:nvSpPr>
            <p:spPr>
              <a:xfrm>
                <a:off x="-329936" y="1843566"/>
                <a:ext cx="11897032" cy="3802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</a:t>
                </a:r>
                <a:r>
                  <a:rPr lang="en-US" sz="2400" b="1" dirty="0"/>
                  <a:t>Shapley value </a:t>
                </a:r>
                <a:r>
                  <a:rPr lang="en-US" sz="2400" dirty="0"/>
                  <a:t>determines the value of each player joining the coalition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⊆</m:t>
                          </m:r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lit/>
                              <m:brk m:alnAt="9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brk m:alnAt="9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9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mr>
                            </m:m>
                          </m:e>
                        </m:d>
                      </m:den>
                    </m:f>
                  </m:oMath>
                </a14:m>
                <a:r>
                  <a:rPr lang="en-US" sz="2400" dirty="0"/>
                  <a:t> is the probability that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player joins the coalition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marginal payoff from allowing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to join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032285-A3C0-F8F8-3F65-D05065FF3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936" y="1843566"/>
                <a:ext cx="11897032" cy="3802836"/>
              </a:xfrm>
              <a:prstGeom prst="rect">
                <a:avLst/>
              </a:prstGeom>
              <a:blipFill>
                <a:blip r:embed="rId3"/>
                <a:stretch>
                  <a:fillRect t="-1282"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87D4B-DEF8-1C87-4BB9-D1734E312199}"/>
                  </a:ext>
                </a:extLst>
              </p:cNvPr>
              <p:cNvSpPr txBox="1"/>
              <p:nvPr/>
            </p:nvSpPr>
            <p:spPr>
              <a:xfrm>
                <a:off x="-329936" y="5897037"/>
                <a:ext cx="109389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The Core converges to the Shapley value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→∞</m:t>
                    </m:r>
                  </m:oMath>
                </a14:m>
                <a:r>
                  <a:rPr lang="en-US" sz="2400" dirty="0"/>
                  <a:t> with negligible players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87D4B-DEF8-1C87-4BB9-D1734E312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936" y="5897037"/>
                <a:ext cx="10938942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49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12D9-ABB6-1E19-CA40-CB023B74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9830D-CED1-FB7E-D17C-23A61730068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437C3-1D6A-07AE-117F-6D3438F2A15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E6784-EE2F-1A70-F6C4-BBA09F8176FE}"/>
              </a:ext>
            </a:extLst>
          </p:cNvPr>
          <p:cNvSpPr txBox="1"/>
          <p:nvPr/>
        </p:nvSpPr>
        <p:spPr>
          <a:xfrm>
            <a:off x="3224980" y="378560"/>
            <a:ext cx="5742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Nash’s Existence Proof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0EE090-36B7-4948-57A7-30BAC205D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774" y="1843566"/>
            <a:ext cx="5360451" cy="48051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F195E68-D398-B156-10BB-39EA1929F95B}"/>
              </a:ext>
            </a:extLst>
          </p:cNvPr>
          <p:cNvSpPr/>
          <p:nvPr/>
        </p:nvSpPr>
        <p:spPr>
          <a:xfrm>
            <a:off x="5152630" y="3216951"/>
            <a:ext cx="1886738" cy="61763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1748A9-982F-3CF2-59A7-D4C15A6842F9}"/>
              </a:ext>
            </a:extLst>
          </p:cNvPr>
          <p:cNvSpPr/>
          <p:nvPr/>
        </p:nvSpPr>
        <p:spPr>
          <a:xfrm>
            <a:off x="4921571" y="2745887"/>
            <a:ext cx="2196983" cy="223455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5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2014</Words>
  <Application>Microsoft Office PowerPoint</Application>
  <PresentationFormat>Widescreen</PresentationFormat>
  <Paragraphs>406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27</cp:revision>
  <cp:lastPrinted>2025-08-21T02:00:35Z</cp:lastPrinted>
  <dcterms:created xsi:type="dcterms:W3CDTF">2025-08-20T23:47:39Z</dcterms:created>
  <dcterms:modified xsi:type="dcterms:W3CDTF">2026-02-23T16:27:31Z</dcterms:modified>
</cp:coreProperties>
</file>